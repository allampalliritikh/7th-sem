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56" r:id="rId1"/>
  </p:sldMasterIdLst>
  <p:notesMasterIdLst>
    <p:notesMasterId r:id="rId19"/>
  </p:notesMasterIdLst>
  <p:sldIdLst>
    <p:sldId id="352" r:id="rId2"/>
    <p:sldId id="369" r:id="rId3"/>
    <p:sldId id="354" r:id="rId4"/>
    <p:sldId id="362" r:id="rId5"/>
    <p:sldId id="334" r:id="rId6"/>
    <p:sldId id="346" r:id="rId7"/>
    <p:sldId id="345" r:id="rId8"/>
    <p:sldId id="337" r:id="rId9"/>
    <p:sldId id="338" r:id="rId10"/>
    <p:sldId id="363" r:id="rId11"/>
    <p:sldId id="364" r:id="rId12"/>
    <p:sldId id="341" r:id="rId13"/>
    <p:sldId id="365" r:id="rId14"/>
    <p:sldId id="366" r:id="rId15"/>
    <p:sldId id="367" r:id="rId16"/>
    <p:sldId id="368" r:id="rId17"/>
    <p:sldId id="277" r:id="rId18"/>
  </p:sldIdLst>
  <p:sldSz cx="9144000" cy="6858000" type="screen4x3"/>
  <p:notesSz cx="6858000" cy="9144000"/>
  <p:defaultTextStyle>
    <a:defPPr>
      <a:defRPr lang="en-US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4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  <a:srgbClr val="FF00F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416" y="-90"/>
      </p:cViewPr>
      <p:guideLst>
        <p:guide orient="horz" pos="214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4A2D0-419D-44B7-995E-8095EA548248}" type="datetimeFigureOut">
              <a:rPr lang="en-US" smtClean="0"/>
              <a:pPr/>
              <a:t>8/8/2024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494BC2-553B-45BC-B82B-4E54A7011B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56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 txBox="1">
            <a:spLocks noGrp="1" noChangeArrowheads="1"/>
          </p:cNvSpPr>
          <p:nvPr/>
        </p:nvSpPr>
        <p:spPr bwMode="auto">
          <a:xfrm>
            <a:off x="3894138" y="9558338"/>
            <a:ext cx="2978150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780" tIns="48390" rIns="96780" bIns="48390" anchor="b"/>
          <a:lstStyle/>
          <a:p>
            <a:pPr algn="r" defTabSz="965200" eaLnBrk="1" hangingPunct="1">
              <a:buClr>
                <a:srgbClr val="000000"/>
              </a:buClr>
            </a:pPr>
            <a:fld id="{80858C5B-47FB-42E5-BCA8-25173A393ACE}" type="slidenum">
              <a:rPr lang="zh-CN" altLang="zh-CN" sz="1300">
                <a:latin typeface="Calibri" pitchFamily="34" charset="0"/>
              </a:rPr>
              <a:pPr algn="r" defTabSz="965200" eaLnBrk="1" hangingPunct="1">
                <a:buClr>
                  <a:srgbClr val="000000"/>
                </a:buClr>
              </a:pPr>
              <a:t>2</a:t>
            </a:fld>
            <a:endParaRPr lang="en-US" altLang="zh-CN" sz="1300">
              <a:latin typeface="Calibri" pitchFamily="34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084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94BC2-553B-45BC-B82B-4E54A7011BC9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pPr lvl="0"/>
            <a:fld id="{9A0DB2DC-4C9A-4742-B13C-FB6460FD3503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lvl="0"/>
            <a:fld id="{9A0DB2DC-4C9A-4742-B13C-FB6460FD3503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hyperlink" Target="http://en.wikipedia.org/wiki/File:Fungi_of_Saskatchewan.JPG" TargetMode="External"/><Relationship Id="rId7" Type="http://schemas.openxmlformats.org/officeDocument/2006/relationships/hyperlink" Target="http://en.wikipedia.org/wiki/File:Blue_Linckia_Starfish.JP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://en.wikipedia.org/wiki/File:Forest_fruits_from_Barro_Colorado.png" TargetMode="Externa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/Image:0260-76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3.jpeg"/><Relationship Id="rId7" Type="http://schemas.openxmlformats.org/officeDocument/2006/relationships/image" Target="../media/image15.jpeg"/><Relationship Id="rId2" Type="http://schemas.openxmlformats.org/officeDocument/2006/relationships/hyperlink" Target="/Image:Thorn-Tree-Sossusvlei-Namib-6352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/Image:My-Spirit-Wolf-3334.jpg" TargetMode="External"/><Relationship Id="rId5" Type="http://schemas.openxmlformats.org/officeDocument/2006/relationships/image" Target="../media/image14.jpeg"/><Relationship Id="rId4" Type="http://schemas.openxmlformats.org/officeDocument/2006/relationships/hyperlink" Target="/Image:Nwhi---French-Frigate-Shoals-reef---857.jpg" TargetMode="External"/><Relationship Id="rId9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4400" y="1905000"/>
            <a:ext cx="807720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rgbClr val="FF0000"/>
                </a:solidFill>
                <a:latin typeface="Cooper Black" pitchFamily="18" charset="0"/>
              </a:rPr>
              <a:t>BIODIVERSITY (PART-1)</a:t>
            </a:r>
          </a:p>
          <a:p>
            <a:pPr algn="ctr">
              <a:defRPr/>
            </a:pPr>
            <a:r>
              <a:rPr lang="en-US" sz="3200" b="1" dirty="0" smtClean="0"/>
              <a:t>Unit 2 </a:t>
            </a:r>
            <a:endParaRPr lang="en-US" sz="3200" dirty="0"/>
          </a:p>
          <a:p>
            <a:r>
              <a:rPr lang="en-US" sz="3200" dirty="0"/>
              <a:t> </a:t>
            </a:r>
            <a:r>
              <a:rPr lang="en-US" sz="3200" dirty="0" smtClean="0"/>
              <a:t>                       </a:t>
            </a:r>
            <a:r>
              <a:rPr lang="en-US" sz="3200" b="1" dirty="0" smtClean="0"/>
              <a:t>Natural </a:t>
            </a:r>
            <a:r>
              <a:rPr lang="en-US" sz="3200" b="1" dirty="0"/>
              <a:t>Resources 	</a:t>
            </a:r>
          </a:p>
          <a:p>
            <a:pPr algn="ctr">
              <a:defRPr/>
            </a:pPr>
            <a:r>
              <a:rPr lang="en-US" dirty="0"/>
              <a:t>	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" y="5257803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altLang="en-US" b="1" dirty="0" smtClean="0">
                <a:latin typeface="Comic Sans MS" pitchFamily="66" charset="0"/>
              </a:rPr>
              <a:t>Department: Chemistry</a:t>
            </a:r>
          </a:p>
          <a:p>
            <a:pPr algn="just"/>
            <a:r>
              <a:rPr lang="en-US" altLang="en-US" b="1" dirty="0" smtClean="0">
                <a:latin typeface="Comic Sans MS" pitchFamily="66" charset="0"/>
              </a:rPr>
              <a:t>Subject: Environmental Studies (CHM2041)</a:t>
            </a:r>
          </a:p>
        </p:txBody>
      </p:sp>
      <p:pic>
        <p:nvPicPr>
          <p:cNvPr id="6" name="image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51270" y="76200"/>
            <a:ext cx="199273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381000" y="762002"/>
            <a:ext cx="6019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 smtClean="0">
                <a:solidFill>
                  <a:srgbClr val="D32BE5"/>
                </a:solidFill>
              </a:rPr>
              <a:t>(Introduction </a:t>
            </a:r>
            <a:r>
              <a:rPr lang="en-US" sz="2800" b="1" dirty="0">
                <a:solidFill>
                  <a:srgbClr val="D32BE5"/>
                </a:solidFill>
              </a:rPr>
              <a:t>to Environmental Studies) B. Tech  3</a:t>
            </a:r>
            <a:r>
              <a:rPr lang="en-US" sz="2800" b="1" baseline="30000" dirty="0">
                <a:solidFill>
                  <a:srgbClr val="D32BE5"/>
                </a:solidFill>
              </a:rPr>
              <a:t>rd</a:t>
            </a:r>
            <a:r>
              <a:rPr lang="en-US" sz="2800" b="1" dirty="0">
                <a:solidFill>
                  <a:srgbClr val="D32BE5"/>
                </a:solidFill>
              </a:rPr>
              <a:t> Semester</a:t>
            </a:r>
            <a:endParaRPr lang="en-US" sz="2800" dirty="0"/>
          </a:p>
        </p:txBody>
      </p:sp>
      <p:pic>
        <p:nvPicPr>
          <p:cNvPr id="9" name="Picture 4" descr="mhtml:file://D:\M.Tech.%20Course\Biodiversity\Biodiversity%20-%20M.Tech\Biodiversity%20-%20Wikipedia,%20the%20free%20encyclopedia.mht!http://upload.wikimedia.org/wikipedia/commons/thumb/f/f6/Fungi_of_Saskatchewan.JPG/250px-Fungi_of_Saskatchewan.JPG">
            <a:hlinkClick r:id="rId3"/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1752600"/>
            <a:ext cx="2133600" cy="286809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1" name="Picture 6" descr="mhtml:file://D:\M.Tech.%20Course\Biodiversity\Biodiversity%20-%20M.Tech\Biodiversity%20-%20Wikipedia,%20the%20free%20encyclopedia.mht!http://upload.wikimedia.org/wikipedia/commons/thumb/b/b5/Forest_fruits_from_Barro_Colorado.png/200px-Forest_fruits_from_Barro_Colorado.png">
            <a:hlinkClick r:id="rId5"/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800600" y="3429000"/>
            <a:ext cx="2057400" cy="302409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2" name="Picture 2" descr="mhtml:file://D:\M.Tech.%20Course\Biodiversity\Biodiversity%20-%20M.Tech\Biodiversity%20-%20Wikipedia,%20the%20free%20encyclopedia.mht!http://upload.wikimedia.org/wikipedia/commons/thumb/7/76/Blue_Linckia_Starfish.JPG/275px-Blue_Linckia_Starfish.JPG">
            <a:hlinkClick r:id="rId7"/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845371" y="3276600"/>
            <a:ext cx="2298629" cy="319246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660526" y="72231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</a:pPr>
            <a:endParaRPr lang="zh-CN" altLang="en-US">
              <a:latin typeface="Century Schoolbook" pitchFamily="18" charset="0"/>
            </a:endParaRPr>
          </a:p>
        </p:txBody>
      </p:sp>
      <p:sp>
        <p:nvSpPr>
          <p:cNvPr id="15364" name="AutoShape 4"/>
          <p:cNvSpPr>
            <a:spLocks noChangeArrowheads="1"/>
          </p:cNvSpPr>
          <p:nvPr/>
        </p:nvSpPr>
        <p:spPr bwMode="auto">
          <a:xfrm rot="5400000" flipH="1">
            <a:off x="-2016918" y="2248695"/>
            <a:ext cx="4032250" cy="322421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gradFill rotWithShape="1">
            <a:gsLst>
              <a:gs pos="0">
                <a:schemeClr val="hlink">
                  <a:alpha val="56000"/>
                </a:schemeClr>
              </a:gs>
              <a:gs pos="100000">
                <a:srgbClr val="FFFFFF">
                  <a:alpha val="48000"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rot="10800000" vert="eaVert"/>
          <a:lstStyle/>
          <a:p>
            <a:endParaRPr lang="en-US"/>
          </a:p>
        </p:txBody>
      </p:sp>
      <p:sp>
        <p:nvSpPr>
          <p:cNvPr id="15365" name="AutoShape 5"/>
          <p:cNvSpPr>
            <a:spLocks noChangeArrowheads="1"/>
          </p:cNvSpPr>
          <p:nvPr/>
        </p:nvSpPr>
        <p:spPr bwMode="auto">
          <a:xfrm>
            <a:off x="2133600" y="2743200"/>
            <a:ext cx="5645150" cy="1038701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lIns="0" rIns="0" anchor="ctr">
            <a:spAutoFit/>
          </a:bodyPr>
          <a:lstStyle/>
          <a:p>
            <a:pPr algn="just">
              <a:buClr>
                <a:srgbClr val="000000"/>
              </a:buClr>
              <a:buSzPct val="100000"/>
            </a:pPr>
            <a:r>
              <a:rPr lang="en-US" sz="2400" dirty="0" smtClean="0"/>
              <a:t>Values of Biodiversity</a:t>
            </a:r>
          </a:p>
          <a:p>
            <a:pPr lvl="0" algn="just">
              <a:buClr>
                <a:srgbClr val="000000"/>
              </a:buClr>
              <a:buSzPct val="100000"/>
            </a:pPr>
            <a:endParaRPr lang="en-US" b="1" dirty="0" smtClean="0"/>
          </a:p>
        </p:txBody>
      </p:sp>
      <p:sp>
        <p:nvSpPr>
          <p:cNvPr id="15368" name="AutoShape 8"/>
          <p:cNvSpPr>
            <a:spLocks noChangeArrowheads="1"/>
          </p:cNvSpPr>
          <p:nvPr/>
        </p:nvSpPr>
        <p:spPr bwMode="auto">
          <a:xfrm>
            <a:off x="1447800" y="1066800"/>
            <a:ext cx="6019800" cy="1514773"/>
          </a:xfrm>
          <a:prstGeom prst="roundRect">
            <a:avLst>
              <a:gd name="adj" fmla="val 36116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wrap="square" lIns="0" rIns="0" anchor="ctr">
            <a:spAutoFit/>
          </a:bodyPr>
          <a:lstStyle/>
          <a:p>
            <a:pPr algn="just">
              <a:buClr>
                <a:srgbClr val="000000"/>
              </a:buClr>
              <a:buSzPct val="100000"/>
            </a:pPr>
            <a:r>
              <a:rPr lang="en-US" sz="2800" dirty="0" smtClean="0"/>
              <a:t>What is Biodiversity</a:t>
            </a:r>
          </a:p>
          <a:p>
            <a:pPr algn="just">
              <a:buClr>
                <a:srgbClr val="000000"/>
              </a:buClr>
              <a:buSzPct val="100000"/>
            </a:pPr>
            <a:endParaRPr lang="en-US" b="1" dirty="0" smtClean="0">
              <a:solidFill>
                <a:srgbClr val="D32BE5"/>
              </a:solidFill>
            </a:endParaRPr>
          </a:p>
          <a:p>
            <a:pPr algn="just">
              <a:buClr>
                <a:srgbClr val="000000"/>
              </a:buClr>
              <a:buSzPct val="100000"/>
            </a:pPr>
            <a:endParaRPr lang="en-US" altLang="zh-CN" b="1" dirty="0">
              <a:solidFill>
                <a:srgbClr val="D32BE5"/>
              </a:solidFill>
              <a:latin typeface="Century Schoolbook" pitchFamily="18" charset="0"/>
              <a:ea typeface="SimHei" pitchFamily="49" charset="-122"/>
            </a:endParaRPr>
          </a:p>
        </p:txBody>
      </p:sp>
      <p:sp>
        <p:nvSpPr>
          <p:cNvPr id="6153" name="AutoShape 9"/>
          <p:cNvSpPr>
            <a:spLocks noChangeArrowheads="1"/>
          </p:cNvSpPr>
          <p:nvPr/>
        </p:nvSpPr>
        <p:spPr bwMode="auto">
          <a:xfrm rot="5400000">
            <a:off x="-2590800" y="1362076"/>
            <a:ext cx="5181600" cy="4600576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762000" y="1219200"/>
            <a:ext cx="366713" cy="381000"/>
            <a:chOff x="785" y="1175"/>
            <a:chExt cx="231" cy="240"/>
          </a:xfrm>
        </p:grpSpPr>
        <p:sp>
          <p:nvSpPr>
            <p:cNvPr id="15418" name="Oval 11"/>
            <p:cNvSpPr>
              <a:spLocks noChangeArrowheads="1"/>
            </p:cNvSpPr>
            <p:nvPr/>
          </p:nvSpPr>
          <p:spPr bwMode="auto">
            <a:xfrm>
              <a:off x="785" y="1175"/>
              <a:ext cx="231" cy="240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15419" name="Oval 12"/>
            <p:cNvSpPr>
              <a:spLocks noChangeArrowheads="1"/>
            </p:cNvSpPr>
            <p:nvPr/>
          </p:nvSpPr>
          <p:spPr bwMode="auto">
            <a:xfrm>
              <a:off x="798" y="1189"/>
              <a:ext cx="205" cy="212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6157" name="Oval 13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15421" name="Oval 14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6159" name="Oval 15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15423" name="Oval 16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>
              <a:solidFill>
                <a:srgbClr val="99FF33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solidFill>
                  <a:srgbClr val="00B0F0"/>
                </a:solidFill>
                <a:latin typeface="Century Schoolbook" pitchFamily="18" charset="0"/>
              </a:endParaRPr>
            </a:p>
          </p:txBody>
        </p:sp>
      </p:grp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1905000" y="3048000"/>
            <a:ext cx="366713" cy="381000"/>
            <a:chOff x="567" y="3612"/>
            <a:chExt cx="231" cy="240"/>
          </a:xfrm>
        </p:grpSpPr>
        <p:sp>
          <p:nvSpPr>
            <p:cNvPr id="15406" name="Oval 32"/>
            <p:cNvSpPr>
              <a:spLocks noChangeArrowheads="1"/>
            </p:cNvSpPr>
            <p:nvPr/>
          </p:nvSpPr>
          <p:spPr bwMode="auto">
            <a:xfrm>
              <a:off x="567" y="3612"/>
              <a:ext cx="231" cy="240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15407" name="Oval 33"/>
            <p:cNvSpPr>
              <a:spLocks noChangeArrowheads="1"/>
            </p:cNvSpPr>
            <p:nvPr/>
          </p:nvSpPr>
          <p:spPr bwMode="auto">
            <a:xfrm>
              <a:off x="580" y="3626"/>
              <a:ext cx="205" cy="212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6178" name="Oval 34"/>
            <p:cNvSpPr>
              <a:spLocks noChangeArrowheads="1"/>
            </p:cNvSpPr>
            <p:nvPr/>
          </p:nvSpPr>
          <p:spPr bwMode="auto">
            <a:xfrm>
              <a:off x="592" y="3638"/>
              <a:ext cx="181" cy="18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15409" name="Oval 35"/>
            <p:cNvSpPr>
              <a:spLocks noChangeArrowheads="1"/>
            </p:cNvSpPr>
            <p:nvPr/>
          </p:nvSpPr>
          <p:spPr bwMode="auto">
            <a:xfrm>
              <a:off x="592" y="3638"/>
              <a:ext cx="181" cy="188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6180" name="Oval 36"/>
            <p:cNvSpPr>
              <a:spLocks noChangeArrowheads="1"/>
            </p:cNvSpPr>
            <p:nvPr/>
          </p:nvSpPr>
          <p:spPr bwMode="auto">
            <a:xfrm>
              <a:off x="604" y="3650"/>
              <a:ext cx="157" cy="1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15411" name="Oval 37"/>
            <p:cNvSpPr>
              <a:spLocks noChangeArrowheads="1"/>
            </p:cNvSpPr>
            <p:nvPr/>
          </p:nvSpPr>
          <p:spPr bwMode="auto">
            <a:xfrm>
              <a:off x="604" y="3650"/>
              <a:ext cx="157" cy="164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</p:grpSp>
      <p:sp>
        <p:nvSpPr>
          <p:cNvPr id="15373" name="AutoShape 8"/>
          <p:cNvSpPr>
            <a:spLocks noChangeArrowheads="1"/>
          </p:cNvSpPr>
          <p:nvPr/>
        </p:nvSpPr>
        <p:spPr bwMode="auto">
          <a:xfrm>
            <a:off x="2286000" y="3733801"/>
            <a:ext cx="5643562" cy="1298377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wrap="square" lIns="0" rIns="0" anchor="ctr">
            <a:spAutoFit/>
          </a:bodyPr>
          <a:lstStyle/>
          <a:p>
            <a:pPr algn="just">
              <a:buClr>
                <a:srgbClr val="000000"/>
              </a:buClr>
              <a:buSzPct val="100000"/>
            </a:pPr>
            <a:r>
              <a:rPr lang="en-US" b="1" dirty="0" smtClean="0">
                <a:solidFill>
                  <a:srgbClr val="D32BE5"/>
                </a:solidFill>
              </a:rPr>
              <a:t> </a:t>
            </a:r>
            <a:endParaRPr lang="en-US" b="1" dirty="0" smtClean="0"/>
          </a:p>
          <a:p>
            <a:pPr lvl="0" algn="just">
              <a:buClr>
                <a:srgbClr val="000000"/>
              </a:buClr>
              <a:buSzPct val="100000"/>
            </a:pPr>
            <a:endParaRPr lang="en-US" b="1" dirty="0" smtClean="0"/>
          </a:p>
          <a:p>
            <a:pPr algn="just">
              <a:buClr>
                <a:srgbClr val="000000"/>
              </a:buClr>
              <a:buSzPct val="100000"/>
            </a:pPr>
            <a:endParaRPr lang="en-US" b="1" dirty="0" smtClean="0">
              <a:solidFill>
                <a:srgbClr val="7030A0"/>
              </a:solidFill>
            </a:endParaRPr>
          </a:p>
        </p:txBody>
      </p:sp>
      <p:sp>
        <p:nvSpPr>
          <p:cNvPr id="10257" name="Footer Placeholder 4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589045" y="1081883"/>
            <a:ext cx="2011362" cy="38417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/>
              <a:t> </a:t>
            </a:r>
          </a:p>
        </p:txBody>
      </p: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1524000" y="2057400"/>
            <a:ext cx="366713" cy="381000"/>
            <a:chOff x="1202" y="2024"/>
            <a:chExt cx="231" cy="240"/>
          </a:xfrm>
        </p:grpSpPr>
        <p:sp>
          <p:nvSpPr>
            <p:cNvPr id="15400" name="Oval 18"/>
            <p:cNvSpPr>
              <a:spLocks noChangeArrowheads="1"/>
            </p:cNvSpPr>
            <p:nvPr/>
          </p:nvSpPr>
          <p:spPr bwMode="auto">
            <a:xfrm>
              <a:off x="1202" y="2024"/>
              <a:ext cx="231" cy="240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15401" name="Oval 19"/>
            <p:cNvSpPr>
              <a:spLocks noChangeArrowheads="1"/>
            </p:cNvSpPr>
            <p:nvPr/>
          </p:nvSpPr>
          <p:spPr bwMode="auto">
            <a:xfrm>
              <a:off x="1215" y="2038"/>
              <a:ext cx="205" cy="212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61" name="Oval 20"/>
            <p:cNvSpPr>
              <a:spLocks noChangeArrowheads="1"/>
            </p:cNvSpPr>
            <p:nvPr/>
          </p:nvSpPr>
          <p:spPr bwMode="auto">
            <a:xfrm>
              <a:off x="1227" y="2050"/>
              <a:ext cx="181" cy="18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15403" name="Oval 21"/>
            <p:cNvSpPr>
              <a:spLocks noChangeArrowheads="1"/>
            </p:cNvSpPr>
            <p:nvPr/>
          </p:nvSpPr>
          <p:spPr bwMode="auto">
            <a:xfrm>
              <a:off x="1227" y="2050"/>
              <a:ext cx="181" cy="188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63" name="Oval 22"/>
            <p:cNvSpPr>
              <a:spLocks noChangeArrowheads="1"/>
            </p:cNvSpPr>
            <p:nvPr/>
          </p:nvSpPr>
          <p:spPr bwMode="auto">
            <a:xfrm>
              <a:off x="1239" y="2062"/>
              <a:ext cx="157" cy="1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15405" name="Oval 23"/>
            <p:cNvSpPr>
              <a:spLocks noChangeArrowheads="1"/>
            </p:cNvSpPr>
            <p:nvPr/>
          </p:nvSpPr>
          <p:spPr bwMode="auto">
            <a:xfrm>
              <a:off x="1239" y="2062"/>
              <a:ext cx="157" cy="164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</p:grpSp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1828800" y="4114800"/>
            <a:ext cx="366713" cy="381000"/>
            <a:chOff x="785" y="1175"/>
            <a:chExt cx="231" cy="240"/>
          </a:xfrm>
        </p:grpSpPr>
        <p:sp>
          <p:nvSpPr>
            <p:cNvPr id="15388" name="Oval 11"/>
            <p:cNvSpPr>
              <a:spLocks noChangeArrowheads="1"/>
            </p:cNvSpPr>
            <p:nvPr/>
          </p:nvSpPr>
          <p:spPr bwMode="auto">
            <a:xfrm>
              <a:off x="785" y="1175"/>
              <a:ext cx="231" cy="240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15389" name="Oval 12"/>
            <p:cNvSpPr>
              <a:spLocks noChangeArrowheads="1"/>
            </p:cNvSpPr>
            <p:nvPr/>
          </p:nvSpPr>
          <p:spPr bwMode="auto">
            <a:xfrm>
              <a:off x="798" y="1189"/>
              <a:ext cx="205" cy="212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77" name="Oval 13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15391" name="Oval 14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79" name="Oval 15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15393" name="Oval 16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>
              <a:solidFill>
                <a:srgbClr val="99FF33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solidFill>
                  <a:srgbClr val="00B0F0"/>
                </a:solidFill>
                <a:latin typeface="Century Schoolbook" pitchFamily="18" charset="0"/>
              </a:endParaRPr>
            </a:p>
          </p:txBody>
        </p:sp>
      </p:grpSp>
      <p:grpSp>
        <p:nvGrpSpPr>
          <p:cNvPr id="8" name="Group 31"/>
          <p:cNvGrpSpPr>
            <a:grpSpLocks/>
          </p:cNvGrpSpPr>
          <p:nvPr/>
        </p:nvGrpSpPr>
        <p:grpSpPr bwMode="auto">
          <a:xfrm>
            <a:off x="1524000" y="4876800"/>
            <a:ext cx="366713" cy="381000"/>
            <a:chOff x="567" y="3612"/>
            <a:chExt cx="231" cy="240"/>
          </a:xfrm>
        </p:grpSpPr>
        <p:sp>
          <p:nvSpPr>
            <p:cNvPr id="15382" name="Oval 32"/>
            <p:cNvSpPr>
              <a:spLocks noChangeArrowheads="1"/>
            </p:cNvSpPr>
            <p:nvPr/>
          </p:nvSpPr>
          <p:spPr bwMode="auto">
            <a:xfrm>
              <a:off x="567" y="3612"/>
              <a:ext cx="231" cy="240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15383" name="Oval 33"/>
            <p:cNvSpPr>
              <a:spLocks noChangeArrowheads="1"/>
            </p:cNvSpPr>
            <p:nvPr/>
          </p:nvSpPr>
          <p:spPr bwMode="auto">
            <a:xfrm>
              <a:off x="580" y="3626"/>
              <a:ext cx="205" cy="212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84" name="Oval 34"/>
            <p:cNvSpPr>
              <a:spLocks noChangeArrowheads="1"/>
            </p:cNvSpPr>
            <p:nvPr/>
          </p:nvSpPr>
          <p:spPr bwMode="auto">
            <a:xfrm>
              <a:off x="592" y="3638"/>
              <a:ext cx="181" cy="18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15385" name="Oval 35"/>
            <p:cNvSpPr>
              <a:spLocks noChangeArrowheads="1"/>
            </p:cNvSpPr>
            <p:nvPr/>
          </p:nvSpPr>
          <p:spPr bwMode="auto">
            <a:xfrm>
              <a:off x="592" y="3638"/>
              <a:ext cx="181" cy="188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86" name="Oval 36"/>
            <p:cNvSpPr>
              <a:spLocks noChangeArrowheads="1"/>
            </p:cNvSpPr>
            <p:nvPr/>
          </p:nvSpPr>
          <p:spPr bwMode="auto">
            <a:xfrm>
              <a:off x="604" y="3650"/>
              <a:ext cx="157" cy="1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15387" name="Oval 37"/>
            <p:cNvSpPr>
              <a:spLocks noChangeArrowheads="1"/>
            </p:cNvSpPr>
            <p:nvPr/>
          </p:nvSpPr>
          <p:spPr bwMode="auto">
            <a:xfrm>
              <a:off x="604" y="3650"/>
              <a:ext cx="157" cy="164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</p:grpSp>
      <p:sp>
        <p:nvSpPr>
          <p:cNvPr id="73" name="AutoShape 8"/>
          <p:cNvSpPr>
            <a:spLocks noChangeArrowheads="1"/>
          </p:cNvSpPr>
          <p:nvPr/>
        </p:nvSpPr>
        <p:spPr bwMode="auto">
          <a:xfrm>
            <a:off x="1447800" y="5400854"/>
            <a:ext cx="5970588" cy="1457146"/>
          </a:xfrm>
          <a:prstGeom prst="roundRect">
            <a:avLst>
              <a:gd name="adj" fmla="val 24282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lIns="0" rIns="0" anchor="ctr">
            <a:spAutoFit/>
          </a:bodyPr>
          <a:lstStyle/>
          <a:p>
            <a:r>
              <a:rPr lang="en-US" sz="2800" dirty="0" smtClean="0"/>
              <a:t>Hot spot Biodiversity   </a:t>
            </a:r>
          </a:p>
          <a:p>
            <a:pPr lvl="0"/>
            <a:r>
              <a:rPr lang="en-US" sz="2800" b="1" dirty="0" smtClean="0">
                <a:solidFill>
                  <a:srgbClr val="D32BE5"/>
                </a:solidFill>
              </a:rPr>
              <a:t> </a:t>
            </a:r>
          </a:p>
          <a:p>
            <a:endParaRPr lang="en-US" altLang="zh-CN" sz="2000" b="1" dirty="0">
              <a:solidFill>
                <a:srgbClr val="D32BE5"/>
              </a:solidFill>
              <a:latin typeface="Century Schoolbook" pitchFamily="18" charset="0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2057400" y="1905000"/>
            <a:ext cx="3481466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/>
              <a:t>Types of Biodiversity</a:t>
            </a:r>
          </a:p>
          <a:p>
            <a:endParaRPr lang="en-US" b="1" dirty="0" smtClean="0"/>
          </a:p>
        </p:txBody>
      </p:sp>
      <p:sp>
        <p:nvSpPr>
          <p:cNvPr id="78" name="Rectangle 77"/>
          <p:cNvSpPr/>
          <p:nvPr/>
        </p:nvSpPr>
        <p:spPr>
          <a:xfrm>
            <a:off x="2514600" y="3962400"/>
            <a:ext cx="3163045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/>
              <a:t>Global Biodiversity</a:t>
            </a:r>
          </a:p>
          <a:p>
            <a:pPr lvl="0"/>
            <a:r>
              <a:rPr lang="en-US" b="1" dirty="0" smtClean="0">
                <a:solidFill>
                  <a:srgbClr val="D32BE5"/>
                </a:solidFill>
              </a:rPr>
              <a:t> </a:t>
            </a:r>
            <a:endParaRPr lang="en-US" b="1" dirty="0"/>
          </a:p>
        </p:txBody>
      </p:sp>
      <p:sp>
        <p:nvSpPr>
          <p:cNvPr id="75" name="Rectangle 74"/>
          <p:cNvSpPr/>
          <p:nvPr/>
        </p:nvSpPr>
        <p:spPr>
          <a:xfrm>
            <a:off x="2895600" y="152400"/>
            <a:ext cx="260103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 dirty="0" smtClean="0">
                <a:solidFill>
                  <a:srgbClr val="D32B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cs typeface="Arial" pitchFamily="34" charset="0"/>
              </a:rPr>
              <a:t>Contents</a:t>
            </a:r>
            <a:endParaRPr lang="en-US" sz="4400" dirty="0"/>
          </a:p>
        </p:txBody>
      </p:sp>
      <p:sp>
        <p:nvSpPr>
          <p:cNvPr id="82" name="AutoShape 8"/>
          <p:cNvSpPr>
            <a:spLocks noChangeArrowheads="1"/>
          </p:cNvSpPr>
          <p:nvPr/>
        </p:nvSpPr>
        <p:spPr bwMode="auto">
          <a:xfrm>
            <a:off x="2057400" y="4724400"/>
            <a:ext cx="5970588" cy="604183"/>
          </a:xfrm>
          <a:prstGeom prst="roundRect">
            <a:avLst>
              <a:gd name="adj" fmla="val 24282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lIns="0" rIns="0" anchor="ctr">
            <a:spAutoFit/>
          </a:bodyPr>
          <a:lstStyle/>
          <a:p>
            <a:r>
              <a:rPr lang="en-US" sz="2800" dirty="0" smtClean="0"/>
              <a:t>Biodiversity in India</a:t>
            </a:r>
          </a:p>
        </p:txBody>
      </p: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1066800" y="5486400"/>
            <a:ext cx="366713" cy="381000"/>
            <a:chOff x="785" y="1175"/>
            <a:chExt cx="231" cy="240"/>
          </a:xfrm>
        </p:grpSpPr>
        <p:sp>
          <p:nvSpPr>
            <p:cNvPr id="85" name="Oval 11"/>
            <p:cNvSpPr>
              <a:spLocks noChangeArrowheads="1"/>
            </p:cNvSpPr>
            <p:nvPr/>
          </p:nvSpPr>
          <p:spPr bwMode="auto">
            <a:xfrm>
              <a:off x="785" y="1175"/>
              <a:ext cx="231" cy="240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87" name="Oval 12"/>
            <p:cNvSpPr>
              <a:spLocks noChangeArrowheads="1"/>
            </p:cNvSpPr>
            <p:nvPr/>
          </p:nvSpPr>
          <p:spPr bwMode="auto">
            <a:xfrm>
              <a:off x="798" y="1189"/>
              <a:ext cx="205" cy="212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88" name="Oval 13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89" name="Oval 14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90" name="Oval 15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91" name="Oval 16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>
              <a:solidFill>
                <a:srgbClr val="99FF33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solidFill>
                  <a:srgbClr val="00B0F0"/>
                </a:solidFill>
                <a:latin typeface="Century Schoolbook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NARESH\Desktop\Environmental study part 2 AKV\BIODIVERSITY PPT\biodiversity-3-638.jpg"/>
          <p:cNvPicPr>
            <a:picLocks noChangeAspect="1" noChangeArrowheads="1"/>
          </p:cNvPicPr>
          <p:nvPr/>
        </p:nvPicPr>
        <p:blipFill>
          <a:blip r:embed="rId2"/>
          <a:srcRect t="30063" b="10021"/>
          <a:stretch>
            <a:fillRect/>
          </a:stretch>
        </p:blipFill>
        <p:spPr bwMode="auto">
          <a:xfrm>
            <a:off x="-1" y="2057400"/>
            <a:ext cx="7623019" cy="2971800"/>
          </a:xfrm>
          <a:prstGeom prst="rect">
            <a:avLst/>
          </a:prstGeom>
          <a:noFill/>
        </p:spPr>
      </p:pic>
      <p:pic>
        <p:nvPicPr>
          <p:cNvPr id="3075" name="Picture 3" descr="C:\Users\NARESH\Desktop\Environmental study part 2 AKV\BIODIVERSITY PPT\ppt-of-biodiversity-1-638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38800" y="1"/>
            <a:ext cx="3352800" cy="198120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0" y="5181600"/>
            <a:ext cx="9144000" cy="92333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IN" b="1" dirty="0" smtClean="0"/>
              <a:t>Biodiversity: It is concerned with the </a:t>
            </a:r>
            <a:r>
              <a:rPr lang="en-IN" b="1" dirty="0" smtClean="0">
                <a:solidFill>
                  <a:srgbClr val="CC3300"/>
                </a:solidFill>
              </a:rPr>
              <a:t>variety of individuals within populations</a:t>
            </a:r>
            <a:r>
              <a:rPr lang="en-IN" b="1" dirty="0" smtClean="0"/>
              <a:t>, the </a:t>
            </a:r>
            <a:r>
              <a:rPr lang="en-IN" b="1" dirty="0" smtClean="0">
                <a:solidFill>
                  <a:srgbClr val="0070C0"/>
                </a:solidFill>
              </a:rPr>
              <a:t>diversity of species within communities</a:t>
            </a:r>
            <a:r>
              <a:rPr lang="en-IN" b="1" dirty="0" smtClean="0"/>
              <a:t>, and the </a:t>
            </a:r>
            <a:r>
              <a:rPr lang="en-IN" b="1" dirty="0" smtClean="0">
                <a:solidFill>
                  <a:srgbClr val="7030A0"/>
                </a:solidFill>
              </a:rPr>
              <a:t>range of ecological roles within ecosystems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19200" y="457200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00FF"/>
                </a:solidFill>
              </a:rPr>
              <a:t>What is Biodiversity </a:t>
            </a:r>
            <a:endParaRPr lang="en-US" sz="3600" dirty="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838200"/>
            <a:ext cx="89154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 smtClean="0">
                <a:solidFill>
                  <a:srgbClr val="0070C0"/>
                </a:solidFill>
                <a:latin typeface="Bookman Old Style" pitchFamily="18" charset="0"/>
              </a:rPr>
              <a:t>1) Species biodiversity, 2) Genetic biodiversity, 3) Ecosystem biodiversity </a:t>
            </a:r>
          </a:p>
          <a:p>
            <a:r>
              <a:rPr lang="en-US" sz="2000" b="1" i="1" dirty="0" smtClean="0">
                <a:solidFill>
                  <a:srgbClr val="0070C0"/>
                </a:solidFill>
                <a:latin typeface="Bookman Old Style" pitchFamily="18" charset="0"/>
              </a:rPr>
              <a:t>1. Species Biodiversity: </a:t>
            </a:r>
          </a:p>
          <a:p>
            <a:r>
              <a:rPr lang="en-US" sz="2000" dirty="0" err="1" smtClean="0">
                <a:latin typeface="Bookman Old Style" pitchFamily="18" charset="0"/>
              </a:rPr>
              <a:t>i</a:t>
            </a:r>
            <a:r>
              <a:rPr lang="en-US" sz="2000" dirty="0" smtClean="0">
                <a:latin typeface="Bookman Old Style" pitchFamily="18" charset="0"/>
              </a:rPr>
              <a:t>) Refers to the variety of species within a </a:t>
            </a:r>
            <a:r>
              <a:rPr lang="en-US" sz="2000" dirty="0" smtClean="0">
                <a:solidFill>
                  <a:srgbClr val="CC3300"/>
                </a:solidFill>
                <a:latin typeface="Bookman Old Style" pitchFamily="18" charset="0"/>
              </a:rPr>
              <a:t>community</a:t>
            </a:r>
            <a:r>
              <a:rPr lang="en-US" sz="2000" dirty="0" smtClean="0">
                <a:latin typeface="Bookman Old Style" pitchFamily="18" charset="0"/>
              </a:rPr>
              <a:t> in a region.</a:t>
            </a:r>
            <a:r>
              <a:rPr lang="en-US" sz="2000" dirty="0" smtClean="0"/>
              <a:t> </a:t>
            </a:r>
          </a:p>
          <a:p>
            <a:r>
              <a:rPr lang="en-US" sz="2000" dirty="0" smtClean="0"/>
              <a:t>ii) It an</a:t>
            </a:r>
            <a:r>
              <a:rPr lang="en-US" sz="2000" dirty="0" smtClean="0">
                <a:solidFill>
                  <a:srgbClr val="FF0000"/>
                </a:solidFill>
              </a:rPr>
              <a:t> index </a:t>
            </a:r>
            <a:r>
              <a:rPr lang="en-US" sz="2000" dirty="0" smtClean="0"/>
              <a:t>represents species richness and their abundance in a community</a:t>
            </a:r>
            <a:r>
              <a:rPr lang="en-US" sz="2000" dirty="0" smtClean="0">
                <a:latin typeface="Bookman Old Style" pitchFamily="18" charset="0"/>
              </a:rPr>
              <a:t>. </a:t>
            </a:r>
          </a:p>
          <a:p>
            <a:pPr marL="457200" indent="-457200" algn="just">
              <a:lnSpc>
                <a:spcPct val="150000"/>
              </a:lnSpc>
            </a:pPr>
            <a:r>
              <a:rPr lang="en-US" sz="2000" dirty="0" smtClean="0">
                <a:latin typeface="Bookman Old Style" pitchFamily="18" charset="0"/>
              </a:rPr>
              <a:t>ii) At present, about 1.8 million species on Earth. </a:t>
            </a:r>
          </a:p>
          <a:p>
            <a:pPr marL="457200" indent="-457200" algn="just">
              <a:lnSpc>
                <a:spcPct val="150000"/>
              </a:lnSpc>
            </a:pPr>
            <a:r>
              <a:rPr lang="en-US" sz="2000" dirty="0" smtClean="0">
                <a:latin typeface="Bookman Old Style" pitchFamily="18" charset="0"/>
              </a:rPr>
              <a:t>iii) India is among the world’s 15 Nations that are exceptionally rich in species diversity.</a:t>
            </a:r>
          </a:p>
          <a:p>
            <a:pPr algn="just">
              <a:lnSpc>
                <a:spcPct val="150000"/>
              </a:lnSpc>
            </a:pPr>
            <a:endParaRPr lang="en-US" sz="2000" dirty="0" smtClean="0">
              <a:latin typeface="Bookman Old Style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 smtClean="0">
              <a:latin typeface="Bookman Old Style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 smtClean="0">
              <a:latin typeface="Bookman Old Style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 smtClean="0">
              <a:latin typeface="Bookman Old Style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" y="4800600"/>
            <a:ext cx="2895600" cy="92333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IN" b="1" dirty="0" smtClean="0"/>
              <a:t>It is the variety of different species in a given area/Communities</a:t>
            </a:r>
            <a:endParaRPr lang="en-US" dirty="0"/>
          </a:p>
        </p:txBody>
      </p:sp>
      <p:pic>
        <p:nvPicPr>
          <p:cNvPr id="4098" name="Picture 2" descr="C:\Users\NARESH\Desktop\Environmental study part 2 AKV\BIODIVERSITY PPT\biodiversity-6-638.jpg"/>
          <p:cNvPicPr>
            <a:picLocks noChangeAspect="1" noChangeArrowheads="1"/>
          </p:cNvPicPr>
          <p:nvPr/>
        </p:nvPicPr>
        <p:blipFill>
          <a:blip r:embed="rId2"/>
          <a:srcRect l="15047" t="52610" r="18809" b="5010"/>
          <a:stretch>
            <a:fillRect/>
          </a:stretch>
        </p:blipFill>
        <p:spPr bwMode="auto">
          <a:xfrm>
            <a:off x="3505200" y="3581400"/>
            <a:ext cx="5227566" cy="220980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1981200" y="0"/>
            <a:ext cx="50311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smtClean="0">
                <a:solidFill>
                  <a:srgbClr val="FF00FF"/>
                </a:solidFill>
              </a:rPr>
              <a:t>Types of Biodiversity </a:t>
            </a:r>
            <a:endParaRPr lang="en-US" sz="4000" dirty="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018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200px-0260-76">
            <a:hlinkClick r:id="rId2" tooltip="&quot;0260 76.jpg&quot;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72400" y="1828800"/>
            <a:ext cx="1371600" cy="932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1143000" y="4572000"/>
            <a:ext cx="59042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All rice, dog, insect  varieties, on </a:t>
            </a:r>
            <a:r>
              <a:rPr lang="en-US" dirty="0" err="1" smtClean="0">
                <a:solidFill>
                  <a:srgbClr val="FF0000"/>
                </a:solidFill>
              </a:rPr>
              <a:t>colour</a:t>
            </a:r>
            <a:r>
              <a:rPr lang="en-US" dirty="0" smtClean="0">
                <a:solidFill>
                  <a:srgbClr val="FF0000"/>
                </a:solidFill>
              </a:rPr>
              <a:t>, size , shape etc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0" y="0"/>
            <a:ext cx="9372600" cy="6555641"/>
            <a:chOff x="0" y="0"/>
            <a:chExt cx="9372600" cy="6148931"/>
          </a:xfrm>
        </p:grpSpPr>
        <p:grpSp>
          <p:nvGrpSpPr>
            <p:cNvPr id="10" name="Group 9"/>
            <p:cNvGrpSpPr/>
            <p:nvPr/>
          </p:nvGrpSpPr>
          <p:grpSpPr>
            <a:xfrm>
              <a:off x="0" y="0"/>
              <a:ext cx="9372600" cy="6148931"/>
              <a:chOff x="0" y="0"/>
              <a:chExt cx="9372600" cy="6148931"/>
            </a:xfrm>
          </p:grpSpPr>
          <p:grpSp>
            <p:nvGrpSpPr>
              <p:cNvPr id="9" name="Group 8"/>
              <p:cNvGrpSpPr/>
              <p:nvPr/>
            </p:nvGrpSpPr>
            <p:grpSpPr>
              <a:xfrm>
                <a:off x="0" y="0"/>
                <a:ext cx="9372600" cy="6148931"/>
                <a:chOff x="0" y="0"/>
                <a:chExt cx="9372600" cy="6148931"/>
              </a:xfrm>
            </p:grpSpPr>
            <p:sp>
              <p:nvSpPr>
                <p:cNvPr id="6" name="Rectangle 5"/>
                <p:cNvSpPr/>
                <p:nvPr/>
              </p:nvSpPr>
              <p:spPr>
                <a:xfrm>
                  <a:off x="0" y="0"/>
                  <a:ext cx="9372600" cy="61489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just">
                    <a:lnSpc>
                      <a:spcPct val="150000"/>
                    </a:lnSpc>
                  </a:pPr>
                  <a:endParaRPr lang="en-US" sz="2400" b="1" i="1" dirty="0" smtClean="0">
                    <a:solidFill>
                      <a:srgbClr val="FF0000"/>
                    </a:solidFill>
                    <a:latin typeface="Bookman Old Style" pitchFamily="18" charset="0"/>
                  </a:endParaRPr>
                </a:p>
                <a:p>
                  <a:pPr algn="just"/>
                  <a:r>
                    <a:rPr lang="en-US" sz="2400" b="1" i="1" dirty="0" smtClean="0">
                      <a:solidFill>
                        <a:srgbClr val="FF0000"/>
                      </a:solidFill>
                      <a:latin typeface="Bookman Old Style" pitchFamily="18" charset="0"/>
                    </a:rPr>
                    <a:t>2. </a:t>
                  </a:r>
                  <a:r>
                    <a:rPr lang="en-US" sz="2400" b="1" i="1" dirty="0" smtClean="0">
                      <a:solidFill>
                        <a:schemeClr val="accent1">
                          <a:lumMod val="75000"/>
                        </a:schemeClr>
                      </a:solidFill>
                      <a:latin typeface="Bookman Old Style" pitchFamily="18" charset="0"/>
                    </a:rPr>
                    <a:t>Genetic Biodiversity</a:t>
                  </a:r>
                  <a:r>
                    <a:rPr lang="en-US" sz="2400" dirty="0" smtClean="0">
                      <a:latin typeface="Bookman Old Style" pitchFamily="18" charset="0"/>
                    </a:rPr>
                    <a:t>: </a:t>
                  </a:r>
                  <a:r>
                    <a:rPr lang="en-IN" sz="2000" b="1" dirty="0" smtClean="0">
                      <a:solidFill>
                        <a:srgbClr val="7030A0"/>
                      </a:solidFill>
                    </a:rPr>
                    <a:t>It may be defined as variability in genes </a:t>
                  </a:r>
                </a:p>
                <a:p>
                  <a:pPr algn="just"/>
                  <a:r>
                    <a:rPr lang="en-IN" sz="2000" b="1" dirty="0" smtClean="0">
                      <a:solidFill>
                        <a:srgbClr val="7030A0"/>
                      </a:solidFill>
                    </a:rPr>
                    <a:t> of a particular species in a population</a:t>
                  </a:r>
                </a:p>
                <a:p>
                  <a:r>
                    <a:rPr lang="en-US" sz="2000" dirty="0" smtClean="0"/>
                    <a:t>Recombination of gene (DNA) gives rise to some new variety </a:t>
                  </a:r>
                  <a:endParaRPr lang="en-IN" sz="2000" b="1" dirty="0" smtClean="0">
                    <a:solidFill>
                      <a:srgbClr val="7030A0"/>
                    </a:solidFill>
                  </a:endParaRPr>
                </a:p>
                <a:p>
                  <a:pPr marL="400050" indent="-400050" algn="just"/>
                  <a:r>
                    <a:rPr lang="en-US" sz="2000" dirty="0" smtClean="0">
                      <a:latin typeface="Bookman Old Style" pitchFamily="18" charset="0"/>
                    </a:rPr>
                    <a:t> </a:t>
                  </a:r>
                  <a:r>
                    <a:rPr lang="en-US" sz="2000" dirty="0" smtClean="0">
                      <a:solidFill>
                        <a:srgbClr val="CC3300"/>
                      </a:solidFill>
                      <a:latin typeface="Bookman Old Style" pitchFamily="18" charset="0"/>
                    </a:rPr>
                    <a:t>Each member of any plant and animals species differ from </a:t>
                  </a:r>
                </a:p>
                <a:p>
                  <a:pPr marL="400050" indent="-400050" algn="just"/>
                  <a:r>
                    <a:rPr lang="en-US" sz="2000" dirty="0" smtClean="0">
                      <a:solidFill>
                        <a:srgbClr val="CC3300"/>
                      </a:solidFill>
                      <a:latin typeface="Bookman Old Style" pitchFamily="18" charset="0"/>
                    </a:rPr>
                    <a:t>others due to genetic recombination.</a:t>
                  </a:r>
                </a:p>
                <a:p>
                  <a:pPr marL="400050" indent="-400050" algn="just">
                    <a:lnSpc>
                      <a:spcPct val="150000"/>
                    </a:lnSpc>
                    <a:buAutoNum type="romanLcParenBoth"/>
                  </a:pPr>
                  <a:endParaRPr lang="en-US" sz="2000" dirty="0" smtClean="0">
                    <a:solidFill>
                      <a:srgbClr val="CC3300"/>
                    </a:solidFill>
                    <a:latin typeface="Bookman Old Style" pitchFamily="18" charset="0"/>
                  </a:endParaRPr>
                </a:p>
                <a:p>
                  <a:pPr marL="400050" indent="-400050" algn="just">
                    <a:lnSpc>
                      <a:spcPct val="150000"/>
                    </a:lnSpc>
                    <a:buAutoNum type="romanLcParenBoth"/>
                  </a:pPr>
                  <a:endParaRPr lang="en-US" sz="2000" dirty="0" smtClean="0">
                    <a:solidFill>
                      <a:srgbClr val="CC3300"/>
                    </a:solidFill>
                    <a:latin typeface="Bookman Old Style" pitchFamily="18" charset="0"/>
                  </a:endParaRPr>
                </a:p>
                <a:p>
                  <a:pPr lvl="1" algn="just"/>
                  <a:r>
                    <a:rPr lang="en-US" sz="2000" dirty="0" smtClean="0"/>
                    <a:t>all rice varieties</a:t>
                  </a:r>
                  <a:endParaRPr lang="en-US" sz="2000" dirty="0" smtClean="0">
                    <a:solidFill>
                      <a:srgbClr val="CC3300"/>
                    </a:solidFill>
                    <a:latin typeface="Bookman Old Style" pitchFamily="18" charset="0"/>
                  </a:endParaRPr>
                </a:p>
                <a:p>
                  <a:pPr lvl="1" algn="just"/>
                  <a:endParaRPr lang="en-US" sz="2000" dirty="0" smtClean="0">
                    <a:solidFill>
                      <a:srgbClr val="CC3300"/>
                    </a:solidFill>
                    <a:latin typeface="Bookman Old Style" pitchFamily="18" charset="0"/>
                  </a:endParaRPr>
                </a:p>
                <a:p>
                  <a:pPr lvl="1" algn="just"/>
                  <a:endParaRPr lang="en-US" sz="2000" dirty="0" smtClean="0">
                    <a:latin typeface="Bookman Old Style" pitchFamily="18" charset="0"/>
                  </a:endParaRPr>
                </a:p>
                <a:p>
                  <a:pPr lvl="1" algn="just"/>
                  <a:endParaRPr lang="en-US" sz="2000" dirty="0" smtClean="0">
                    <a:latin typeface="Bookman Old Style" pitchFamily="18" charset="0"/>
                  </a:endParaRPr>
                </a:p>
                <a:p>
                  <a:pPr lvl="1" algn="just"/>
                  <a:endParaRPr lang="en-US" sz="2000" dirty="0" smtClean="0">
                    <a:latin typeface="Bookman Old Style" pitchFamily="18" charset="0"/>
                  </a:endParaRPr>
                </a:p>
                <a:p>
                  <a:pPr lvl="1" algn="just"/>
                  <a:endParaRPr lang="en-US" sz="2000" dirty="0" smtClean="0">
                    <a:latin typeface="Bookman Old Style" pitchFamily="18" charset="0"/>
                  </a:endParaRPr>
                </a:p>
                <a:p>
                  <a:pPr lvl="1" algn="just"/>
                  <a:r>
                    <a:rPr lang="en-US" sz="2000" dirty="0" smtClean="0">
                      <a:latin typeface="Bookman Old Style" pitchFamily="18" charset="0"/>
                    </a:rPr>
                    <a:t>Today the new varieties created By genetically </a:t>
                  </a:r>
                  <a:r>
                    <a:rPr lang="en-US" sz="2000" b="1" dirty="0" smtClean="0">
                      <a:latin typeface="Bookman Old Style" pitchFamily="18" charset="0"/>
                    </a:rPr>
                    <a:t>manipulation</a:t>
                  </a:r>
                  <a:r>
                    <a:rPr lang="en-US" sz="2000" dirty="0" smtClean="0">
                      <a:latin typeface="Bookman Old Style" pitchFamily="18" charset="0"/>
                    </a:rPr>
                    <a:t>  of DNA </a:t>
                  </a:r>
                </a:p>
                <a:p>
                  <a:pPr lvl="1" algn="just"/>
                  <a:r>
                    <a:rPr lang="en-US" sz="2000" dirty="0" err="1" smtClean="0">
                      <a:latin typeface="Bookman Old Style" pitchFamily="18" charset="0"/>
                    </a:rPr>
                    <a:t>i</a:t>
                  </a:r>
                  <a:r>
                    <a:rPr lang="en-US" sz="2000" dirty="0" smtClean="0">
                      <a:latin typeface="Bookman Old Style" pitchFamily="18" charset="0"/>
                    </a:rPr>
                    <a:t>) Disease resistant, Drought resistance  crops  </a:t>
                  </a:r>
                </a:p>
                <a:p>
                  <a:pPr lvl="1" algn="just"/>
                  <a:r>
                    <a:rPr lang="en-US" sz="2000" dirty="0" smtClean="0">
                      <a:latin typeface="Bookman Old Style" pitchFamily="18" charset="0"/>
                    </a:rPr>
                    <a:t>ii) Breed superior domestic animals (high yield Caws, plants) </a:t>
                  </a:r>
                </a:p>
                <a:p>
                  <a:pPr lvl="1" algn="just"/>
                  <a:r>
                    <a:rPr lang="en-US" sz="2000" dirty="0" smtClean="0">
                      <a:latin typeface="Bookman Old Style" pitchFamily="18" charset="0"/>
                    </a:rPr>
                    <a:t>iii) Better medicines and a variety of industrial products are</a:t>
                  </a:r>
                </a:p>
                <a:p>
                  <a:pPr lvl="1" algn="just"/>
                  <a:r>
                    <a:rPr lang="en-US" sz="2000" dirty="0" smtClean="0">
                      <a:latin typeface="Bookman Old Style" pitchFamily="18" charset="0"/>
                    </a:rPr>
                    <a:t>     also developed.</a:t>
                  </a:r>
                </a:p>
              </p:txBody>
            </p:sp>
            <p:pic>
              <p:nvPicPr>
                <p:cNvPr id="3" name="Picture 3" descr="C:\Users\NARESH\Desktop\Environmental study part 2 AKV\BIODIVERSITY PPT\presentation-of-biodiversity-5-638 (1).jpg"/>
                <p:cNvPicPr>
                  <a:picLocks noChangeAspect="1" noChangeArrowheads="1"/>
                </p:cNvPicPr>
                <p:nvPr/>
              </p:nvPicPr>
              <p:blipFill>
                <a:blip r:embed="rId4"/>
                <a:srcRect l="37618" t="30063" r="3762"/>
                <a:stretch>
                  <a:fillRect/>
                </a:stretch>
              </p:blipFill>
              <p:spPr bwMode="auto">
                <a:xfrm>
                  <a:off x="2209800" y="2358594"/>
                  <a:ext cx="2741216" cy="1858286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4" name="Picture 4" descr="C:\Users\NARESH\Desktop\Environmental study part 2 AKV\BIODIVERSITY PPT\presentation-of-biodiversity-6-638CCC.jpg"/>
              <p:cNvPicPr>
                <a:picLocks noChangeAspect="1" noChangeArrowheads="1"/>
              </p:cNvPicPr>
              <p:nvPr/>
            </p:nvPicPr>
            <p:blipFill>
              <a:blip r:embed="rId5"/>
              <a:srcRect l="15047" t="20042" r="15047" b="45094"/>
              <a:stretch>
                <a:fillRect/>
              </a:stretch>
            </p:blipFill>
            <p:spPr bwMode="auto">
              <a:xfrm>
                <a:off x="4800600" y="2358594"/>
                <a:ext cx="3581400" cy="1828800"/>
              </a:xfrm>
              <a:prstGeom prst="rect">
                <a:avLst/>
              </a:prstGeom>
              <a:noFill/>
            </p:spPr>
          </p:pic>
        </p:grpSp>
        <p:pic>
          <p:nvPicPr>
            <p:cNvPr id="1026" name="Picture 2" descr="C:\Users\NARESH\Desktop\download.jpg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0" y="2358594"/>
              <a:ext cx="2200464" cy="1762125"/>
            </a:xfrm>
            <a:prstGeom prst="rect">
              <a:avLst/>
            </a:prstGeom>
            <a:noFill/>
          </p:spPr>
        </p:pic>
      </p:grpSp>
      <p:sp>
        <p:nvSpPr>
          <p:cNvPr id="12" name="Rectangle 11"/>
          <p:cNvSpPr/>
          <p:nvPr/>
        </p:nvSpPr>
        <p:spPr>
          <a:xfrm>
            <a:off x="2133600" y="0"/>
            <a:ext cx="45450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rgbClr val="FF00FF"/>
                </a:solidFill>
              </a:rPr>
              <a:t>Types of Biodiversity </a:t>
            </a:r>
            <a:endParaRPr lang="en-US" sz="3600" dirty="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720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76200" y="685800"/>
            <a:ext cx="9448800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sz="2400" b="1" i="1" dirty="0" smtClean="0">
                <a:solidFill>
                  <a:srgbClr val="0070C0"/>
                </a:solidFill>
                <a:latin typeface="Bookman Old Style" pitchFamily="18" charset="0"/>
              </a:rPr>
              <a:t>(</a:t>
            </a:r>
            <a:r>
              <a:rPr lang="en-US" sz="2400" b="1" i="1" dirty="0" smtClean="0">
                <a:solidFill>
                  <a:srgbClr val="9933FF"/>
                </a:solidFill>
                <a:latin typeface="Bookman Old Style" pitchFamily="18" charset="0"/>
              </a:rPr>
              <a:t>3) Ecosystem Biodiversity:</a:t>
            </a:r>
            <a:r>
              <a:rPr lang="en-US" sz="2400" i="1" dirty="0" smtClean="0">
                <a:latin typeface="Bookman Old Style" pitchFamily="18" charset="0"/>
              </a:rPr>
              <a:t> </a:t>
            </a:r>
          </a:p>
          <a:p>
            <a:pPr marL="342900" indent="-342900">
              <a:buAutoNum type="romanLcParenR"/>
            </a:pPr>
            <a:endParaRPr lang="en-US" sz="2000" dirty="0" smtClean="0"/>
          </a:p>
          <a:p>
            <a:pPr marL="342900" indent="-342900">
              <a:buAutoNum type="romanLcParenR"/>
            </a:pPr>
            <a:endParaRPr lang="en-US" sz="2000" dirty="0" smtClean="0"/>
          </a:p>
          <a:p>
            <a:pPr marL="342900" indent="-342900">
              <a:buAutoNum type="romanLcParenR"/>
            </a:pPr>
            <a:r>
              <a:rPr lang="en-US" sz="2000" dirty="0" smtClean="0"/>
              <a:t>This is the diversity of ecological complexity showing variations in ecological tropic structure, food chain food-webs, nutrient cycling resulted different variety of Ecosystem. </a:t>
            </a:r>
          </a:p>
          <a:p>
            <a:pPr marL="342900" indent="-342900">
              <a:buAutoNum type="romanLcParenR"/>
            </a:pPr>
            <a:r>
              <a:rPr lang="en-US" sz="2000" dirty="0" smtClean="0"/>
              <a:t>variations is </a:t>
            </a:r>
            <a:r>
              <a:rPr lang="en-US" sz="2000" dirty="0" smtClean="0">
                <a:solidFill>
                  <a:srgbClr val="FF0000"/>
                </a:solidFill>
              </a:rPr>
              <a:t>caused by change in physical parameters</a:t>
            </a:r>
            <a:r>
              <a:rPr lang="en-US" sz="2000" dirty="0" smtClean="0"/>
              <a:t> like hydrosphere, atmosphere, and lithosphere, moisture, temperature, altitude, precipitation etc.</a:t>
            </a:r>
            <a:endParaRPr lang="en-US" sz="2000" i="1" dirty="0" smtClean="0">
              <a:latin typeface="Bookman Old Style" pitchFamily="18" charset="0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sz="2000" dirty="0" smtClean="0">
                <a:latin typeface="Bookman Old Style" pitchFamily="18" charset="0"/>
              </a:rPr>
              <a:t>E.g. Forest, Grassland, Desert, Pond ecosystems.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0" y="4038600"/>
            <a:ext cx="5562600" cy="2667000"/>
            <a:chOff x="152400" y="2667000"/>
            <a:chExt cx="6248400" cy="4218124"/>
          </a:xfrm>
        </p:grpSpPr>
        <p:pic>
          <p:nvPicPr>
            <p:cNvPr id="6" name="Picture 4" descr="200px-Thorn-Tree-Sossusvlei-Namib-6352">
              <a:hlinkClick r:id="rId2" tooltip="&quot;Thorn Tree Sossusvlei Namib 6352.jpg&quot;"/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276600" y="2743200"/>
              <a:ext cx="3097213" cy="2063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6" descr="200px-Nwhi---French-Frigate-Shoals-reef---857">
              <a:hlinkClick r:id="rId4" tooltip="&quot;Nwhi   French Frigate Shoals reef   857.jpg&quot;"/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79388" y="2708275"/>
              <a:ext cx="3132137" cy="2089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" name="Picture 7" descr="200px-My-Spirit-Wolf-3334">
              <a:hlinkClick r:id="rId6" tooltip="&quot;My Spirit Wolf 3334.jpg&quot;"/>
            </p:cNvPr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152400" y="4800599"/>
              <a:ext cx="3124200" cy="2084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TextBox 9"/>
            <p:cNvSpPr txBox="1">
              <a:spLocks noChangeArrowheads="1"/>
            </p:cNvSpPr>
            <p:nvPr/>
          </p:nvSpPr>
          <p:spPr bwMode="auto">
            <a:xfrm>
              <a:off x="152400" y="2667000"/>
              <a:ext cx="2371266" cy="4777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solidFill>
                    <a:srgbClr val="CC3300"/>
                  </a:solidFill>
                  <a:latin typeface="Calibri" pitchFamily="34" charset="0"/>
                </a:rPr>
                <a:t>Marine Ecosystem</a:t>
              </a:r>
              <a:endParaRPr lang="en-IN" sz="2000" dirty="0">
                <a:solidFill>
                  <a:srgbClr val="CC3300"/>
                </a:solidFill>
                <a:latin typeface="Calibri" pitchFamily="34" charset="0"/>
              </a:endParaRPr>
            </a:p>
          </p:txBody>
        </p:sp>
        <p:sp>
          <p:nvSpPr>
            <p:cNvPr id="10" name="TextBox 10"/>
            <p:cNvSpPr txBox="1">
              <a:spLocks noChangeArrowheads="1"/>
            </p:cNvSpPr>
            <p:nvPr/>
          </p:nvSpPr>
          <p:spPr bwMode="auto">
            <a:xfrm>
              <a:off x="3352800" y="2971800"/>
              <a:ext cx="2298349" cy="4777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Calibri" pitchFamily="34" charset="0"/>
                </a:rPr>
                <a:t>Desert Ecosystem</a:t>
              </a:r>
              <a:endParaRPr lang="en-IN" sz="2000" dirty="0">
                <a:latin typeface="Calibri" pitchFamily="34" charset="0"/>
              </a:endParaRPr>
            </a:p>
          </p:txBody>
        </p:sp>
        <p:sp>
          <p:nvSpPr>
            <p:cNvPr id="11" name="TextBox 12"/>
            <p:cNvSpPr txBox="1">
              <a:spLocks noChangeArrowheads="1"/>
            </p:cNvSpPr>
            <p:nvPr/>
          </p:nvSpPr>
          <p:spPr bwMode="auto">
            <a:xfrm>
              <a:off x="533400" y="5029200"/>
              <a:ext cx="242149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latin typeface="Calibri" pitchFamily="34" charset="0"/>
                </a:rPr>
                <a:t>Tundra Ecosystem</a:t>
              </a:r>
              <a:endParaRPr lang="en-IN" sz="2400" dirty="0">
                <a:latin typeface="Calibri" pitchFamily="34" charset="0"/>
              </a:endParaRPr>
            </a:p>
          </p:txBody>
        </p:sp>
        <p:pic>
          <p:nvPicPr>
            <p:cNvPr id="12" name="Picture 5" descr="C:\Users\NARESH\Desktop\Environmental study part 2 AKV\BIODIVERSITY PPT\presentation-of-biodiversity-7-638.jpg"/>
            <p:cNvPicPr>
              <a:picLocks noChangeAspect="1" noChangeArrowheads="1"/>
            </p:cNvPicPr>
            <p:nvPr/>
          </p:nvPicPr>
          <p:blipFill>
            <a:blip r:embed="rId8"/>
            <a:srcRect l="43260" t="30063" r="1881" b="12526"/>
            <a:stretch>
              <a:fillRect/>
            </a:stretch>
          </p:blipFill>
          <p:spPr bwMode="auto">
            <a:xfrm>
              <a:off x="3276600" y="4762546"/>
              <a:ext cx="3124200" cy="2095454"/>
            </a:xfrm>
            <a:prstGeom prst="rect">
              <a:avLst/>
            </a:prstGeom>
            <a:noFill/>
          </p:spPr>
        </p:pic>
        <p:sp>
          <p:nvSpPr>
            <p:cNvPr id="13" name="TextBox 14"/>
            <p:cNvSpPr txBox="1">
              <a:spLocks noChangeArrowheads="1"/>
            </p:cNvSpPr>
            <p:nvPr/>
          </p:nvSpPr>
          <p:spPr bwMode="auto">
            <a:xfrm>
              <a:off x="3271957" y="5578815"/>
              <a:ext cx="2650758" cy="551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CC3300"/>
                  </a:solidFill>
                  <a:latin typeface="Calibri" pitchFamily="34" charset="0"/>
                </a:rPr>
                <a:t>Forest Ecosystem</a:t>
              </a:r>
              <a:endParaRPr lang="en-IN" sz="2400" dirty="0">
                <a:solidFill>
                  <a:srgbClr val="CC3300"/>
                </a:solidFill>
                <a:latin typeface="Calibri" pitchFamily="34" charset="0"/>
              </a:endParaRPr>
            </a:p>
          </p:txBody>
        </p:sp>
      </p:grpSp>
      <p:sp>
        <p:nvSpPr>
          <p:cNvPr id="14" name="Rectangle 13"/>
          <p:cNvSpPr/>
          <p:nvPr/>
        </p:nvSpPr>
        <p:spPr>
          <a:xfrm>
            <a:off x="2133600" y="152400"/>
            <a:ext cx="45450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rgbClr val="FF00FF"/>
                </a:solidFill>
              </a:rPr>
              <a:t>Types of Biodiversity </a:t>
            </a:r>
            <a:endParaRPr lang="en-US" sz="3600" dirty="0">
              <a:solidFill>
                <a:srgbClr val="FF00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52400" y="1219200"/>
            <a:ext cx="8763000" cy="70788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just"/>
            <a:r>
              <a:rPr lang="en-IN" sz="2000" b="1" dirty="0" smtClean="0">
                <a:solidFill>
                  <a:srgbClr val="7030A0"/>
                </a:solidFill>
              </a:rPr>
              <a:t>Ecosystem: </a:t>
            </a:r>
            <a:r>
              <a:rPr lang="en-IN" sz="2000" dirty="0" smtClean="0">
                <a:solidFill>
                  <a:srgbClr val="7030A0"/>
                </a:solidFill>
              </a:rPr>
              <a:t> Integration of biotic and </a:t>
            </a:r>
            <a:r>
              <a:rPr lang="en-IN" sz="2000" dirty="0" err="1" smtClean="0">
                <a:solidFill>
                  <a:srgbClr val="7030A0"/>
                </a:solidFill>
              </a:rPr>
              <a:t>abiotic</a:t>
            </a:r>
            <a:r>
              <a:rPr lang="en-IN" sz="2000" dirty="0" smtClean="0">
                <a:solidFill>
                  <a:srgbClr val="7030A0"/>
                </a:solidFill>
              </a:rPr>
              <a:t> components of a particular environment and their interaction with each other</a:t>
            </a:r>
            <a:endParaRPr lang="en-US" sz="2000" dirty="0"/>
          </a:p>
        </p:txBody>
      </p:sp>
      <p:pic>
        <p:nvPicPr>
          <p:cNvPr id="19" name="Picture 2" descr="C:\Users\NARESH\Desktop\Environmental study part 2 AKV\BIODIVERSITY PPT\ppt-of-biodiversity-8-1024.jpg"/>
          <p:cNvPicPr>
            <a:picLocks noChangeAspect="1" noChangeArrowheads="1"/>
          </p:cNvPicPr>
          <p:nvPr/>
        </p:nvPicPr>
        <p:blipFill>
          <a:blip r:embed="rId9"/>
          <a:srcRect l="65625" t="42187" r="15234" b="31250"/>
          <a:stretch>
            <a:fillRect/>
          </a:stretch>
        </p:blipFill>
        <p:spPr bwMode="auto">
          <a:xfrm>
            <a:off x="5791200" y="4572000"/>
            <a:ext cx="2895600" cy="203870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 descr="C:\Users\NARESH\Desktop\Environmental study part 2 AKV\BIODIVERSITY PPT\presentation_biodiversity_1502288772_266921-17.jpg"/>
          <p:cNvPicPr>
            <a:picLocks noChangeAspect="1" noChangeArrowheads="1"/>
          </p:cNvPicPr>
          <p:nvPr/>
        </p:nvPicPr>
        <p:blipFill>
          <a:blip r:embed="rId2" cstate="print"/>
          <a:srcRect l="6000" t="20000" r="7000" b="5333"/>
          <a:stretch>
            <a:fillRect/>
          </a:stretch>
        </p:blipFill>
        <p:spPr bwMode="auto">
          <a:xfrm>
            <a:off x="4724399" y="2209800"/>
            <a:ext cx="4419601" cy="4231605"/>
          </a:xfrm>
          <a:prstGeom prst="rect">
            <a:avLst/>
          </a:prstGeom>
          <a:noFill/>
        </p:spPr>
      </p:pic>
      <p:grpSp>
        <p:nvGrpSpPr>
          <p:cNvPr id="8" name="Group 7"/>
          <p:cNvGrpSpPr/>
          <p:nvPr/>
        </p:nvGrpSpPr>
        <p:grpSpPr>
          <a:xfrm>
            <a:off x="0" y="457200"/>
            <a:ext cx="4829175" cy="6315079"/>
            <a:chOff x="-28575" y="533400"/>
            <a:chExt cx="4829175" cy="6315079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/>
            <a:srcRect l="1882"/>
            <a:stretch>
              <a:fillRect/>
            </a:stretch>
          </p:blipFill>
          <p:spPr bwMode="auto">
            <a:xfrm>
              <a:off x="34260" y="533400"/>
              <a:ext cx="4766340" cy="4819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4"/>
            <a:srcRect b="33520"/>
            <a:stretch>
              <a:fillRect/>
            </a:stretch>
          </p:blipFill>
          <p:spPr bwMode="auto">
            <a:xfrm>
              <a:off x="-28575" y="5715000"/>
              <a:ext cx="4829175" cy="11334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9" name="Rectangle 8"/>
          <p:cNvSpPr/>
          <p:nvPr/>
        </p:nvSpPr>
        <p:spPr>
          <a:xfrm>
            <a:off x="4876800" y="6334780"/>
            <a:ext cx="4267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Source: .Conserving our Biological Wealth., WWF for Nature-India and Zoological Survey of India.</a:t>
            </a:r>
            <a:endParaRPr lang="en-US" sz="1400" dirty="0"/>
          </a:p>
        </p:txBody>
      </p:sp>
      <p:sp>
        <p:nvSpPr>
          <p:cNvPr id="10" name="Rectangle 9"/>
          <p:cNvSpPr/>
          <p:nvPr/>
        </p:nvSpPr>
        <p:spPr>
          <a:xfrm>
            <a:off x="152400" y="-204776"/>
            <a:ext cx="7050328" cy="661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 err="1" smtClean="0">
                <a:solidFill>
                  <a:srgbClr val="FF0000"/>
                </a:solidFill>
                <a:latin typeface="Bookman Old Style" pitchFamily="18" charset="0"/>
              </a:rPr>
              <a:t>Biogeographic</a:t>
            </a:r>
            <a:r>
              <a:rPr lang="en-US" sz="2800" b="1" dirty="0" smtClean="0">
                <a:solidFill>
                  <a:srgbClr val="FF0000"/>
                </a:solidFill>
                <a:latin typeface="Bookman Old Style" pitchFamily="18" charset="0"/>
              </a:rPr>
              <a:t> Classification of India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76800" y="381000"/>
            <a:ext cx="4114800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latin typeface="Bookman Old Style" pitchFamily="18" charset="0"/>
              </a:rPr>
              <a:t>India is divided in to 10 major regions based on geography, climate, vegetation pattern, mammals, birds, reptiles, amphibians, insects and other invertebrates present in them.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40080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52400" y="571500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98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52400" y="525780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8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00" y="5257800"/>
          <a:ext cx="4724400" cy="426720"/>
        </p:xfrm>
        <a:graphic>
          <a:graphicData uri="http://schemas.openxmlformats.org/drawingml/2006/table">
            <a:tbl>
              <a:tblPr/>
              <a:tblGrid>
                <a:gridCol w="381000"/>
                <a:gridCol w="1371600"/>
                <a:gridCol w="1905000"/>
                <a:gridCol w="1066800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  <a:endParaRPr lang="en-US" sz="1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alibri"/>
                          <a:ea typeface="Calibri"/>
                          <a:cs typeface="Times New Roman"/>
                        </a:rPr>
                        <a:t>Coast</a:t>
                      </a:r>
                      <a:endParaRPr lang="en-US" sz="1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alibri"/>
                          <a:ea typeface="Calibri"/>
                          <a:cs typeface="Times New Roman"/>
                        </a:rPr>
                        <a:t>East coast and waste coast</a:t>
                      </a:r>
                      <a:endParaRPr lang="en-US" sz="1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alibri"/>
                          <a:ea typeface="Calibri"/>
                          <a:cs typeface="Times New Roman"/>
                        </a:rPr>
                        <a:t>6500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alibri"/>
                          <a:ea typeface="Calibri"/>
                          <a:cs typeface="Times New Roman"/>
                        </a:rPr>
                        <a:t>6500</a:t>
                      </a:r>
                      <a:endParaRPr lang="en-US" sz="1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152400" y="624840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200" y="6245423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10</a:t>
            </a:r>
            <a:endParaRPr lang="en-US"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76200" y="571202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990600"/>
            <a:ext cx="8784976" cy="53676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Bookman Old Style" pitchFamily="18" charset="0"/>
              </a:rPr>
              <a:t>Direct values (Consumptive uses)</a:t>
            </a:r>
          </a:p>
          <a:p>
            <a:pPr marL="285750" indent="-285750" algn="just">
              <a:lnSpc>
                <a:spcPct val="135000"/>
              </a:lnSpc>
              <a:buFont typeface="Wingdings" pitchFamily="2" charset="2"/>
              <a:buChar char="§"/>
            </a:pPr>
            <a:r>
              <a:rPr lang="en-US" dirty="0" smtClean="0">
                <a:latin typeface="Bookman Old Style" pitchFamily="18" charset="0"/>
              </a:rPr>
              <a:t> </a:t>
            </a:r>
            <a:r>
              <a:rPr lang="en-US" dirty="0" smtClean="0">
                <a:solidFill>
                  <a:srgbClr val="FF00FF"/>
                </a:solidFill>
                <a:latin typeface="Bookman Old Style" pitchFamily="18" charset="0"/>
              </a:rPr>
              <a:t>Food, fuel, medicines </a:t>
            </a:r>
            <a:r>
              <a:rPr lang="en-US" dirty="0" smtClean="0">
                <a:latin typeface="Bookman Old Style" pitchFamily="18" charset="0"/>
              </a:rPr>
              <a:t>for local community –forest ecosystem.</a:t>
            </a:r>
          </a:p>
          <a:p>
            <a:pPr marL="285750" indent="-285750" algn="just">
              <a:lnSpc>
                <a:spcPct val="135000"/>
              </a:lnSpc>
              <a:buFont typeface="Wingdings" pitchFamily="2" charset="2"/>
              <a:buChar char="§"/>
            </a:pPr>
            <a:r>
              <a:rPr lang="en-US" dirty="0" smtClean="0">
                <a:solidFill>
                  <a:srgbClr val="FF00FF"/>
                </a:solidFill>
                <a:latin typeface="Bookman Old Style" pitchFamily="18" charset="0"/>
              </a:rPr>
              <a:t>Food: </a:t>
            </a:r>
            <a:r>
              <a:rPr lang="en-US" dirty="0" smtClean="0">
                <a:latin typeface="Bookman Old Style" pitchFamily="18" charset="0"/>
              </a:rPr>
              <a:t>Fish, other edible aquatic plants and animals – Marine resources</a:t>
            </a:r>
          </a:p>
          <a:p>
            <a:pPr marL="285750" indent="-285750" algn="just">
              <a:lnSpc>
                <a:spcPct val="135000"/>
              </a:lnSpc>
              <a:buFont typeface="Wingdings" pitchFamily="2" charset="2"/>
              <a:buChar char="§"/>
            </a:pPr>
            <a:r>
              <a:rPr lang="en-US" dirty="0" smtClean="0">
                <a:solidFill>
                  <a:srgbClr val="FF00FF"/>
                </a:solidFill>
                <a:latin typeface="Bookman Old Style" pitchFamily="18" charset="0"/>
              </a:rPr>
              <a:t>Medicines</a:t>
            </a:r>
            <a:endParaRPr lang="en-US" dirty="0" smtClean="0">
              <a:latin typeface="Bookman Old Style" pitchFamily="18" charset="0"/>
            </a:endParaRPr>
          </a:p>
          <a:p>
            <a:pPr marL="285750" indent="-285750" algn="just">
              <a:lnSpc>
                <a:spcPct val="135000"/>
              </a:lnSpc>
              <a:buFont typeface="Wingdings" pitchFamily="2" charset="2"/>
              <a:buChar char="§"/>
            </a:pPr>
            <a:endParaRPr lang="en-US" dirty="0" smtClean="0">
              <a:latin typeface="Bookman Old Style" pitchFamily="18" charset="0"/>
            </a:endParaRPr>
          </a:p>
          <a:p>
            <a:pPr marL="285750" indent="-285750" algn="just">
              <a:lnSpc>
                <a:spcPct val="135000"/>
              </a:lnSpc>
              <a:buFont typeface="Wingdings" pitchFamily="2" charset="2"/>
              <a:buChar char="§"/>
            </a:pPr>
            <a:endParaRPr lang="en-US" dirty="0" smtClean="0">
              <a:latin typeface="Bookman Old Style" pitchFamily="18" charset="0"/>
            </a:endParaRPr>
          </a:p>
          <a:p>
            <a:pPr marL="285750" indent="-285750" algn="just">
              <a:lnSpc>
                <a:spcPct val="135000"/>
              </a:lnSpc>
            </a:pPr>
            <a:endParaRPr lang="en-US" dirty="0" smtClean="0">
              <a:latin typeface="Bookman Old Style" pitchFamily="18" charset="0"/>
            </a:endParaRPr>
          </a:p>
          <a:p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Bookman Old Style" pitchFamily="18" charset="0"/>
              </a:rPr>
              <a:t>2. Productive use value: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are the commercially usable values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where the product is marketed and sold.</a:t>
            </a:r>
          </a:p>
          <a:p>
            <a:r>
              <a:rPr lang="en-US" sz="2000" dirty="0" smtClean="0">
                <a:solidFill>
                  <a:srgbClr val="9933FF"/>
                </a:solidFill>
                <a:latin typeface="Times New Roman" pitchFamily="18" charset="0"/>
                <a:cs typeface="Times New Roman" pitchFamily="18" charset="0"/>
              </a:rPr>
              <a:t>Animal products: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like tusks of elephants, musk from musk deer, silk from silk-worm, wool from sheep, fir of many animals,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lac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from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lac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insects etc</a:t>
            </a:r>
          </a:p>
          <a:p>
            <a:pPr marL="285750" indent="-285750" algn="just">
              <a:lnSpc>
                <a:spcPct val="125000"/>
              </a:lnSpc>
              <a:buFont typeface="Wingdings" pitchFamily="2" charset="2"/>
              <a:buChar char="§"/>
            </a:pPr>
            <a:r>
              <a:rPr lang="en-US" dirty="0" smtClean="0">
                <a:latin typeface="Bookman Old Style" pitchFamily="18" charset="0"/>
              </a:rPr>
              <a:t>Pharmacist – New and better drugs/medicines</a:t>
            </a:r>
          </a:p>
          <a:p>
            <a:pPr marL="285750" indent="-285750" algn="just">
              <a:lnSpc>
                <a:spcPct val="125000"/>
              </a:lnSpc>
              <a:buFont typeface="Wingdings" pitchFamily="2" charset="2"/>
              <a:buChar char="§"/>
            </a:pPr>
            <a:r>
              <a:rPr lang="en-US" dirty="0" smtClean="0">
                <a:solidFill>
                  <a:srgbClr val="9933FF"/>
                </a:solidFill>
                <a:latin typeface="Bookman Old Style" pitchFamily="18" charset="0"/>
              </a:rPr>
              <a:t>Raw material for Industry </a:t>
            </a:r>
            <a:r>
              <a:rPr lang="en-US" dirty="0" smtClean="0">
                <a:latin typeface="Bookman Old Style" pitchFamily="18" charset="0"/>
              </a:rPr>
              <a:t>– </a:t>
            </a:r>
            <a:r>
              <a:rPr lang="en-US" dirty="0" smtClean="0"/>
              <a:t>the paper and pulp industry, Plywood industry, Railway sleeper industry, Silk industry, textile industry, leather industry</a:t>
            </a:r>
            <a:endParaRPr lang="en-US" dirty="0" smtClean="0">
              <a:latin typeface="Bookman Old Style" pitchFamily="18" charset="0"/>
            </a:endParaRPr>
          </a:p>
          <a:p>
            <a:pPr marL="285750" indent="-285750" algn="just">
              <a:lnSpc>
                <a:spcPct val="125000"/>
              </a:lnSpc>
              <a:buFont typeface="Wingdings" pitchFamily="2" charset="2"/>
              <a:buChar char="§"/>
            </a:pPr>
            <a:r>
              <a:rPr lang="en-US" dirty="0" smtClean="0">
                <a:solidFill>
                  <a:srgbClr val="9933FF"/>
                </a:solidFill>
                <a:latin typeface="Bookman Old Style" pitchFamily="18" charset="0"/>
              </a:rPr>
              <a:t>Agricultural – </a:t>
            </a:r>
            <a:r>
              <a:rPr lang="en-US" dirty="0" smtClean="0">
                <a:latin typeface="Bookman Old Style" pitchFamily="18" charset="0"/>
              </a:rPr>
              <a:t>Developing new crops Better crops with plant breeding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7400" y="152400"/>
            <a:ext cx="4857420" cy="7433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 smtClean="0">
                <a:solidFill>
                  <a:srgbClr val="FF0000"/>
                </a:solidFill>
                <a:latin typeface="Bookman Old Style" pitchFamily="18" charset="0"/>
              </a:rPr>
              <a:t>Values of Biodiversity</a:t>
            </a:r>
          </a:p>
        </p:txBody>
      </p:sp>
      <p:pic>
        <p:nvPicPr>
          <p:cNvPr id="3075" name="Picture 3" descr="C:\Users\NARESH\Desktop\download (1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2286000"/>
            <a:ext cx="1452594" cy="1295400"/>
          </a:xfrm>
          <a:prstGeom prst="rect">
            <a:avLst/>
          </a:prstGeom>
          <a:noFill/>
        </p:spPr>
      </p:pic>
      <p:pic>
        <p:nvPicPr>
          <p:cNvPr id="3077" name="Picture 5" descr="C:\Users\NARESH\Desktop\Catharanthus_roseus24_08_2012_(1)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86600" y="2362200"/>
            <a:ext cx="1828800" cy="1266371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152400" y="2743200"/>
            <a:ext cx="22098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Quinine for malaria from the bark of Cinchona tree, </a:t>
            </a:r>
            <a:endParaRPr lang="en-US" sz="1600" dirty="0"/>
          </a:p>
        </p:txBody>
      </p:sp>
      <p:sp>
        <p:nvSpPr>
          <p:cNvPr id="10" name="Rectangle 9"/>
          <p:cNvSpPr/>
          <p:nvPr/>
        </p:nvSpPr>
        <p:spPr>
          <a:xfrm>
            <a:off x="3962400" y="2438400"/>
            <a:ext cx="28194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1600" dirty="0" err="1" smtClean="0"/>
              <a:t>Vinblastin</a:t>
            </a:r>
            <a:r>
              <a:rPr lang="en-US" sz="1600" dirty="0" smtClean="0"/>
              <a:t> and </a:t>
            </a:r>
            <a:r>
              <a:rPr lang="en-US" sz="1600" dirty="0" err="1" smtClean="0"/>
              <a:t>vincristine</a:t>
            </a:r>
            <a:r>
              <a:rPr lang="en-US" sz="1600" dirty="0" smtClean="0"/>
              <a:t>, two anticancer drugs, from </a:t>
            </a:r>
            <a:r>
              <a:rPr lang="en-US" sz="1600" dirty="0" err="1" smtClean="0"/>
              <a:t>Catharanthus</a:t>
            </a:r>
            <a:r>
              <a:rPr lang="en-US" sz="1600" dirty="0" smtClean="0"/>
              <a:t> roses plant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9095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9512" y="260648"/>
            <a:ext cx="8712968" cy="660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Bookman Old Style" pitchFamily="18" charset="0"/>
              </a:rPr>
              <a:t>3. Social Values: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Bookman Old Style" pitchFamily="18" charset="0"/>
              </a:rPr>
              <a:t>	</a:t>
            </a:r>
            <a:r>
              <a:rPr lang="en-US" dirty="0" smtClean="0">
                <a:latin typeface="Bookman Old Style" pitchFamily="18" charset="0"/>
              </a:rPr>
              <a:t>Preserved as valuable resource many sacred and holy plants like-  based on religion worship:  </a:t>
            </a:r>
            <a:r>
              <a:rPr lang="en-US" dirty="0" err="1" smtClean="0">
                <a:latin typeface="Bookman Old Style" pitchFamily="18" charset="0"/>
              </a:rPr>
              <a:t>Tulsi</a:t>
            </a:r>
            <a:r>
              <a:rPr lang="en-US" dirty="0" smtClean="0">
                <a:latin typeface="Bookman Old Style" pitchFamily="18" charset="0"/>
              </a:rPr>
              <a:t>, </a:t>
            </a:r>
            <a:r>
              <a:rPr lang="en-US" dirty="0" err="1" smtClean="0">
                <a:latin typeface="Bookman Old Style" pitchFamily="18" charset="0"/>
              </a:rPr>
              <a:t>Peepal</a:t>
            </a:r>
            <a:r>
              <a:rPr lang="en-US" dirty="0" smtClean="0">
                <a:latin typeface="Bookman Old Style" pitchFamily="18" charset="0"/>
              </a:rPr>
              <a:t>, and animals like Cow.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Bookman Old Style" pitchFamily="18" charset="0"/>
              </a:rPr>
              <a:t>4. Ethical and Moral values:</a:t>
            </a:r>
            <a:r>
              <a:rPr lang="en-US" dirty="0" smtClean="0">
                <a:latin typeface="Bookman Old Style" pitchFamily="18" charset="0"/>
              </a:rPr>
              <a:t> Ethical responsibility to protect all life forms.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dirty="0" smtClean="0">
                <a:latin typeface="Bookman Old Style" pitchFamily="18" charset="0"/>
              </a:rPr>
              <a:t>Preservation of nature through local traditions.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dirty="0" smtClean="0">
                <a:latin typeface="Bookman Old Style" pitchFamily="18" charset="0"/>
              </a:rPr>
              <a:t>Conservation of biodiversity &amp; economic importance.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Bookman Old Style" pitchFamily="18" charset="0"/>
              </a:rPr>
              <a:t>5. Aesthetic Values:  </a:t>
            </a:r>
            <a:r>
              <a:rPr lang="en-US" dirty="0" smtClean="0">
                <a:latin typeface="Bookman Old Style" pitchFamily="18" charset="0"/>
              </a:rPr>
              <a:t>Preservation of its inherent value, beauty, aesthetics and creativity for tourist attraction.  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dirty="0" smtClean="0">
                <a:latin typeface="Bookman Old Style" pitchFamily="18" charset="0"/>
              </a:rPr>
              <a:t>Indian mythology eulogies animals like elephant, snake and cow. 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dirty="0" smtClean="0">
                <a:latin typeface="Bookman Old Style" pitchFamily="18" charset="0"/>
              </a:rPr>
              <a:t>No visit to barren land but to enriched biodiversity promote eco- </a:t>
            </a:r>
            <a:r>
              <a:rPr lang="en-US" dirty="0" err="1" smtClean="0">
                <a:latin typeface="Bookman Old Style" pitchFamily="18" charset="0"/>
              </a:rPr>
              <a:t>turism</a:t>
            </a:r>
            <a:r>
              <a:rPr lang="en-US" dirty="0" smtClean="0">
                <a:latin typeface="Bookman Old Style" pitchFamily="18" charset="0"/>
              </a:rPr>
              <a:t> Industry.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Bookman Old Style" pitchFamily="18" charset="0"/>
              </a:rPr>
              <a:t>6. Option Value: </a:t>
            </a:r>
            <a:r>
              <a:rPr lang="en-US" dirty="0" smtClean="0">
                <a:latin typeface="Bookman Old Style" pitchFamily="18" charset="0"/>
              </a:rPr>
              <a:t>Keeping future possibilities open for their use is called the option value. In </a:t>
            </a:r>
            <a:r>
              <a:rPr lang="en-US" dirty="0" smtClean="0">
                <a:solidFill>
                  <a:srgbClr val="FF00FF"/>
                </a:solidFill>
                <a:latin typeface="Bookman Old Style" pitchFamily="18" charset="0"/>
              </a:rPr>
              <a:t>nature many thing yet to explore, plant , microorganism.</a:t>
            </a:r>
          </a:p>
          <a:p>
            <a:pPr marL="285750" indent="-28575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dirty="0" smtClean="0">
                <a:latin typeface="Bookman Old Style" pitchFamily="18" charset="0"/>
              </a:rPr>
              <a:t>The preservation of biodiversity must also include traditionally used strains already in existence in crops and domestic animals.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438400" y="0"/>
            <a:ext cx="53908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 smtClean="0">
                <a:solidFill>
                  <a:srgbClr val="FF0000"/>
                </a:solidFill>
                <a:latin typeface="Bookman Old Style" pitchFamily="18" charset="0"/>
              </a:rPr>
              <a:t>Values of Biodiversity</a:t>
            </a:r>
          </a:p>
        </p:txBody>
      </p:sp>
    </p:spTree>
    <p:extLst>
      <p:ext uri="{BB962C8B-B14F-4D97-AF65-F5344CB8AC3E}">
        <p14:creationId xmlns:p14="http://schemas.microsoft.com/office/powerpoint/2010/main" val="3200368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FF"/>
                </a:solidFill>
              </a:rPr>
              <a:t>Indian Biodiversity</a:t>
            </a:r>
            <a:endParaRPr lang="en-US" dirty="0">
              <a:solidFill>
                <a:srgbClr val="FF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4389120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US" sz="2000" dirty="0" smtClean="0"/>
              <a:t>India has a rich biological diversity of flora and fauna.</a:t>
            </a:r>
          </a:p>
          <a:p>
            <a:pPr algn="just">
              <a:lnSpc>
                <a:spcPct val="170000"/>
              </a:lnSpc>
            </a:pPr>
            <a:r>
              <a:rPr lang="en-US" sz="2000" dirty="0" smtClean="0"/>
              <a:t>Overall  6% of the global species are found in India. </a:t>
            </a:r>
          </a:p>
          <a:p>
            <a:pPr algn="just">
              <a:lnSpc>
                <a:spcPct val="170000"/>
              </a:lnSpc>
            </a:pPr>
            <a:r>
              <a:rPr lang="en-US" sz="2000" dirty="0" smtClean="0"/>
              <a:t>India ranks </a:t>
            </a:r>
            <a:r>
              <a:rPr lang="en-US" sz="2000" dirty="0" smtClean="0">
                <a:solidFill>
                  <a:srgbClr val="FF00FF"/>
                </a:solidFill>
              </a:rPr>
              <a:t>10</a:t>
            </a:r>
            <a:r>
              <a:rPr lang="en-US" sz="2000" baseline="30000" dirty="0" smtClean="0">
                <a:solidFill>
                  <a:srgbClr val="FF00FF"/>
                </a:solidFill>
              </a:rPr>
              <a:t>th</a:t>
            </a:r>
            <a:r>
              <a:rPr lang="en-US" sz="2000" dirty="0" smtClean="0">
                <a:solidFill>
                  <a:srgbClr val="FF00FF"/>
                </a:solidFill>
              </a:rPr>
              <a:t> among the plant rich countries </a:t>
            </a:r>
            <a:r>
              <a:rPr lang="en-US" sz="2000" dirty="0" smtClean="0"/>
              <a:t>of the world,</a:t>
            </a:r>
          </a:p>
          <a:p>
            <a:pPr algn="just">
              <a:lnSpc>
                <a:spcPct val="170000"/>
              </a:lnSpc>
            </a:pP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FF00FF"/>
                </a:solidFill>
              </a:rPr>
              <a:t>11</a:t>
            </a:r>
            <a:r>
              <a:rPr lang="en-US" sz="2000" baseline="30000" dirty="0" smtClean="0">
                <a:solidFill>
                  <a:srgbClr val="FF00FF"/>
                </a:solidFill>
              </a:rPr>
              <a:t>th</a:t>
            </a:r>
            <a:r>
              <a:rPr lang="en-US" sz="2000" dirty="0" smtClean="0">
                <a:solidFill>
                  <a:srgbClr val="FF00FF"/>
                </a:solidFill>
              </a:rPr>
              <a:t> in terms of number of endemic species </a:t>
            </a:r>
            <a:r>
              <a:rPr lang="en-US" sz="2000" dirty="0" smtClean="0"/>
              <a:t>of higher vertebrates</a:t>
            </a:r>
          </a:p>
          <a:p>
            <a:pPr algn="just">
              <a:lnSpc>
                <a:spcPct val="170000"/>
              </a:lnSpc>
            </a:pP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FF00FF"/>
                </a:solidFill>
              </a:rPr>
              <a:t>6</a:t>
            </a:r>
            <a:r>
              <a:rPr lang="en-US" sz="2000" baseline="30000" dirty="0" smtClean="0">
                <a:solidFill>
                  <a:srgbClr val="FF00FF"/>
                </a:solidFill>
              </a:rPr>
              <a:t>th</a:t>
            </a:r>
            <a:r>
              <a:rPr lang="en-US" sz="2000" dirty="0" smtClean="0">
                <a:solidFill>
                  <a:srgbClr val="FF00FF"/>
                </a:solidFill>
              </a:rPr>
              <a:t> among the centers of diversity and origin of agricultural crops.</a:t>
            </a:r>
          </a:p>
          <a:p>
            <a:pPr algn="just">
              <a:lnSpc>
                <a:spcPct val="170000"/>
              </a:lnSpc>
            </a:pPr>
            <a:r>
              <a:rPr lang="en-US" sz="2000" dirty="0" smtClean="0"/>
              <a:t> The total number of living species identified in our country is 150,000. </a:t>
            </a:r>
          </a:p>
          <a:p>
            <a:pPr algn="just">
              <a:lnSpc>
                <a:spcPct val="170000"/>
              </a:lnSpc>
            </a:pPr>
            <a:r>
              <a:rPr lang="en-US" sz="2000" dirty="0" smtClean="0"/>
              <a:t>Out of a total of 25 biodiversity hot-spots in the world, India possesses 02 </a:t>
            </a:r>
          </a:p>
          <a:p>
            <a:pPr algn="just">
              <a:lnSpc>
                <a:spcPct val="170000"/>
              </a:lnSpc>
            </a:pPr>
            <a:r>
              <a:rPr lang="en-US" sz="2000" dirty="0" smtClean="0"/>
              <a:t> </a:t>
            </a:r>
            <a:r>
              <a:rPr lang="en-US" sz="2000" dirty="0" err="1" smtClean="0"/>
              <a:t>i</a:t>
            </a:r>
            <a:r>
              <a:rPr lang="en-US" sz="2000" dirty="0" smtClean="0"/>
              <a:t>) Eastern Himalayas (North east </a:t>
            </a:r>
            <a:r>
              <a:rPr lang="en-US" sz="2000" dirty="0" err="1" smtClean="0"/>
              <a:t>Sikim</a:t>
            </a:r>
            <a:r>
              <a:rPr lang="en-US" sz="2000" dirty="0" smtClean="0"/>
              <a:t> Region)  </a:t>
            </a:r>
          </a:p>
          <a:p>
            <a:pPr algn="just">
              <a:lnSpc>
                <a:spcPct val="170000"/>
              </a:lnSpc>
            </a:pPr>
            <a:r>
              <a:rPr lang="en-US" sz="2000" dirty="0" smtClean="0"/>
              <a:t>Ii) western </a:t>
            </a:r>
            <a:r>
              <a:rPr lang="en-US" sz="2000" dirty="0" err="1" smtClean="0"/>
              <a:t>ghats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solidFill>
                  <a:srgbClr val="FF00FF"/>
                </a:solidFill>
              </a:rPr>
              <a:t>INDIA AS A MEGA-DIVERSITY NATION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8839200" cy="4389120"/>
          </a:xfrm>
        </p:spPr>
        <p:txBody>
          <a:bodyPr/>
          <a:lstStyle/>
          <a:p>
            <a:r>
              <a:rPr lang="en-US" dirty="0" smtClean="0"/>
              <a:t>India is one of the 12 mega-diversity countries in the world. </a:t>
            </a:r>
          </a:p>
          <a:p>
            <a:r>
              <a:rPr lang="en-US" dirty="0" smtClean="0"/>
              <a:t>The Ministry of Environment and Forests, Govt. of India (2000) records</a:t>
            </a:r>
          </a:p>
          <a:p>
            <a:r>
              <a:rPr lang="en-US" dirty="0" smtClean="0"/>
              <a:t> 47,000 species of plants  (7% of world )and 4</a:t>
            </a:r>
            <a:r>
              <a:rPr lang="en-US" baseline="30000" dirty="0" smtClean="0"/>
              <a:t>th</a:t>
            </a:r>
            <a:r>
              <a:rPr lang="en-US" dirty="0" smtClean="0"/>
              <a:t> in Asia </a:t>
            </a:r>
          </a:p>
          <a:p>
            <a:r>
              <a:rPr lang="en-US" dirty="0" smtClean="0"/>
              <a:t>81,000 species of animals (6.5% of world ).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5257800"/>
            <a:ext cx="9067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FF00FF"/>
                </a:solidFill>
              </a:rPr>
              <a:t>Endemism: </a:t>
            </a:r>
            <a:r>
              <a:rPr lang="en-US" sz="2000" dirty="0" smtClean="0"/>
              <a:t>Species which are restricted only to a particular area are known as endemic. 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352800"/>
            <a:ext cx="6858000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</a:pPr>
            <a:r>
              <a:rPr lang="en-US" dirty="0" smtClean="0">
                <a:latin typeface="Bookman Old Style" pitchFamily="18" charset="0"/>
              </a:rPr>
              <a:t>350 mammal species – 8</a:t>
            </a:r>
            <a:r>
              <a:rPr lang="en-US" baseline="30000" dirty="0" smtClean="0">
                <a:latin typeface="Bookman Old Style" pitchFamily="18" charset="0"/>
              </a:rPr>
              <a:t>th</a:t>
            </a:r>
            <a:r>
              <a:rPr lang="en-US" dirty="0" smtClean="0">
                <a:latin typeface="Bookman Old Style" pitchFamily="18" charset="0"/>
              </a:rPr>
              <a:t> in the world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</a:pPr>
            <a:r>
              <a:rPr lang="en-US" dirty="0" smtClean="0">
                <a:latin typeface="Bookman Old Style" pitchFamily="18" charset="0"/>
              </a:rPr>
              <a:t>	1200 bird species – 8</a:t>
            </a:r>
            <a:r>
              <a:rPr lang="en-US" baseline="30000" dirty="0" smtClean="0">
                <a:latin typeface="Bookman Old Style" pitchFamily="18" charset="0"/>
              </a:rPr>
              <a:t>th</a:t>
            </a:r>
            <a:r>
              <a:rPr lang="en-US" dirty="0" smtClean="0">
                <a:latin typeface="Bookman Old Style" pitchFamily="18" charset="0"/>
              </a:rPr>
              <a:t> in the world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</a:pPr>
            <a:r>
              <a:rPr lang="en-US" dirty="0" smtClean="0">
                <a:latin typeface="Bookman Old Style" pitchFamily="18" charset="0"/>
              </a:rPr>
              <a:t>	453 reptile species -5</a:t>
            </a:r>
            <a:r>
              <a:rPr lang="en-US" baseline="30000" dirty="0" smtClean="0">
                <a:latin typeface="Bookman Old Style" pitchFamily="18" charset="0"/>
              </a:rPr>
              <a:t>th</a:t>
            </a:r>
            <a:r>
              <a:rPr lang="en-US" dirty="0" smtClean="0">
                <a:latin typeface="Bookman Old Style" pitchFamily="18" charset="0"/>
              </a:rPr>
              <a:t> in the world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</a:pPr>
            <a:r>
              <a:rPr lang="en-US" dirty="0" smtClean="0">
                <a:latin typeface="Bookman Old Style" pitchFamily="18" charset="0"/>
              </a:rPr>
              <a:t>	45,000 plant species – 15</a:t>
            </a:r>
            <a:r>
              <a:rPr lang="en-US" baseline="30000" dirty="0" smtClean="0">
                <a:latin typeface="Bookman Old Style" pitchFamily="18" charset="0"/>
              </a:rPr>
              <a:t>th</a:t>
            </a:r>
            <a:r>
              <a:rPr lang="en-US" dirty="0" smtClean="0">
                <a:latin typeface="Bookman Old Style" pitchFamily="18" charset="0"/>
              </a:rPr>
              <a:t> in the world</a:t>
            </a:r>
            <a:endParaRPr lang="en-US" dirty="0">
              <a:latin typeface="Bookman Old Style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762000"/>
            <a:ext cx="871296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</a:pPr>
            <a:r>
              <a:rPr lang="en-US" sz="2000" dirty="0" smtClean="0">
                <a:latin typeface="Bookman Old Style" pitchFamily="18" charset="0"/>
              </a:rPr>
              <a:t>18% Indian plants are endemic to the country and found nowhere in the world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</a:pPr>
            <a:r>
              <a:rPr lang="en-US" sz="2000" dirty="0" smtClean="0">
                <a:latin typeface="Bookman Old Style" pitchFamily="18" charset="0"/>
              </a:rPr>
              <a:t>62% amphibians are endemic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</a:pPr>
            <a:r>
              <a:rPr lang="en-US" sz="2000" dirty="0" smtClean="0">
                <a:latin typeface="Bookman Old Style" pitchFamily="18" charset="0"/>
              </a:rPr>
              <a:t>50% of the lizards are endemic </a:t>
            </a:r>
          </a:p>
          <a:p>
            <a:pPr algn="just">
              <a:spcBef>
                <a:spcPts val="600"/>
              </a:spcBef>
              <a:buClr>
                <a:srgbClr val="FF0000"/>
              </a:buClr>
            </a:pPr>
            <a:r>
              <a:rPr lang="en-US" sz="2000" dirty="0" smtClean="0">
                <a:latin typeface="Bookman Old Style" pitchFamily="18" charset="0"/>
              </a:rPr>
              <a:t>Gene banks have collected	- 34,000 cereals</a:t>
            </a:r>
          </a:p>
          <a:p>
            <a:pPr algn="just">
              <a:spcBef>
                <a:spcPts val="600"/>
              </a:spcBef>
              <a:buClr>
                <a:srgbClr val="FF0000"/>
              </a:buClr>
            </a:pPr>
            <a:r>
              <a:rPr lang="en-US" sz="2000" dirty="0">
                <a:latin typeface="Bookman Old Style" pitchFamily="18" charset="0"/>
              </a:rPr>
              <a:t>	</a:t>
            </a:r>
            <a:r>
              <a:rPr lang="en-US" sz="2000" dirty="0" smtClean="0">
                <a:latin typeface="Bookman Old Style" pitchFamily="18" charset="0"/>
              </a:rPr>
              <a:t>			- 22,000 pulses</a:t>
            </a:r>
          </a:p>
          <a:p>
            <a:pPr algn="just">
              <a:spcBef>
                <a:spcPts val="600"/>
              </a:spcBef>
              <a:buClr>
                <a:srgbClr val="FF0000"/>
              </a:buClr>
            </a:pPr>
            <a:r>
              <a:rPr lang="en-US" sz="2000" dirty="0">
                <a:latin typeface="Bookman Old Style" pitchFamily="18" charset="0"/>
              </a:rPr>
              <a:t>	</a:t>
            </a:r>
            <a:r>
              <a:rPr lang="en-US" sz="2000" dirty="0" smtClean="0">
                <a:latin typeface="Bookman Old Style" pitchFamily="18" charset="0"/>
              </a:rPr>
              <a:t>			- 27 breeds of cattle </a:t>
            </a:r>
          </a:p>
          <a:p>
            <a:pPr algn="just">
              <a:spcBef>
                <a:spcPts val="600"/>
              </a:spcBef>
              <a:buClr>
                <a:srgbClr val="FF0000"/>
              </a:buClr>
            </a:pPr>
            <a:r>
              <a:rPr lang="en-US" sz="2000" dirty="0">
                <a:latin typeface="Bookman Old Style" pitchFamily="18" charset="0"/>
              </a:rPr>
              <a:t>	</a:t>
            </a:r>
            <a:r>
              <a:rPr lang="en-US" sz="2000" dirty="0" smtClean="0">
                <a:latin typeface="Bookman Old Style" pitchFamily="18" charset="0"/>
              </a:rPr>
              <a:t>			- 40 breeds of sheep</a:t>
            </a:r>
          </a:p>
          <a:p>
            <a:pPr algn="just">
              <a:spcBef>
                <a:spcPts val="600"/>
              </a:spcBef>
              <a:buClr>
                <a:srgbClr val="FF0000"/>
              </a:buClr>
            </a:pPr>
            <a:r>
              <a:rPr lang="en-US" sz="2000" dirty="0">
                <a:latin typeface="Bookman Old Style" pitchFamily="18" charset="0"/>
              </a:rPr>
              <a:t>	</a:t>
            </a:r>
            <a:r>
              <a:rPr lang="en-US" sz="2000" dirty="0" smtClean="0">
                <a:latin typeface="Bookman Old Style" pitchFamily="18" charset="0"/>
              </a:rPr>
              <a:t>			- 22 breeds of goat</a:t>
            </a:r>
          </a:p>
          <a:p>
            <a:pPr algn="just">
              <a:spcBef>
                <a:spcPts val="600"/>
              </a:spcBef>
              <a:buClr>
                <a:srgbClr val="FF0000"/>
              </a:buClr>
            </a:pPr>
            <a:r>
              <a:rPr lang="en-US" sz="2000" dirty="0">
                <a:latin typeface="Bookman Old Style" pitchFamily="18" charset="0"/>
              </a:rPr>
              <a:t>	</a:t>
            </a:r>
            <a:r>
              <a:rPr lang="en-US" sz="2000" dirty="0" smtClean="0">
                <a:latin typeface="Bookman Old Style" pitchFamily="18" charset="0"/>
              </a:rPr>
              <a:t>			- 8 breeds of buffalos</a:t>
            </a:r>
          </a:p>
          <a:p>
            <a:pPr algn="just">
              <a:spcBef>
                <a:spcPts val="600"/>
              </a:spcBef>
              <a:buClr>
                <a:srgbClr val="FF0000"/>
              </a:buClr>
            </a:pPr>
            <a:r>
              <a:rPr lang="en-US" sz="2000" dirty="0" smtClean="0">
                <a:latin typeface="Bookman Old Style" pitchFamily="18" charset="0"/>
              </a:rPr>
              <a:t>Many of these are dying out due to misguided adoption of all foreign things.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</a:pPr>
            <a:endParaRPr lang="en-US" sz="2000" dirty="0">
              <a:latin typeface="Bookman Old Style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8600" y="152400"/>
            <a:ext cx="85631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solidFill>
                  <a:srgbClr val="FF00FF"/>
                </a:solidFill>
              </a:rPr>
              <a:t>INDIA AS A MEGA-DIVERSITY NATION</a:t>
            </a:r>
            <a:endParaRPr lang="en-US" sz="3600" dirty="0">
              <a:solidFill>
                <a:srgbClr val="FF00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2400" y="5943600"/>
            <a:ext cx="9296400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buClr>
                <a:srgbClr val="FF0000"/>
              </a:buClr>
              <a:buFont typeface="Wingdings" pitchFamily="2" charset="2"/>
              <a:buChar char="v"/>
            </a:pPr>
            <a:r>
              <a:rPr lang="en-US" dirty="0" smtClean="0">
                <a:latin typeface="Bookman Old Style" pitchFamily="18" charset="0"/>
              </a:rPr>
              <a:t>MOEF is the nodal agency for implementation of CBD in India.</a:t>
            </a:r>
          </a:p>
          <a:p>
            <a:pPr marL="285750" indent="-285750" algn="just">
              <a:spcBef>
                <a:spcPts val="600"/>
              </a:spcBef>
              <a:buClr>
                <a:srgbClr val="FF0000"/>
              </a:buClr>
              <a:buFont typeface="Wingdings" pitchFamily="2" charset="2"/>
              <a:buChar char="v"/>
            </a:pPr>
            <a:r>
              <a:rPr lang="en-US" dirty="0" smtClean="0">
                <a:latin typeface="Bookman Old Style" pitchFamily="18" charset="0"/>
              </a:rPr>
              <a:t>National Biodiversity Action Plan (NBAP) was formulated in 2007</a:t>
            </a:r>
          </a:p>
        </p:txBody>
      </p:sp>
    </p:spTree>
    <p:extLst>
      <p:ext uri="{BB962C8B-B14F-4D97-AF65-F5344CB8AC3E}">
        <p14:creationId xmlns:p14="http://schemas.microsoft.com/office/powerpoint/2010/main" val="2461757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INDIA AS A MEGA-DIVERSITY NATION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4495800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Center of origin:</a:t>
            </a:r>
            <a:r>
              <a:rPr lang="en-US" sz="2400" dirty="0" smtClean="0"/>
              <a:t>. Nearly 5000 species of flowering plants had their origin in India. </a:t>
            </a:r>
          </a:p>
          <a:p>
            <a:r>
              <a:rPr lang="en-US" sz="2400" dirty="0" smtClean="0"/>
              <a:t>center of origin of 166 species of crop plants and 320 species of wild relatives of cultivated crops, </a:t>
            </a:r>
          </a:p>
          <a:p>
            <a:r>
              <a:rPr lang="en-US" sz="2400" b="1" dirty="0" smtClean="0"/>
              <a:t>Marine diversity: </a:t>
            </a:r>
            <a:r>
              <a:rPr lang="en-US" sz="2400" dirty="0" smtClean="0">
                <a:solidFill>
                  <a:srgbClr val="FF00FF"/>
                </a:solidFill>
              </a:rPr>
              <a:t>Along 7500 km long coastline</a:t>
            </a:r>
          </a:p>
          <a:p>
            <a:r>
              <a:rPr lang="en-US" sz="2400" dirty="0" smtClean="0"/>
              <a:t>More than </a:t>
            </a:r>
            <a:r>
              <a:rPr lang="en-US" sz="2400" dirty="0" smtClean="0">
                <a:solidFill>
                  <a:srgbClr val="FF00FF"/>
                </a:solidFill>
              </a:rPr>
              <a:t>340 species of corals</a:t>
            </a:r>
            <a:r>
              <a:rPr lang="en-US" sz="2400" dirty="0" smtClean="0"/>
              <a:t>. rich in mollusks, crustaceans (crabs etc.),</a:t>
            </a:r>
          </a:p>
          <a:p>
            <a:r>
              <a:rPr lang="en-US" sz="2400" dirty="0" smtClean="0"/>
              <a:t>Several species of Mangrove plants and sea grasses (Marine algae).</a:t>
            </a:r>
          </a:p>
          <a:p>
            <a:r>
              <a:rPr lang="en-US" sz="2400" dirty="0" smtClean="0">
                <a:solidFill>
                  <a:srgbClr val="FF00FF"/>
                </a:solidFill>
              </a:rPr>
              <a:t>93 major wet lands</a:t>
            </a:r>
            <a:r>
              <a:rPr lang="en-US" sz="2400" dirty="0" smtClean="0"/>
              <a:t>, coral reefs and mangroves need to be studied</a:t>
            </a:r>
          </a:p>
          <a:p>
            <a:pPr algn="just"/>
            <a:r>
              <a:rPr lang="en-US" sz="2400" dirty="0" smtClean="0">
                <a:solidFill>
                  <a:srgbClr val="FF00FF"/>
                </a:solidFill>
              </a:rPr>
              <a:t>Indian forests cover 64.01 million hectares </a:t>
            </a:r>
            <a:r>
              <a:rPr lang="en-US" sz="2400" dirty="0" smtClean="0"/>
              <a:t>having a rich biodiversity of plants in the Trans-Himalayan, north-west, west, central and eastern Himalayan forests, western </a:t>
            </a:r>
            <a:r>
              <a:rPr lang="en-US" sz="2400" dirty="0" err="1" smtClean="0"/>
              <a:t>ghats</a:t>
            </a:r>
            <a:r>
              <a:rPr lang="en-US" sz="2400" dirty="0" smtClean="0"/>
              <a:t>, coasts, deserts, </a:t>
            </a:r>
            <a:r>
              <a:rPr lang="en-US" sz="2400" dirty="0" err="1" smtClean="0"/>
              <a:t>Gangetic</a:t>
            </a:r>
            <a:r>
              <a:rPr lang="en-US" sz="2400" dirty="0" smtClean="0"/>
              <a:t> plains, </a:t>
            </a:r>
            <a:r>
              <a:rPr lang="en-US" sz="2400" dirty="0" err="1" smtClean="0"/>
              <a:t>deccan</a:t>
            </a:r>
            <a:r>
              <a:rPr lang="en-US" sz="2400" dirty="0" smtClean="0"/>
              <a:t> plateau and the Andaman, Nicobar and Lakshadweep islands.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571500"/>
            <a:ext cx="8153400" cy="1143000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HOT SPOTS OF BIODIVERSITY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4389120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2000" dirty="0" smtClean="0"/>
              <a:t>Areas which exhibit high species richness &amp;  high species endemism are termed as hot spots of biodiversity.</a:t>
            </a:r>
          </a:p>
          <a:p>
            <a:pPr>
              <a:lnSpc>
                <a:spcPct val="170000"/>
              </a:lnSpc>
            </a:pPr>
            <a:r>
              <a:rPr lang="en-US" sz="2000" dirty="0" smtClean="0"/>
              <a:t>25 hot spots in world and 2 in India </a:t>
            </a:r>
          </a:p>
          <a:p>
            <a:pPr>
              <a:lnSpc>
                <a:spcPct val="170000"/>
              </a:lnSpc>
            </a:pPr>
            <a:r>
              <a:rPr lang="en-US" sz="2000" dirty="0" smtClean="0"/>
              <a:t>Eastern Himalayas, &amp; Western Ghats</a:t>
            </a:r>
          </a:p>
          <a:p>
            <a:pPr>
              <a:lnSpc>
                <a:spcPct val="170000"/>
              </a:lnSpc>
            </a:pPr>
            <a:r>
              <a:rPr lang="en-US" sz="2000" dirty="0" smtClean="0"/>
              <a:t>. </a:t>
            </a:r>
          </a:p>
          <a:p>
            <a:pPr>
              <a:lnSpc>
                <a:spcPct val="170000"/>
              </a:lnSpc>
              <a:buNone/>
            </a:pPr>
            <a:endParaRPr lang="en-US" sz="2000" dirty="0" smtClean="0"/>
          </a:p>
          <a:p>
            <a:pPr>
              <a:lnSpc>
                <a:spcPct val="170000"/>
              </a:lnSpc>
              <a:buNone/>
            </a:pPr>
            <a:endParaRPr lang="en-US" sz="2000" dirty="0" smtClean="0"/>
          </a:p>
          <a:p>
            <a:pPr>
              <a:lnSpc>
                <a:spcPct val="170000"/>
              </a:lnSpc>
            </a:pPr>
            <a:r>
              <a:rPr lang="en-US" sz="2000" dirty="0" smtClean="0"/>
              <a:t>About 40% of terrestrial plants and 25% of vertebrate species are endemic and found in these hotspots.</a:t>
            </a:r>
          </a:p>
          <a:p>
            <a:pPr algn="just"/>
            <a:r>
              <a:rPr lang="en-US" sz="2000" b="1" dirty="0" smtClean="0">
                <a:solidFill>
                  <a:srgbClr val="00B050"/>
                </a:solidFill>
              </a:rPr>
              <a:t>Major hot spot in world </a:t>
            </a:r>
            <a:r>
              <a:rPr lang="en-US" sz="2000" dirty="0" err="1" smtClean="0"/>
              <a:t>i</a:t>
            </a:r>
            <a:r>
              <a:rPr lang="en-US" sz="2000" dirty="0" smtClean="0"/>
              <a:t>) Tropical rain forests ii)Western Amazon, iii) Madagascar, iv)North and East Borneo, v) North Eastern Australia,</a:t>
            </a:r>
          </a:p>
          <a:p>
            <a:pPr algn="just">
              <a:buNone/>
            </a:pPr>
            <a:r>
              <a:rPr lang="en-US" sz="2000" dirty="0" smtClean="0"/>
              <a:t>     vi) West Africa vii) Brazilian Atlantic forests.</a:t>
            </a:r>
            <a:endParaRPr lang="en-US" sz="2000" dirty="0"/>
          </a:p>
        </p:txBody>
      </p:sp>
      <p:grpSp>
        <p:nvGrpSpPr>
          <p:cNvPr id="4" name="Group 3"/>
          <p:cNvGrpSpPr/>
          <p:nvPr/>
        </p:nvGrpSpPr>
        <p:grpSpPr>
          <a:xfrm>
            <a:off x="4419600" y="990600"/>
            <a:ext cx="4724400" cy="2977100"/>
            <a:chOff x="4876800" y="375700"/>
            <a:chExt cx="4267200" cy="2443700"/>
          </a:xfrm>
        </p:grpSpPr>
        <p:pic>
          <p:nvPicPr>
            <p:cNvPr id="5" name="Picture 2" descr="C:\Users\NARESH\Desktop\Environmental study part 2 AKV\BIODIVERSITY PPT\ppt-of-biodiversity-9-1024.jpg"/>
            <p:cNvPicPr>
              <a:picLocks noChangeAspect="1" noChangeArrowheads="1"/>
            </p:cNvPicPr>
            <p:nvPr/>
          </p:nvPicPr>
          <p:blipFill>
            <a:blip r:embed="rId2"/>
            <a:srcRect l="48047" t="54688" r="1172" b="1563"/>
            <a:stretch>
              <a:fillRect/>
            </a:stretch>
          </p:blipFill>
          <p:spPr bwMode="auto">
            <a:xfrm>
              <a:off x="4876800" y="375700"/>
              <a:ext cx="4267200" cy="2443700"/>
            </a:xfrm>
            <a:prstGeom prst="rect">
              <a:avLst/>
            </a:prstGeom>
            <a:noFill/>
          </p:spPr>
        </p:pic>
        <p:sp>
          <p:nvSpPr>
            <p:cNvPr id="6" name="TextBox 5"/>
            <p:cNvSpPr txBox="1"/>
            <p:nvPr/>
          </p:nvSpPr>
          <p:spPr>
            <a:xfrm>
              <a:off x="4953000" y="2438400"/>
              <a:ext cx="4191000" cy="369332"/>
            </a:xfrm>
            <a:prstGeom prst="rect">
              <a:avLst/>
            </a:prstGeom>
            <a:solidFill>
              <a:srgbClr val="CC3300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</a:rPr>
                <a:t>Centre of Global biodiversity  (Red )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457200" y="2658070"/>
            <a:ext cx="3657600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dirty="0" smtClean="0"/>
              <a:t>Hotspots covering less than 2% of the worlds land area contain 50% of the terrestrial biodiversity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5715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FF00FF"/>
                </a:solidFill>
              </a:rPr>
              <a:t>HOT SOPT BIODIVERSITY IN INDIA</a:t>
            </a:r>
            <a:endParaRPr lang="en-US" sz="4000" dirty="0">
              <a:solidFill>
                <a:srgbClr val="FF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105400"/>
          </a:xfrm>
        </p:spPr>
        <p:txBody>
          <a:bodyPr/>
          <a:lstStyle/>
          <a:p>
            <a:r>
              <a:rPr lang="en-US" dirty="0" smtClean="0">
                <a:solidFill>
                  <a:srgbClr val="00B050"/>
                </a:solidFill>
              </a:rPr>
              <a:t>1. Indo-Burma region (covering Sikkim Eastern Himalayas)</a:t>
            </a:r>
          </a:p>
          <a:p>
            <a:r>
              <a:rPr lang="en-US" dirty="0" smtClean="0"/>
              <a:t>Sikkim rich in endemic plant species. Area of 7298 Km</a:t>
            </a:r>
            <a:r>
              <a:rPr lang="en-US" baseline="30000" dirty="0" smtClean="0"/>
              <a:t>2</a:t>
            </a:r>
            <a:r>
              <a:rPr lang="en-US" dirty="0" smtClean="0"/>
              <a:t> of about 4250 plant species are found of which 60% are endemic. </a:t>
            </a:r>
          </a:p>
          <a:p>
            <a:r>
              <a:rPr lang="en-US" dirty="0" err="1" smtClean="0">
                <a:solidFill>
                  <a:srgbClr val="00B0F0"/>
                </a:solidFill>
              </a:rPr>
              <a:t>Sapria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dirty="0" err="1" smtClean="0">
                <a:solidFill>
                  <a:srgbClr val="00B0F0"/>
                </a:solidFill>
              </a:rPr>
              <a:t>himalayana</a:t>
            </a:r>
            <a:r>
              <a:rPr lang="en-US" dirty="0" smtClean="0"/>
              <a:t>, </a:t>
            </a:r>
            <a:r>
              <a:rPr lang="en-US" dirty="0" err="1" smtClean="0"/>
              <a:t>aparasitic</a:t>
            </a:r>
            <a:r>
              <a:rPr lang="en-US" dirty="0" smtClean="0"/>
              <a:t> angiosperm was sighted only twice in this region in the last 70 years.</a:t>
            </a:r>
          </a:p>
          <a:p>
            <a:r>
              <a:rPr lang="en-US" dirty="0" smtClean="0">
                <a:solidFill>
                  <a:srgbClr val="9933FF"/>
                </a:solidFill>
              </a:rPr>
              <a:t>Cradle of flowering </a:t>
            </a:r>
            <a:r>
              <a:rPr lang="en-US" dirty="0" smtClean="0"/>
              <a:t>plants. </a:t>
            </a:r>
          </a:p>
          <a:p>
            <a:r>
              <a:rPr lang="en-US" dirty="0" smtClean="0"/>
              <a:t>Out of the world's recorded flora 30% are endemic to India of which 35,000 are in the Himalayas.</a:t>
            </a:r>
            <a:endParaRPr lang="en-US" dirty="0"/>
          </a:p>
        </p:txBody>
      </p:sp>
      <p:pic>
        <p:nvPicPr>
          <p:cNvPr id="4" name="Picture 2" descr="C:\Users\NARESH\Desktop\Environmental study part 2 AKV\BIODIVERSITY PPT\presentation-of-biodiversity-30-638.jpg"/>
          <p:cNvPicPr>
            <a:picLocks noChangeAspect="1" noChangeArrowheads="1"/>
          </p:cNvPicPr>
          <p:nvPr/>
        </p:nvPicPr>
        <p:blipFill>
          <a:blip r:embed="rId2"/>
          <a:srcRect l="9404" t="22547" r="9404" b="47599"/>
          <a:stretch>
            <a:fillRect/>
          </a:stretch>
        </p:blipFill>
        <p:spPr bwMode="auto">
          <a:xfrm>
            <a:off x="0" y="4610100"/>
            <a:ext cx="8991600" cy="2247900"/>
          </a:xfrm>
          <a:prstGeom prst="rect">
            <a:avLst/>
          </a:prstGeom>
          <a:noFill/>
        </p:spPr>
      </p:pic>
      <p:pic>
        <p:nvPicPr>
          <p:cNvPr id="3073" name="Picture 1" descr="C:\Users\NARESH\Desktop\330px-Sapria_(34)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24600" y="2819400"/>
            <a:ext cx="1473712" cy="11080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4389120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(2) </a:t>
            </a:r>
            <a:r>
              <a:rPr lang="en-US" sz="2400" dirty="0" smtClean="0">
                <a:solidFill>
                  <a:srgbClr val="00B050"/>
                </a:solidFill>
              </a:rPr>
              <a:t>Western Ghats</a:t>
            </a:r>
            <a:r>
              <a:rPr lang="en-US" sz="2400" dirty="0" smtClean="0">
                <a:solidFill>
                  <a:srgbClr val="FF00FF"/>
                </a:solidFill>
              </a:rPr>
              <a:t>: </a:t>
            </a:r>
            <a:r>
              <a:rPr lang="en-US" sz="2400" dirty="0" smtClean="0"/>
              <a:t>It extends along a 17,000 Km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 </a:t>
            </a:r>
          </a:p>
          <a:p>
            <a:pPr>
              <a:buNone/>
            </a:pPr>
            <a:r>
              <a:rPr lang="en-US" sz="2400" dirty="0" smtClean="0"/>
              <a:t>strip of forests in Maharashtra, Karnataka, TN &amp; Kerala </a:t>
            </a:r>
          </a:p>
          <a:p>
            <a:r>
              <a:rPr lang="en-US" sz="2400" dirty="0" smtClean="0"/>
              <a:t>40% of the total endemic plant species.</a:t>
            </a:r>
          </a:p>
          <a:p>
            <a:r>
              <a:rPr lang="en-US" sz="2400" dirty="0" smtClean="0"/>
              <a:t> 62% amphibians and 50% lizards are endemic</a:t>
            </a:r>
          </a:p>
          <a:p>
            <a:r>
              <a:rPr lang="en-US" sz="2400" dirty="0" smtClean="0"/>
              <a:t>500 m elevation covering 20% of evergreen forest while those in 500-1500 m range are </a:t>
            </a:r>
            <a:r>
              <a:rPr lang="en-US" sz="2400" dirty="0" err="1" smtClean="0"/>
              <a:t>semievergreen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 Major centers of diversity are </a:t>
            </a:r>
            <a:r>
              <a:rPr lang="en-US" sz="2400" dirty="0" err="1" smtClean="0">
                <a:solidFill>
                  <a:srgbClr val="9933FF"/>
                </a:solidFill>
              </a:rPr>
              <a:t>Agastyamalai</a:t>
            </a:r>
            <a:r>
              <a:rPr lang="en-US" sz="2400" dirty="0" smtClean="0">
                <a:solidFill>
                  <a:srgbClr val="9933FF"/>
                </a:solidFill>
              </a:rPr>
              <a:t> Hills </a:t>
            </a:r>
            <a:r>
              <a:rPr lang="en-US" sz="2400" dirty="0" smtClean="0"/>
              <a:t>and</a:t>
            </a:r>
          </a:p>
          <a:p>
            <a:r>
              <a:rPr lang="en-US" sz="2400" dirty="0" smtClean="0">
                <a:solidFill>
                  <a:srgbClr val="9933FF"/>
                </a:solidFill>
              </a:rPr>
              <a:t>Silent Valley</a:t>
            </a:r>
            <a:r>
              <a:rPr lang="en-US" sz="2400" dirty="0" smtClean="0"/>
              <a:t>. the New </a:t>
            </a:r>
            <a:r>
              <a:rPr lang="en-US" sz="2400" dirty="0" err="1" smtClean="0"/>
              <a:t>Amambalam</a:t>
            </a:r>
            <a:r>
              <a:rPr lang="en-US" sz="2400" dirty="0" smtClean="0"/>
              <a:t> Reserve Basin</a:t>
            </a:r>
          </a:p>
          <a:p>
            <a:endParaRPr lang="en-US" dirty="0"/>
          </a:p>
        </p:txBody>
      </p:sp>
      <p:pic>
        <p:nvPicPr>
          <p:cNvPr id="4" name="Picture 2" descr="C:\Users\NARESH\Desktop\Environmental study part 2 AKV\BIODIVERSITY PPT\presentation-of-biodiversity-29-638.jpg"/>
          <p:cNvPicPr>
            <a:picLocks noChangeAspect="1" noChangeArrowheads="1"/>
          </p:cNvPicPr>
          <p:nvPr/>
        </p:nvPicPr>
        <p:blipFill>
          <a:blip r:embed="rId2"/>
          <a:srcRect l="3762" t="25052" r="61129" b="7516"/>
          <a:stretch>
            <a:fillRect/>
          </a:stretch>
        </p:blipFill>
        <p:spPr bwMode="auto">
          <a:xfrm>
            <a:off x="7315200" y="0"/>
            <a:ext cx="1828800" cy="2637054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304800" y="6019800"/>
            <a:ext cx="838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However, only 6.8% of the original forests are existing today while</a:t>
            </a:r>
          </a:p>
          <a:p>
            <a:r>
              <a:rPr lang="en-US" dirty="0" smtClean="0"/>
              <a:t> the rest has been deforested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28600" y="4876800"/>
            <a:ext cx="7086600" cy="1077218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 </a:t>
            </a:r>
            <a:r>
              <a:rPr lang="en-US" sz="2400" b="1" dirty="0" smtClean="0"/>
              <a:t>Endemic plant and animals in western </a:t>
            </a:r>
            <a:r>
              <a:rPr lang="en-US" sz="2400" b="1" dirty="0" err="1" smtClean="0"/>
              <a:t>ghat</a:t>
            </a:r>
            <a:r>
              <a:rPr lang="en-US" sz="2400" b="1" dirty="0" smtClean="0"/>
              <a:t>: </a:t>
            </a:r>
          </a:p>
          <a:p>
            <a:r>
              <a:rPr lang="en-US" b="1" dirty="0" smtClean="0"/>
              <a:t> </a:t>
            </a:r>
            <a:r>
              <a:rPr lang="en-US" sz="2000" dirty="0" err="1" smtClean="0"/>
              <a:t>Ternstroemia</a:t>
            </a:r>
            <a:r>
              <a:rPr lang="en-US" sz="2000" dirty="0" smtClean="0"/>
              <a:t> japonica, Rhododendron and </a:t>
            </a:r>
            <a:r>
              <a:rPr lang="en-US" sz="2000" dirty="0" err="1" smtClean="0"/>
              <a:t>Hypericum</a:t>
            </a:r>
            <a:endParaRPr lang="en-US" sz="2000" dirty="0" smtClean="0"/>
          </a:p>
          <a:p>
            <a:r>
              <a:rPr lang="en-US" sz="2000" dirty="0" smtClean="0"/>
              <a:t> Fairy blue bird, lizard hawk </a:t>
            </a:r>
            <a:r>
              <a:rPr lang="en-US" dirty="0" smtClean="0"/>
              <a:t>etc. 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04800" y="304800"/>
            <a:ext cx="69799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FF00FF"/>
                </a:solidFill>
              </a:rPr>
              <a:t>HOT SOPT BIODIVERSITY IN INDIA</a:t>
            </a:r>
            <a:endParaRPr lang="en-US" sz="3200" dirty="0"/>
          </a:p>
        </p:txBody>
      </p:sp>
      <p:grpSp>
        <p:nvGrpSpPr>
          <p:cNvPr id="10" name="Group 9"/>
          <p:cNvGrpSpPr/>
          <p:nvPr/>
        </p:nvGrpSpPr>
        <p:grpSpPr>
          <a:xfrm>
            <a:off x="7391400" y="3810000"/>
            <a:ext cx="1684051" cy="1419999"/>
            <a:chOff x="7391400" y="3810000"/>
            <a:chExt cx="1684051" cy="1419999"/>
          </a:xfrm>
        </p:grpSpPr>
        <p:pic>
          <p:nvPicPr>
            <p:cNvPr id="2049" name="Picture 1" descr="C:\Users\NARESH\Desktop\download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391400" y="3810000"/>
              <a:ext cx="1524000" cy="1143000"/>
            </a:xfrm>
            <a:prstGeom prst="rect">
              <a:avLst/>
            </a:prstGeom>
            <a:noFill/>
          </p:spPr>
        </p:pic>
        <p:sp>
          <p:nvSpPr>
            <p:cNvPr id="9" name="Rectangle 8"/>
            <p:cNvSpPr/>
            <p:nvPr/>
          </p:nvSpPr>
          <p:spPr>
            <a:xfrm>
              <a:off x="7391400" y="4953000"/>
              <a:ext cx="168405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err="1" smtClean="0">
                  <a:solidFill>
                    <a:srgbClr val="9933FF"/>
                  </a:solidFill>
                </a:rPr>
                <a:t>Ternstroemia</a:t>
              </a:r>
              <a:r>
                <a:rPr lang="en-US" sz="1200" dirty="0" smtClean="0">
                  <a:solidFill>
                    <a:srgbClr val="9933FF"/>
                  </a:solidFill>
                </a:rPr>
                <a:t> japonica</a:t>
              </a:r>
              <a:endParaRPr lang="en-US" sz="1200" dirty="0">
                <a:solidFill>
                  <a:srgbClr val="9933FF"/>
                </a:solidFill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315200" y="5181600"/>
            <a:ext cx="1710725" cy="1676400"/>
            <a:chOff x="7315200" y="5181600"/>
            <a:chExt cx="1710725" cy="1676400"/>
          </a:xfrm>
        </p:grpSpPr>
        <p:pic>
          <p:nvPicPr>
            <p:cNvPr id="2050" name="Picture 2" descr="C:\Users\NARESH\Desktop\Fairy_bluebird_female.jpg"/>
            <p:cNvPicPr>
              <a:picLocks noChangeAspect="1" noChangeArrowheads="1"/>
            </p:cNvPicPr>
            <p:nvPr/>
          </p:nvPicPr>
          <p:blipFill>
            <a:blip r:embed="rId4"/>
            <a:srcRect l="15273" t="22718" r="19636" b="34951"/>
            <a:stretch>
              <a:fillRect/>
            </a:stretch>
          </p:blipFill>
          <p:spPr bwMode="auto">
            <a:xfrm>
              <a:off x="7391400" y="5181600"/>
              <a:ext cx="1595522" cy="1295400"/>
            </a:xfrm>
            <a:prstGeom prst="rect">
              <a:avLst/>
            </a:prstGeom>
            <a:noFill/>
          </p:spPr>
        </p:pic>
        <p:sp>
          <p:nvSpPr>
            <p:cNvPr id="11" name="Rectangle 10"/>
            <p:cNvSpPr/>
            <p:nvPr/>
          </p:nvSpPr>
          <p:spPr>
            <a:xfrm>
              <a:off x="7315200" y="6488668"/>
              <a:ext cx="17107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 Fairy blue bird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767808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indent="0" algn="ctr">
              <a:buNone/>
            </a:pPr>
            <a:endParaRPr lang="en-US" sz="4800" i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Yu Gothic UI Semibold" panose="020B0700000000000000" charset="-128"/>
              <a:ea typeface="Yu Gothic UI Semibold" panose="020B0700000000000000" charset="-128"/>
            </a:endParaRPr>
          </a:p>
          <a:p>
            <a:pPr marL="0" indent="0" algn="ctr">
              <a:buNone/>
            </a:pPr>
            <a:r>
              <a:rPr lang="en-US" sz="8800" i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Yu Gothic UI Semibold" panose="020B0700000000000000" charset="-128"/>
                <a:ea typeface="Yu Gothic UI Semibold" panose="020B0700000000000000" charset="-128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1349</TotalTime>
  <Words>1339</Words>
  <Application>Microsoft Office PowerPoint</Application>
  <PresentationFormat>On-screen Show (4:3)</PresentationFormat>
  <Paragraphs>181</Paragraphs>
  <Slides>17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Indian Biodiversity</vt:lpstr>
      <vt:lpstr>INDIA AS A MEGA-DIVERSITY NATION </vt:lpstr>
      <vt:lpstr>PowerPoint Presentation</vt:lpstr>
      <vt:lpstr>INDIA AS A MEGA-DIVERSITY NATION</vt:lpstr>
      <vt:lpstr>HOT SPOTS OF BIODIVERSITY</vt:lpstr>
      <vt:lpstr>HOT SOPT BIODIVERSITY IN INDIA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II Statistical Thermodynamics II Lecture II Partition Function</dc:title>
  <dc:creator>DELL</dc:creator>
  <cp:lastModifiedBy>ITER</cp:lastModifiedBy>
  <cp:revision>271</cp:revision>
  <dcterms:created xsi:type="dcterms:W3CDTF">2020-03-25T06:52:00Z</dcterms:created>
  <dcterms:modified xsi:type="dcterms:W3CDTF">2024-08-08T13:55:23Z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1033-11.2.0.9085</vt:lpwstr>
  </property>
</Properties>
</file>