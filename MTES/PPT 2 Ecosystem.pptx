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2" r:id="rId1"/>
  </p:sldMasterIdLst>
  <p:notesMasterIdLst>
    <p:notesMasterId r:id="rId25"/>
  </p:notesMasterIdLst>
  <p:sldIdLst>
    <p:sldId id="327" r:id="rId2"/>
    <p:sldId id="328" r:id="rId3"/>
    <p:sldId id="257" r:id="rId4"/>
    <p:sldId id="342" r:id="rId5"/>
    <p:sldId id="341" r:id="rId6"/>
    <p:sldId id="259" r:id="rId7"/>
    <p:sldId id="316" r:id="rId8"/>
    <p:sldId id="317" r:id="rId9"/>
    <p:sldId id="333" r:id="rId10"/>
    <p:sldId id="320" r:id="rId11"/>
    <p:sldId id="324" r:id="rId12"/>
    <p:sldId id="334" r:id="rId13"/>
    <p:sldId id="331" r:id="rId14"/>
    <p:sldId id="338" r:id="rId15"/>
    <p:sldId id="309" r:id="rId16"/>
    <p:sldId id="335" r:id="rId17"/>
    <p:sldId id="337" r:id="rId18"/>
    <p:sldId id="311" r:id="rId19"/>
    <p:sldId id="336" r:id="rId20"/>
    <p:sldId id="315" r:id="rId21"/>
    <p:sldId id="325" r:id="rId22"/>
    <p:sldId id="339" r:id="rId23"/>
    <p:sldId id="34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24CC"/>
    <a:srgbClr val="CC2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52" autoAdjust="0"/>
  </p:normalViewPr>
  <p:slideViewPr>
    <p:cSldViewPr snapToGrid="0">
      <p:cViewPr varScale="1">
        <p:scale>
          <a:sx n="110" d="100"/>
          <a:sy n="110" d="100"/>
        </p:scale>
        <p:origin x="-55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14D7C-8B4B-4F1B-9876-A1F0C7D3DA13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E2759-5BF8-4D63-9347-A90C34EB48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E2759-5BF8-4D63-9347-A90C34EB487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1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1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3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73442AC-0760-406B-B3A3-79414F4C0F4F}" type="datetimeFigureOut">
              <a:rPr lang="en-IN" smtClean="0"/>
              <a:pPr/>
              <a:t>30-08-2025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424B7A-5E86-4AF7-8507-774D49BA58F5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3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416" y="2124456"/>
            <a:ext cx="10769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/>
              <a:t>Ecosystem</a:t>
            </a:r>
            <a:r>
              <a:rPr lang="en-US" sz="3200" b="1" dirty="0"/>
              <a:t>	</a:t>
            </a:r>
          </a:p>
          <a:p>
            <a:pPr algn="ctr">
              <a:defRPr/>
            </a:pPr>
            <a:r>
              <a:rPr lang="en-US" dirty="0"/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200" y="525780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en-US" b="1" dirty="0" smtClean="0">
                <a:latin typeface="Comic Sans MS" pitchFamily="66" charset="0"/>
              </a:rPr>
              <a:t>Prepared by; Dr  </a:t>
            </a:r>
            <a:r>
              <a:rPr lang="en-US" altLang="en-US" b="1" dirty="0" err="1" smtClean="0">
                <a:latin typeface="Comic Sans MS" pitchFamily="66" charset="0"/>
              </a:rPr>
              <a:t>Naresh</a:t>
            </a:r>
            <a:r>
              <a:rPr lang="en-US" altLang="en-US" b="1" dirty="0" smtClean="0">
                <a:latin typeface="Comic Sans MS" pitchFamily="66" charset="0"/>
              </a:rPr>
              <a:t> Kumar </a:t>
            </a:r>
            <a:r>
              <a:rPr lang="en-US" altLang="en-US" b="1" dirty="0" err="1" smtClean="0">
                <a:latin typeface="Comic Sans MS" pitchFamily="66" charset="0"/>
              </a:rPr>
              <a:t>Sahoo</a:t>
            </a:r>
            <a:endParaRPr lang="en-US" altLang="en-US" b="1" dirty="0" smtClean="0">
              <a:latin typeface="Comic Sans MS" pitchFamily="66" charset="0"/>
            </a:endParaRPr>
          </a:p>
          <a:p>
            <a:pPr algn="just"/>
            <a:r>
              <a:rPr lang="en-US" altLang="en-US" b="1" dirty="0" smtClean="0">
                <a:latin typeface="Comic Sans MS" pitchFamily="66" charset="0"/>
              </a:rPr>
              <a:t>Department: Chemistry</a:t>
            </a:r>
          </a:p>
          <a:p>
            <a:pPr algn="just"/>
            <a:r>
              <a:rPr lang="en-US" altLang="en-US" b="1" dirty="0" smtClean="0">
                <a:latin typeface="Comic Sans MS" pitchFamily="66" charset="0"/>
              </a:rPr>
              <a:t>Subject: </a:t>
            </a:r>
            <a:r>
              <a:rPr lang="en-US" altLang="en-US" b="1" dirty="0">
                <a:latin typeface="Comic Sans MS" pitchFamily="66" charset="0"/>
              </a:rPr>
              <a:t>MTES (CHM </a:t>
            </a:r>
            <a:r>
              <a:rPr lang="en-US" altLang="en-US" b="1" dirty="0" smtClean="0">
                <a:latin typeface="Comic Sans MS" pitchFamily="66" charset="0"/>
              </a:rPr>
              <a:t>2049</a:t>
            </a:r>
            <a:r>
              <a:rPr lang="en-US" altLang="en-US" b="1" dirty="0" smtClean="0">
                <a:latin typeface="Comic Sans MS" pitchFamily="66" charset="0"/>
              </a:rPr>
              <a:t>)</a:t>
            </a:r>
            <a:endParaRPr lang="en-US" altLang="en-US" b="1" dirty="0" smtClean="0">
              <a:latin typeface="Comic Sans MS" pitchFamily="66" charset="0"/>
            </a:endParaRPr>
          </a:p>
        </p:txBody>
      </p:sp>
      <p:pic>
        <p:nvPicPr>
          <p:cNvPr id="6" name="im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53602" y="76200"/>
            <a:ext cx="2019300" cy="2026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438400" y="7620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 smtClean="0">
                <a:solidFill>
                  <a:srgbClr val="D32BE5"/>
                </a:solidFill>
              </a:rPr>
              <a:t>(Management Topic in Environmental </a:t>
            </a:r>
            <a:r>
              <a:rPr lang="en-US" sz="2400" b="1" dirty="0">
                <a:solidFill>
                  <a:srgbClr val="D32BE5"/>
                </a:solidFill>
              </a:rPr>
              <a:t>Studies) B. Tech  </a:t>
            </a:r>
            <a:r>
              <a:rPr lang="en-US" sz="2400" b="1" dirty="0" smtClean="0">
                <a:solidFill>
                  <a:srgbClr val="D32BE5"/>
                </a:solidFill>
              </a:rPr>
              <a:t>7</a:t>
            </a:r>
            <a:r>
              <a:rPr lang="en-US" sz="2400" b="1" baseline="30000" dirty="0" smtClean="0">
                <a:solidFill>
                  <a:srgbClr val="D32BE5"/>
                </a:solidFill>
              </a:rPr>
              <a:t>TH</a:t>
            </a:r>
            <a:r>
              <a:rPr lang="en-US" sz="2400" b="1" dirty="0" smtClean="0">
                <a:solidFill>
                  <a:srgbClr val="D32BE5"/>
                </a:solidFill>
              </a:rPr>
              <a:t>  </a:t>
            </a:r>
            <a:r>
              <a:rPr lang="en-US" sz="2400" b="1" dirty="0">
                <a:solidFill>
                  <a:srgbClr val="D32BE5"/>
                </a:solidFill>
              </a:rPr>
              <a:t>Semester</a:t>
            </a:r>
            <a:endParaRPr lang="en-US" sz="2400" dirty="0"/>
          </a:p>
          <a:p>
            <a:pPr algn="ctr">
              <a:defRPr/>
            </a:pP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0C6F2FF-6AB3-4390-8E6E-7F72475DA7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8" t="15651" r="1673" b="26716"/>
          <a:stretch/>
        </p:blipFill>
        <p:spPr>
          <a:xfrm>
            <a:off x="5806972" y="4278702"/>
            <a:ext cx="4191174" cy="2341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3456" y="68580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C22D0"/>
                </a:solidFill>
              </a:rPr>
              <a:t>Topic to be discussed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752" y="1414272"/>
            <a:ext cx="10972800" cy="4389120"/>
          </a:xfrm>
        </p:spPr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Types of ecosystem </a:t>
            </a:r>
          </a:p>
          <a:p>
            <a:r>
              <a:rPr lang="en-US" dirty="0" smtClean="0"/>
              <a:t>Structure of ecosystem</a:t>
            </a:r>
          </a:p>
          <a:p>
            <a:r>
              <a:rPr lang="en-US" dirty="0" smtClean="0"/>
              <a:t>Function of ecosystem</a:t>
            </a:r>
          </a:p>
          <a:p>
            <a:r>
              <a:rPr lang="en-US" dirty="0" smtClean="0"/>
              <a:t>Food chain and Food web</a:t>
            </a:r>
          </a:p>
          <a:p>
            <a:r>
              <a:rPr lang="en-US" dirty="0" smtClean="0"/>
              <a:t>Energy flow in a ecosystem</a:t>
            </a:r>
          </a:p>
          <a:p>
            <a:r>
              <a:rPr lang="en-US" dirty="0" smtClean="0"/>
              <a:t>Primary production and secondary production</a:t>
            </a:r>
          </a:p>
          <a:p>
            <a:r>
              <a:rPr lang="en-US" dirty="0" smtClean="0"/>
              <a:t> </a:t>
            </a:r>
            <a:r>
              <a:rPr lang="en-IN" dirty="0" smtClean="0"/>
              <a:t>Ecological Pyramids</a:t>
            </a:r>
          </a:p>
          <a:p>
            <a:r>
              <a:rPr lang="en-IN" dirty="0" smtClean="0"/>
              <a:t>Nutrient flow, Nitrogen cycle, carbon cycle, hydrological cycle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8912" y="962120"/>
            <a:ext cx="102778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The term Ecology was coined by </a:t>
            </a:r>
            <a:r>
              <a:rPr lang="en-US" sz="2000" dirty="0" err="1" smtClean="0"/>
              <a:t>Earnst</a:t>
            </a:r>
            <a:r>
              <a:rPr lang="en-US" sz="2000" dirty="0" smtClean="0"/>
              <a:t> Haeckel in 1869.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 It is derived from the Greek words </a:t>
            </a:r>
            <a:r>
              <a:rPr lang="en-US" sz="2000" dirty="0" err="1" smtClean="0">
                <a:solidFill>
                  <a:srgbClr val="7030A0"/>
                </a:solidFill>
              </a:rPr>
              <a:t>Oikos</a:t>
            </a:r>
            <a:r>
              <a:rPr lang="en-US" sz="2000" dirty="0" smtClean="0">
                <a:solidFill>
                  <a:srgbClr val="7030A0"/>
                </a:solidFill>
              </a:rPr>
              <a:t>- home </a:t>
            </a:r>
            <a:r>
              <a:rPr lang="en-US" sz="2000" dirty="0" smtClean="0"/>
              <a:t>+  </a:t>
            </a:r>
            <a:r>
              <a:rPr lang="en-US" sz="2000" dirty="0" smtClean="0">
                <a:solidFill>
                  <a:srgbClr val="00B050"/>
                </a:solidFill>
              </a:rPr>
              <a:t>logos- study</a:t>
            </a:r>
            <a:r>
              <a:rPr lang="en-US" sz="2000" dirty="0" smtClean="0"/>
              <a:t>. So ecology deals with the </a:t>
            </a:r>
            <a:r>
              <a:rPr lang="en-US" sz="2000" dirty="0" smtClean="0">
                <a:solidFill>
                  <a:srgbClr val="3824CC"/>
                </a:solidFill>
              </a:rPr>
              <a:t>study of organisms in their natural home and </a:t>
            </a:r>
            <a:r>
              <a:rPr lang="en-US" sz="2000" dirty="0" smtClean="0">
                <a:solidFill>
                  <a:srgbClr val="FF0000"/>
                </a:solidFill>
              </a:rPr>
              <a:t>interacting with their surroundings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FF0000"/>
                </a:solidFill>
              </a:rPr>
              <a:t>According to </a:t>
            </a:r>
            <a:r>
              <a:rPr lang="en-US" sz="2000" dirty="0" err="1" smtClean="0">
                <a:solidFill>
                  <a:srgbClr val="FF0000"/>
                </a:solidFill>
              </a:rPr>
              <a:t>Tansley</a:t>
            </a:r>
            <a:r>
              <a:rPr lang="en-US" sz="2000" dirty="0" smtClean="0">
                <a:solidFill>
                  <a:srgbClr val="FF0000"/>
                </a:solidFill>
              </a:rPr>
              <a:t> (1935): </a:t>
            </a:r>
            <a:r>
              <a:rPr lang="en-US" sz="2000" dirty="0" smtClean="0"/>
              <a:t>An ecosystem is a group of biotic communities of species interacting with one another and with their non-living environment exchanging energy and matter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="" xmlns:a16="http://schemas.microsoft.com/office/drawing/2014/main" id="{50DD9F36-9B49-47B0-AA21-99567E987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2" b="42589"/>
          <a:stretch/>
        </p:blipFill>
        <p:spPr>
          <a:xfrm>
            <a:off x="209746" y="3825437"/>
            <a:ext cx="6648254" cy="1849049"/>
          </a:xfrm>
        </p:spPr>
      </p:pic>
      <p:sp>
        <p:nvSpPr>
          <p:cNvPr id="8" name="TextBox 7"/>
          <p:cNvSpPr txBox="1"/>
          <p:nvPr/>
        </p:nvSpPr>
        <p:spPr>
          <a:xfrm>
            <a:off x="2505456" y="137160"/>
            <a:ext cx="7415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Ecology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NARESH\Desktop\Ecosystem\ppt-on-ecosystem-6-638.jpg"/>
          <p:cNvPicPr>
            <a:picLocks noChangeAspect="1" noChangeArrowheads="1"/>
          </p:cNvPicPr>
          <p:nvPr/>
        </p:nvPicPr>
        <p:blipFill>
          <a:blip r:embed="rId3"/>
          <a:srcRect t="32568" b="10021"/>
          <a:stretch>
            <a:fillRect/>
          </a:stretch>
        </p:blipFill>
        <p:spPr bwMode="auto">
          <a:xfrm>
            <a:off x="6835087" y="3566406"/>
            <a:ext cx="5303122" cy="22857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604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-384048"/>
            <a:ext cx="109728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Structure of Ecosystem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NARESH\Desktop\unnamed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b="6977"/>
          <a:stretch>
            <a:fillRect/>
          </a:stretch>
        </p:blipFill>
        <p:spPr bwMode="auto">
          <a:xfrm>
            <a:off x="1316736" y="758952"/>
            <a:ext cx="9948672" cy="5542797"/>
          </a:xfrm>
          <a:prstGeom prst="rect">
            <a:avLst/>
          </a:prstGeom>
          <a:noFill/>
        </p:spPr>
      </p:pic>
      <p:grpSp>
        <p:nvGrpSpPr>
          <p:cNvPr id="3" name="Group 8"/>
          <p:cNvGrpSpPr/>
          <p:nvPr/>
        </p:nvGrpSpPr>
        <p:grpSpPr>
          <a:xfrm>
            <a:off x="3319272" y="5925312"/>
            <a:ext cx="8522208" cy="677180"/>
            <a:chOff x="3319272" y="5925312"/>
            <a:chExt cx="8522208" cy="677180"/>
          </a:xfrm>
        </p:grpSpPr>
        <p:sp>
          <p:nvSpPr>
            <p:cNvPr id="5" name="TextBox 4"/>
            <p:cNvSpPr txBox="1"/>
            <p:nvPr/>
          </p:nvSpPr>
          <p:spPr>
            <a:xfrm>
              <a:off x="3319272" y="5925312"/>
              <a:ext cx="213994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Cow, elephant, deer</a:t>
              </a:r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263896" y="6233160"/>
              <a:ext cx="231723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Frog, Dog, Cat, Jackal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592569" y="6217920"/>
              <a:ext cx="199034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Lion, Tiger, Hawk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10345" y="5967984"/>
              <a:ext cx="2231135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Cockroach, Human </a:t>
              </a:r>
              <a:endParaRPr lang="en-US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9144001" y="3060192"/>
            <a:ext cx="187147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Parasite, </a:t>
            </a:r>
          </a:p>
          <a:p>
            <a:r>
              <a:rPr lang="en-US" dirty="0" smtClean="0"/>
              <a:t>Malaria parasite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78753" y="2377440"/>
            <a:ext cx="7376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0081" y="896112"/>
            <a:ext cx="219151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Living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7" y="856488"/>
            <a:ext cx="26060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Non-Living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16552"/>
            <a:ext cx="2715615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dirty="0" smtClean="0"/>
              <a:t>Organic &amp; inorganic</a:t>
            </a:r>
          </a:p>
          <a:p>
            <a:pPr algn="just"/>
            <a:r>
              <a:rPr lang="en-US" dirty="0" smtClean="0"/>
              <a:t>Protein, fat, carbohydrate</a:t>
            </a:r>
          </a:p>
          <a:p>
            <a:pPr algn="just"/>
            <a:r>
              <a:rPr lang="en-US" dirty="0" smtClean="0"/>
              <a:t>Minerals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721608" y="6281928"/>
            <a:ext cx="155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baseline="30000" dirty="0" smtClean="0">
                <a:solidFill>
                  <a:srgbClr val="FF0000"/>
                </a:solidFill>
              </a:rPr>
              <a:t>st</a:t>
            </a:r>
            <a:r>
              <a:rPr lang="en-US" dirty="0" smtClean="0">
                <a:solidFill>
                  <a:srgbClr val="FF0000"/>
                </a:solidFill>
              </a:rPr>
              <a:t> tropic 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1952" y="6527030"/>
            <a:ext cx="183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 smtClean="0">
                <a:solidFill>
                  <a:srgbClr val="FF0000"/>
                </a:solidFill>
              </a:rPr>
              <a:t>nd</a:t>
            </a:r>
            <a:r>
              <a:rPr lang="en-US" dirty="0" smtClean="0">
                <a:solidFill>
                  <a:srgbClr val="FF0000"/>
                </a:solidFill>
              </a:rPr>
              <a:t> tropic 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37704" y="6488668"/>
            <a:ext cx="183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baseline="30000" dirty="0" smtClean="0">
                <a:solidFill>
                  <a:srgbClr val="FF0000"/>
                </a:solidFill>
              </a:rPr>
              <a:t>rd</a:t>
            </a:r>
            <a:r>
              <a:rPr lang="en-US" dirty="0" smtClean="0">
                <a:solidFill>
                  <a:srgbClr val="FF0000"/>
                </a:solidFill>
              </a:rPr>
              <a:t> tropic 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29216" y="6314932"/>
            <a:ext cx="183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baseline="30000" dirty="0" smtClean="0">
                <a:solidFill>
                  <a:srgbClr val="FF0000"/>
                </a:solidFill>
              </a:rPr>
              <a:t>th</a:t>
            </a:r>
            <a:r>
              <a:rPr lang="en-US" dirty="0" smtClean="0">
                <a:solidFill>
                  <a:srgbClr val="FF0000"/>
                </a:solidFill>
              </a:rPr>
              <a:t> tropic 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46849" y="1655064"/>
            <a:ext cx="1871472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Macro-consumer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32137" y="1761744"/>
            <a:ext cx="1517903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Micro-consumer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" y="2578608"/>
            <a:ext cx="3331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 </a:t>
            </a:r>
            <a:r>
              <a:rPr lang="en-US" dirty="0" smtClean="0">
                <a:solidFill>
                  <a:srgbClr val="FF0000"/>
                </a:solidFill>
              </a:rPr>
              <a:t>Atmosphere   2. Hydrosphere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25368" y="2346960"/>
            <a:ext cx="165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3. </a:t>
            </a:r>
            <a:r>
              <a:rPr lang="en-US" dirty="0" smtClean="0">
                <a:solidFill>
                  <a:srgbClr val="FF0000"/>
                </a:solidFill>
              </a:rPr>
              <a:t>Lithosphere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8" y="-182880"/>
            <a:ext cx="109728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Types of Ecosystem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NARESH\Desktop\811005fe09974cfa6f7ef3de0b8f202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9809" y="822960"/>
            <a:ext cx="10405872" cy="58338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584" y="975360"/>
            <a:ext cx="10972800" cy="43891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The  major  functional of  ecosystems are as follows:</a:t>
            </a:r>
          </a:p>
          <a:p>
            <a:r>
              <a:rPr lang="en-US" dirty="0" smtClean="0"/>
              <a:t>(</a:t>
            </a:r>
            <a:r>
              <a:rPr lang="en-US" dirty="0" err="1" smtClean="0">
                <a:solidFill>
                  <a:srgbClr val="7030A0"/>
                </a:solidFill>
              </a:rPr>
              <a:t>i</a:t>
            </a:r>
            <a:r>
              <a:rPr lang="en-US" dirty="0" smtClean="0">
                <a:solidFill>
                  <a:srgbClr val="7030A0"/>
                </a:solidFill>
              </a:rPr>
              <a:t>)Primary function</a:t>
            </a:r>
            <a:r>
              <a:rPr lang="en-US" dirty="0" smtClean="0"/>
              <a:t>: Photosynthesis</a:t>
            </a:r>
          </a:p>
          <a:p>
            <a:r>
              <a:rPr lang="en-US" dirty="0" smtClean="0"/>
              <a:t>ii) </a:t>
            </a:r>
            <a:r>
              <a:rPr lang="en-US" dirty="0" smtClean="0">
                <a:solidFill>
                  <a:srgbClr val="7030A0"/>
                </a:solidFill>
              </a:rPr>
              <a:t>Secondary function</a:t>
            </a:r>
            <a:r>
              <a:rPr lang="en-US" dirty="0" smtClean="0"/>
              <a:t>: Transfer of energy  (Energy flow) to all consumer</a:t>
            </a:r>
          </a:p>
          <a:p>
            <a:r>
              <a:rPr lang="en-US" dirty="0" smtClean="0"/>
              <a:t>Iii) </a:t>
            </a:r>
            <a:r>
              <a:rPr lang="en-US" dirty="0" smtClean="0">
                <a:solidFill>
                  <a:srgbClr val="7030A0"/>
                </a:solidFill>
              </a:rPr>
              <a:t>Tertiary function</a:t>
            </a:r>
            <a:r>
              <a:rPr lang="en-US" dirty="0" smtClean="0"/>
              <a:t>: Food chain, food webs and </a:t>
            </a:r>
            <a:r>
              <a:rPr lang="en-US" dirty="0" err="1" smtClean="0"/>
              <a:t>trophic</a:t>
            </a:r>
            <a:r>
              <a:rPr lang="en-US" dirty="0" smtClean="0"/>
              <a:t> structure</a:t>
            </a:r>
          </a:p>
          <a:p>
            <a:r>
              <a:rPr lang="en-US" dirty="0" smtClean="0"/>
              <a:t>(ii) Nutrients flow (Biogeochemical cycles)</a:t>
            </a:r>
          </a:p>
          <a:p>
            <a:r>
              <a:rPr lang="en-US" dirty="0" smtClean="0"/>
              <a:t>(iii) Primary and Secondary production</a:t>
            </a:r>
          </a:p>
          <a:p>
            <a:r>
              <a:rPr lang="en-US" dirty="0" smtClean="0"/>
              <a:t>(iv) Ecosystem development and regulation</a:t>
            </a:r>
          </a:p>
          <a:p>
            <a:r>
              <a:rPr lang="en-US" dirty="0" smtClean="0"/>
              <a:t>(v) Control species gradient</a:t>
            </a:r>
          </a:p>
          <a:p>
            <a:r>
              <a:rPr lang="en-US" dirty="0" smtClean="0"/>
              <a:t>(vi) Pollution control such as CO2 by plant, Nitrogen fixation by </a:t>
            </a:r>
            <a:r>
              <a:rPr lang="en-US" i="1" dirty="0" err="1" smtClean="0"/>
              <a:t>Rhizobium</a:t>
            </a:r>
            <a:r>
              <a:rPr lang="en-US" dirty="0" smtClean="0"/>
              <a:t> bacteria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8216" y="171950"/>
            <a:ext cx="8090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</a:rPr>
              <a:t>Function of Ecosystem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1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76D72E-1076-4210-95F6-2BEBB1E8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0"/>
            <a:ext cx="10326624" cy="822960"/>
          </a:xfrm>
        </p:spPr>
        <p:txBody>
          <a:bodyPr>
            <a:normAutofit/>
          </a:bodyPr>
          <a:lstStyle/>
          <a:p>
            <a:pPr algn="ctr"/>
            <a:r>
              <a:rPr lang="en-IN" sz="4000" dirty="0" smtClean="0">
                <a:solidFill>
                  <a:srgbClr val="FF0000"/>
                </a:solidFill>
              </a:rPr>
              <a:t>Food Chains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749808"/>
            <a:ext cx="117568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Food chain</a:t>
            </a:r>
            <a:r>
              <a:rPr lang="en-US" sz="2400" dirty="0" smtClean="0"/>
              <a:t>: Transfer of food energy/ chemical energy from producer/plant to higher</a:t>
            </a:r>
          </a:p>
          <a:p>
            <a:r>
              <a:rPr lang="en-US" sz="2400" dirty="0" smtClean="0"/>
              <a:t> successive tropic level  by eating and being eaten. </a:t>
            </a:r>
          </a:p>
          <a:p>
            <a:endParaRPr lang="en-US" sz="2400" dirty="0"/>
          </a:p>
        </p:txBody>
      </p:sp>
      <p:pic>
        <p:nvPicPr>
          <p:cNvPr id="7" name="Picture 2" descr="C:\Users\NARESH\Desktop\Ecosystem\maxresdefault.jpg"/>
          <p:cNvPicPr>
            <a:picLocks noChangeAspect="1" noChangeArrowheads="1"/>
          </p:cNvPicPr>
          <p:nvPr/>
        </p:nvPicPr>
        <p:blipFill>
          <a:blip r:embed="rId2"/>
          <a:srcRect l="938" t="20000" r="938" b="28333"/>
          <a:stretch>
            <a:fillRect/>
          </a:stretch>
        </p:blipFill>
        <p:spPr bwMode="auto">
          <a:xfrm>
            <a:off x="773175" y="1974028"/>
            <a:ext cx="9550801" cy="2828638"/>
          </a:xfrm>
          <a:prstGeom prst="rect">
            <a:avLst/>
          </a:prstGeom>
          <a:noFill/>
        </p:spPr>
      </p:pic>
      <p:pic>
        <p:nvPicPr>
          <p:cNvPr id="19458" name="Picture 2" descr="vulture | Characteristics, Species, &amp; Facts | Britannic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27077">
            <a:off x="8762131" y="2221991"/>
            <a:ext cx="3249933" cy="26060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95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316759-DA42-45D4-9E07-D3506A76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68" y="539496"/>
            <a:ext cx="10180320" cy="60350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</a:t>
            </a:r>
            <a:r>
              <a:rPr lang="en-IN" dirty="0" smtClean="0">
                <a:solidFill>
                  <a:srgbClr val="FF0000"/>
                </a:solidFill>
              </a:rPr>
              <a:t>Types of Food Chains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Picture 2" descr="C:\Users\NARESH\Desktop\nature-food-chains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6689" y="1963865"/>
            <a:ext cx="8975407" cy="454094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060704" y="1298448"/>
            <a:ext cx="943687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Types of Food Chain</a:t>
            </a:r>
          </a:p>
          <a:p>
            <a:r>
              <a:rPr lang="en-US" dirty="0" err="1" smtClean="0">
                <a:solidFill>
                  <a:srgbClr val="7030A0"/>
                </a:solidFill>
              </a:rPr>
              <a:t>i</a:t>
            </a:r>
            <a:r>
              <a:rPr lang="en-US" dirty="0" smtClean="0">
                <a:solidFill>
                  <a:srgbClr val="7030A0"/>
                </a:solidFill>
              </a:rPr>
              <a:t>) </a:t>
            </a:r>
            <a:r>
              <a:rPr lang="en-US" b="1" dirty="0" smtClean="0">
                <a:solidFill>
                  <a:srgbClr val="7030A0"/>
                </a:solidFill>
              </a:rPr>
              <a:t>Grazing/ predator food chain</a:t>
            </a:r>
            <a:r>
              <a:rPr lang="en-US" dirty="0" smtClean="0"/>
              <a:t>: Food chain Start with grazing or killing as shown in figure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08576" y="5660136"/>
            <a:ext cx="166366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Phytoplankton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55336" y="5108448"/>
            <a:ext cx="146847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Zooplankton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04232" y="4639056"/>
            <a:ext cx="11669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Small fish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2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0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Types of Food Chains</a:t>
            </a:r>
            <a:endParaRPr lang="en-US" dirty="0"/>
          </a:p>
        </p:txBody>
      </p:sp>
      <p:pic>
        <p:nvPicPr>
          <p:cNvPr id="4099" name="Picture 3" descr="C:\Users\NARESH\Desktop\images.jpg"/>
          <p:cNvPicPr>
            <a:picLocks noChangeAspect="1" noChangeArrowheads="1"/>
          </p:cNvPicPr>
          <p:nvPr/>
        </p:nvPicPr>
        <p:blipFill>
          <a:blip r:embed="rId2"/>
          <a:srcRect r="3774" b="30189"/>
          <a:stretch>
            <a:fillRect/>
          </a:stretch>
        </p:blipFill>
        <p:spPr bwMode="auto">
          <a:xfrm>
            <a:off x="234696" y="1720787"/>
            <a:ext cx="7089648" cy="2442714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09728" y="5166360"/>
            <a:ext cx="7429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iii) </a:t>
            </a:r>
            <a:r>
              <a:rPr lang="en-US" sz="2000" b="1" dirty="0" smtClean="0">
                <a:solidFill>
                  <a:srgbClr val="7030A0"/>
                </a:solidFill>
              </a:rPr>
              <a:t>Parasitic Food Chain</a:t>
            </a:r>
            <a:r>
              <a:rPr lang="en-US" sz="2000" dirty="0" smtClean="0"/>
              <a:t>: Parasite is taking food from living host</a:t>
            </a:r>
            <a:endParaRPr lang="en-US" sz="2000" dirty="0"/>
          </a:p>
        </p:txBody>
      </p:sp>
      <p:pic>
        <p:nvPicPr>
          <p:cNvPr id="4100" name="Picture 4" descr="C:\Users\NARESH\Desktop\download (2).jp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744969" y="324135"/>
            <a:ext cx="4242816" cy="3178017"/>
          </a:xfrm>
          <a:prstGeom prst="rect">
            <a:avLst/>
          </a:prstGeom>
          <a:noFill/>
        </p:spPr>
      </p:pic>
      <p:pic>
        <p:nvPicPr>
          <p:cNvPr id="4101" name="Picture 5" descr="C:\Users\NARESH\Desktop\1122667_696458_ans_af7c7e686f3d43e2afa4dc7e9bb1aa3d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87837" y="3566160"/>
            <a:ext cx="4636523" cy="3136140"/>
          </a:xfrm>
          <a:prstGeom prst="rect">
            <a:avLst/>
          </a:prstGeom>
          <a:noFill/>
        </p:spPr>
      </p:pic>
      <p:grpSp>
        <p:nvGrpSpPr>
          <p:cNvPr id="28" name="Group 27"/>
          <p:cNvGrpSpPr/>
          <p:nvPr/>
        </p:nvGrpSpPr>
        <p:grpSpPr>
          <a:xfrm>
            <a:off x="128016" y="5593080"/>
            <a:ext cx="7605330" cy="421148"/>
            <a:chOff x="621792" y="6150864"/>
            <a:chExt cx="7605330" cy="421148"/>
          </a:xfrm>
        </p:grpSpPr>
        <p:sp>
          <p:nvSpPr>
            <p:cNvPr id="16" name="TextBox 15"/>
            <p:cNvSpPr txBox="1"/>
            <p:nvPr/>
          </p:nvSpPr>
          <p:spPr>
            <a:xfrm>
              <a:off x="621792" y="6199632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Plant</a:t>
              </a:r>
              <a:endParaRPr lang="en-US" dirty="0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1371600" y="6150864"/>
              <a:ext cx="6855522" cy="421148"/>
              <a:chOff x="1371600" y="6150864"/>
              <a:chExt cx="6855522" cy="421148"/>
            </a:xfrm>
          </p:grpSpPr>
          <p:sp>
            <p:nvSpPr>
              <p:cNvPr id="17" name="Right Arrow 16"/>
              <p:cNvSpPr/>
              <p:nvPr/>
            </p:nvSpPr>
            <p:spPr>
              <a:xfrm>
                <a:off x="1371600" y="6345936"/>
                <a:ext cx="512064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1920240" y="6150864"/>
                <a:ext cx="6306882" cy="421148"/>
                <a:chOff x="1920240" y="6150864"/>
                <a:chExt cx="6306882" cy="421148"/>
              </a:xfrm>
            </p:grpSpPr>
            <p:sp>
              <p:nvSpPr>
                <p:cNvPr id="18" name="TextBox 17"/>
                <p:cNvSpPr txBox="1"/>
                <p:nvPr/>
              </p:nvSpPr>
              <p:spPr>
                <a:xfrm>
                  <a:off x="1920240" y="6181344"/>
                  <a:ext cx="18063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Fruit eating bird</a:t>
                  </a:r>
                  <a:endParaRPr lang="en-US" dirty="0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3727704" y="6150864"/>
                  <a:ext cx="4499418" cy="421148"/>
                  <a:chOff x="3727704" y="6150864"/>
                  <a:chExt cx="4499418" cy="421148"/>
                </a:xfrm>
              </p:grpSpPr>
              <p:sp>
                <p:nvSpPr>
                  <p:cNvPr id="19" name="Right Arrow 18"/>
                  <p:cNvSpPr/>
                  <p:nvPr/>
                </p:nvSpPr>
                <p:spPr>
                  <a:xfrm>
                    <a:off x="3727704" y="6333744"/>
                    <a:ext cx="512064" cy="45719"/>
                  </a:xfrm>
                  <a:prstGeom prst="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4" name="Group 23"/>
                  <p:cNvGrpSpPr/>
                  <p:nvPr/>
                </p:nvGrpSpPr>
                <p:grpSpPr>
                  <a:xfrm>
                    <a:off x="4386072" y="6150864"/>
                    <a:ext cx="3841050" cy="421148"/>
                    <a:chOff x="4386072" y="6150864"/>
                    <a:chExt cx="3841050" cy="421148"/>
                  </a:xfrm>
                </p:grpSpPr>
                <p:sp>
                  <p:nvSpPr>
                    <p:cNvPr id="20" name="TextBox 19"/>
                    <p:cNvSpPr txBox="1"/>
                    <p:nvPr/>
                  </p:nvSpPr>
                  <p:spPr>
                    <a:xfrm>
                      <a:off x="4386072" y="6150864"/>
                      <a:ext cx="145770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 smtClean="0"/>
                        <a:t>Lice and Bug</a:t>
                      </a:r>
                      <a:endParaRPr lang="en-US" dirty="0"/>
                    </a:p>
                  </p:txBody>
                </p:sp>
                <p:grpSp>
                  <p:nvGrpSpPr>
                    <p:cNvPr id="23" name="Group 22"/>
                    <p:cNvGrpSpPr/>
                    <p:nvPr/>
                  </p:nvGrpSpPr>
                  <p:grpSpPr>
                    <a:xfrm>
                      <a:off x="5846064" y="6202680"/>
                      <a:ext cx="2381058" cy="369332"/>
                      <a:chOff x="5846064" y="6202680"/>
                      <a:chExt cx="2381058" cy="369332"/>
                    </a:xfrm>
                  </p:grpSpPr>
                  <p:sp>
                    <p:nvSpPr>
                      <p:cNvPr id="21" name="Right Arrow 20"/>
                      <p:cNvSpPr/>
                      <p:nvPr/>
                    </p:nvSpPr>
                    <p:spPr>
                      <a:xfrm>
                        <a:off x="5846064" y="6367272"/>
                        <a:ext cx="512064" cy="45719"/>
                      </a:xfrm>
                      <a:prstGeom prst="rightArrow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2" name="TextBox 21"/>
                      <p:cNvSpPr txBox="1"/>
                      <p:nvPr/>
                    </p:nvSpPr>
                    <p:spPr>
                      <a:xfrm>
                        <a:off x="6513576" y="6202680"/>
                        <a:ext cx="171354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 smtClean="0"/>
                          <a:t>Bacteria/ Fungi</a:t>
                        </a:r>
                        <a:endParaRPr lang="en-US" dirty="0"/>
                      </a:p>
                    </p:txBody>
                  </p:sp>
                </p:grpSp>
              </p:grpSp>
            </p:grpSp>
          </p:grpSp>
        </p:grpSp>
      </p:grpSp>
      <p:sp>
        <p:nvSpPr>
          <p:cNvPr id="29" name="TextBox 28"/>
          <p:cNvSpPr txBox="1"/>
          <p:nvPr/>
        </p:nvSpPr>
        <p:spPr>
          <a:xfrm>
            <a:off x="475488" y="1261872"/>
            <a:ext cx="725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ii) </a:t>
            </a:r>
            <a:r>
              <a:rPr lang="en-US" sz="2000" b="1" dirty="0" smtClean="0">
                <a:solidFill>
                  <a:srgbClr val="7030A0"/>
                </a:solidFill>
              </a:rPr>
              <a:t>Detritus Food chain: </a:t>
            </a:r>
            <a:r>
              <a:rPr lang="en-US" sz="2000" dirty="0" smtClean="0"/>
              <a:t>Start with dead and decaying material </a:t>
            </a:r>
            <a:endParaRPr lang="en-US" sz="2000" dirty="0"/>
          </a:p>
        </p:txBody>
      </p:sp>
      <p:pic>
        <p:nvPicPr>
          <p:cNvPr id="4102" name="Picture 6" descr="C:\Users\NARESH\Desktop\download.jpg"/>
          <p:cNvPicPr>
            <a:picLocks noChangeAspect="1" noChangeArrowheads="1"/>
          </p:cNvPicPr>
          <p:nvPr/>
        </p:nvPicPr>
        <p:blipFill>
          <a:blip r:embed="rId5"/>
          <a:srcRect t="24889"/>
          <a:stretch>
            <a:fillRect/>
          </a:stretch>
        </p:blipFill>
        <p:spPr bwMode="auto">
          <a:xfrm>
            <a:off x="1329500" y="4178809"/>
            <a:ext cx="4650675" cy="9418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DCAA59-817C-4F02-85A8-23F45C89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020" y="-420624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                          </a:t>
            </a:r>
            <a:r>
              <a:rPr lang="en-IN" sz="4800" dirty="0" smtClean="0">
                <a:solidFill>
                  <a:srgbClr val="FF0000"/>
                </a:solidFill>
              </a:rPr>
              <a:t>Food web</a:t>
            </a:r>
            <a:endParaRPr lang="en-IN" sz="48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89760"/>
            <a:ext cx="11950579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>
                <a:solidFill>
                  <a:srgbClr val="7030A0"/>
                </a:solidFill>
              </a:rPr>
              <a:t>Food web: </a:t>
            </a:r>
            <a:r>
              <a:rPr lang="en-US" sz="2000" dirty="0" smtClean="0"/>
              <a:t>The interconnection of different types of food chain  in a ecosystem by different types of organisms at different tropic levels, forming a web like structure collected Food web. Where different types of organisms are connected at different tropic levels</a:t>
            </a:r>
            <a:endParaRPr lang="en-US" sz="2000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="" xmlns:a16="http://schemas.microsoft.com/office/drawing/2014/main" id="{16678A14-9FE0-475E-BA8E-E0143429D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4" t="7516" r="7524" b="12526"/>
          <a:stretch/>
        </p:blipFill>
        <p:spPr>
          <a:xfrm>
            <a:off x="395208" y="2159567"/>
            <a:ext cx="7311742" cy="4371715"/>
          </a:xfrm>
        </p:spPr>
      </p:pic>
      <p:cxnSp>
        <p:nvCxnSpPr>
          <p:cNvPr id="10" name="Elbow Connector 9"/>
          <p:cNvCxnSpPr/>
          <p:nvPr/>
        </p:nvCxnSpPr>
        <p:spPr>
          <a:xfrm>
            <a:off x="3017520" y="4910328"/>
            <a:ext cx="2112264" cy="62179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5400000" flipH="1" flipV="1">
            <a:off x="4485132" y="3534156"/>
            <a:ext cx="566928" cy="2286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5248656" y="4297680"/>
            <a:ext cx="1014984" cy="23774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8430768" y="3941064"/>
            <a:ext cx="2926078" cy="795528"/>
            <a:chOff x="8430769" y="3941064"/>
            <a:chExt cx="2898985" cy="795528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8430769" y="3941064"/>
              <a:ext cx="1463040" cy="70408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9482328" y="4050792"/>
              <a:ext cx="1847426" cy="685800"/>
              <a:chOff x="9482328" y="4050792"/>
              <a:chExt cx="1847426" cy="685800"/>
            </a:xfrm>
          </p:grpSpPr>
          <p:cxnSp>
            <p:nvCxnSpPr>
              <p:cNvPr id="17" name="Elbow Connector 16"/>
              <p:cNvCxnSpPr/>
              <p:nvPr/>
            </p:nvCxnSpPr>
            <p:spPr>
              <a:xfrm rot="5400000" flipH="1" flipV="1">
                <a:off x="9422892" y="4155948"/>
                <a:ext cx="640080" cy="521208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/>
              <p:nvPr/>
            </p:nvCxnSpPr>
            <p:spPr>
              <a:xfrm rot="10800000">
                <a:off x="10817353" y="4050792"/>
                <a:ext cx="512401" cy="420624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Group 46"/>
          <p:cNvGrpSpPr/>
          <p:nvPr/>
        </p:nvGrpSpPr>
        <p:grpSpPr>
          <a:xfrm>
            <a:off x="7781544" y="1601874"/>
            <a:ext cx="4410456" cy="5256126"/>
            <a:chOff x="7781544" y="1601874"/>
            <a:chExt cx="4410456" cy="5256126"/>
          </a:xfrm>
        </p:grpSpPr>
        <p:grpSp>
          <p:nvGrpSpPr>
            <p:cNvPr id="37" name="Group 36"/>
            <p:cNvGrpSpPr/>
            <p:nvPr/>
          </p:nvGrpSpPr>
          <p:grpSpPr>
            <a:xfrm>
              <a:off x="7781544" y="1601874"/>
              <a:ext cx="4410456" cy="5256126"/>
              <a:chOff x="7781544" y="1601874"/>
              <a:chExt cx="4410456" cy="5256126"/>
            </a:xfrm>
          </p:grpSpPr>
          <p:pic>
            <p:nvPicPr>
              <p:cNvPr id="5123" name="Picture 3" descr="C:\Users\NARESH\Desktop\download.png"/>
              <p:cNvPicPr>
                <a:picLocks noChangeAspect="1" noChangeArrowheads="1"/>
              </p:cNvPicPr>
              <p:nvPr/>
            </p:nvPicPr>
            <p:blipFill>
              <a:blip r:embed="rId3"/>
              <a:srcRect l="11214" t="21648" r="11214" b="1856"/>
              <a:stretch>
                <a:fillRect/>
              </a:stretch>
            </p:blipFill>
            <p:spPr bwMode="auto">
              <a:xfrm>
                <a:off x="7781544" y="1601874"/>
                <a:ext cx="4410456" cy="5256126"/>
              </a:xfrm>
              <a:prstGeom prst="rect">
                <a:avLst/>
              </a:prstGeom>
              <a:noFill/>
            </p:spPr>
          </p:pic>
          <p:sp>
            <p:nvSpPr>
              <p:cNvPr id="28" name="TextBox 27"/>
              <p:cNvSpPr txBox="1"/>
              <p:nvPr/>
            </p:nvSpPr>
            <p:spPr>
              <a:xfrm>
                <a:off x="9954768" y="2045208"/>
                <a:ext cx="575927" cy="27699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>
                    <a:solidFill>
                      <a:srgbClr val="FF0000"/>
                    </a:solidFill>
                  </a:rPr>
                  <a:t>Eagle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8074152" y="4169665"/>
                <a:ext cx="3786942" cy="1730894"/>
                <a:chOff x="8074152" y="4169665"/>
                <a:chExt cx="3786942" cy="1730894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8074152" y="5010912"/>
                  <a:ext cx="671979" cy="27699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Rabbit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8900160" y="4218432"/>
                  <a:ext cx="426720" cy="27699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 smtClean="0">
                      <a:solidFill>
                        <a:srgbClr val="FF0000"/>
                      </a:solidFill>
                    </a:rPr>
                    <a:t>Cat</a:t>
                  </a:r>
                  <a:endParaRPr lang="en-US" sz="1200" b="1" dirty="0">
                    <a:solidFill>
                      <a:srgbClr val="FF0000"/>
                    </a:solidFill>
                  </a:endParaRPr>
                </a:p>
              </p:txBody>
            </p:sp>
            <p:grpSp>
              <p:nvGrpSpPr>
                <p:cNvPr id="35" name="Group 34"/>
                <p:cNvGrpSpPr/>
                <p:nvPr/>
              </p:nvGrpSpPr>
              <p:grpSpPr>
                <a:xfrm>
                  <a:off x="9083040" y="4169665"/>
                  <a:ext cx="2778054" cy="1730894"/>
                  <a:chOff x="9083040" y="4169665"/>
                  <a:chExt cx="2778054" cy="1730894"/>
                </a:xfrm>
              </p:grpSpPr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10094976" y="4169665"/>
                    <a:ext cx="640080" cy="261610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b="1" dirty="0" smtClean="0">
                        <a:solidFill>
                          <a:srgbClr val="FF0000"/>
                        </a:solidFill>
                      </a:rPr>
                      <a:t>Snake</a:t>
                    </a:r>
                    <a:endParaRPr lang="en-US" sz="11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11362944" y="4788408"/>
                    <a:ext cx="498150" cy="276999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rgbClr val="FF0000"/>
                        </a:solidFill>
                      </a:rPr>
                      <a:t>Bird</a:t>
                    </a:r>
                    <a:endParaRPr lang="en-US" sz="12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9083040" y="4949952"/>
                    <a:ext cx="667299" cy="276999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rgbClr val="FF0000"/>
                        </a:solidFill>
                      </a:rPr>
                      <a:t>Mouse</a:t>
                    </a:r>
                    <a:endParaRPr lang="en-US" sz="12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10171176" y="4974336"/>
                    <a:ext cx="518160" cy="276999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rgbClr val="FF0000"/>
                        </a:solidFill>
                      </a:rPr>
                      <a:t>Frog</a:t>
                    </a:r>
                    <a:endParaRPr lang="en-US" sz="1200" b="1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9482328" y="5623560"/>
                    <a:ext cx="1143000" cy="276999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b="1" dirty="0" smtClean="0">
                        <a:solidFill>
                          <a:srgbClr val="FF0000"/>
                        </a:solidFill>
                      </a:rPr>
                      <a:t>Grass hopper</a:t>
                    </a:r>
                    <a:endParaRPr lang="en-US" sz="1200" b="1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46" name="Group 45"/>
            <p:cNvGrpSpPr/>
            <p:nvPr/>
          </p:nvGrpSpPr>
          <p:grpSpPr>
            <a:xfrm>
              <a:off x="8162037" y="3410552"/>
              <a:ext cx="2573019" cy="2212246"/>
              <a:chOff x="8162037" y="3410552"/>
              <a:chExt cx="2573019" cy="2212246"/>
            </a:xfrm>
          </p:grpSpPr>
          <p:pic>
            <p:nvPicPr>
              <p:cNvPr id="5124" name="Picture 4" descr="C:\Users\NARESH\Desktop\6a010535a16a0d970c0133f36e0784970b.jp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727946" y="5208633"/>
                <a:ext cx="668782" cy="414165"/>
              </a:xfrm>
              <a:prstGeom prst="rect">
                <a:avLst/>
              </a:prstGeom>
              <a:noFill/>
            </p:spPr>
          </p:pic>
          <p:grpSp>
            <p:nvGrpSpPr>
              <p:cNvPr id="45" name="Group 44"/>
              <p:cNvGrpSpPr/>
              <p:nvPr/>
            </p:nvGrpSpPr>
            <p:grpSpPr>
              <a:xfrm>
                <a:off x="8162037" y="3410552"/>
                <a:ext cx="2573019" cy="1563022"/>
                <a:chOff x="8162037" y="3410552"/>
                <a:chExt cx="2573019" cy="1563022"/>
              </a:xfrm>
            </p:grpSpPr>
            <p:pic>
              <p:nvPicPr>
                <p:cNvPr id="5125" name="Picture 5" descr="C:\Users\NARESH\Desktop\gettyimages-175397603-612x612.jpg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10029509" y="4521093"/>
                  <a:ext cx="705547" cy="447719"/>
                </a:xfrm>
                <a:prstGeom prst="rect">
                  <a:avLst/>
                </a:prstGeom>
                <a:noFill/>
              </p:spPr>
            </p:pic>
            <p:grpSp>
              <p:nvGrpSpPr>
                <p:cNvPr id="44" name="Group 43"/>
                <p:cNvGrpSpPr/>
                <p:nvPr/>
              </p:nvGrpSpPr>
              <p:grpSpPr>
                <a:xfrm>
                  <a:off x="8162037" y="3410552"/>
                  <a:ext cx="1512315" cy="1563022"/>
                  <a:chOff x="8162037" y="3410552"/>
                  <a:chExt cx="1512315" cy="1563022"/>
                </a:xfrm>
              </p:grpSpPr>
              <p:pic>
                <p:nvPicPr>
                  <p:cNvPr id="5126" name="Picture 6" descr="C:\Users\NARESH\Desktop\pexels-photo-301448.jpeg"/>
                  <p:cNvPicPr>
                    <a:picLocks noChangeAspect="1" noChangeArrowheads="1"/>
                  </p:cNvPicPr>
                  <p:nvPr/>
                </p:nvPicPr>
                <p:blipFill>
                  <a:blip r:embed="rId6" cstate="print"/>
                  <a:srcRect/>
                  <a:stretch>
                    <a:fillRect/>
                  </a:stretch>
                </p:blipFill>
                <p:spPr bwMode="auto">
                  <a:xfrm>
                    <a:off x="9080754" y="4495238"/>
                    <a:ext cx="593598" cy="478336"/>
                  </a:xfrm>
                  <a:prstGeom prst="rect">
                    <a:avLst/>
                  </a:prstGeom>
                  <a:noFill/>
                </p:spPr>
              </p:pic>
              <p:grpSp>
                <p:nvGrpSpPr>
                  <p:cNvPr id="43" name="Group 42"/>
                  <p:cNvGrpSpPr/>
                  <p:nvPr/>
                </p:nvGrpSpPr>
                <p:grpSpPr>
                  <a:xfrm>
                    <a:off x="8162037" y="3410552"/>
                    <a:ext cx="1466595" cy="1459390"/>
                    <a:chOff x="8162037" y="3410552"/>
                    <a:chExt cx="1466595" cy="1459390"/>
                  </a:xfrm>
                </p:grpSpPr>
                <p:pic>
                  <p:nvPicPr>
                    <p:cNvPr id="5127" name="Picture 7" descr="C:\Users\NARESH\Desktop\gettyimages-106145687-612x612.jpg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8162037" y="4353245"/>
                      <a:ext cx="543052" cy="516697"/>
                    </a:xfrm>
                    <a:prstGeom prst="rect">
                      <a:avLst/>
                    </a:prstGeom>
                    <a:noFill/>
                  </p:spPr>
                </p:pic>
                <p:pic>
                  <p:nvPicPr>
                    <p:cNvPr id="5128" name="Picture 8" descr="C:\Users\NARESH\Desktop\cat-pet-animal-domestic-104827.jpeg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8"/>
                    <a:srcRect/>
                    <a:stretch>
                      <a:fillRect/>
                    </a:stretch>
                  </p:blipFill>
                  <p:spPr bwMode="auto">
                    <a:xfrm>
                      <a:off x="8733282" y="3410552"/>
                      <a:ext cx="895350" cy="752000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</p:grpSp>
        </p:grpSp>
      </p:grpSp>
      <p:cxnSp>
        <p:nvCxnSpPr>
          <p:cNvPr id="49" name="Elbow Connector 48"/>
          <p:cNvCxnSpPr/>
          <p:nvPr/>
        </p:nvCxnSpPr>
        <p:spPr>
          <a:xfrm rot="10800000">
            <a:off x="10826496" y="4096512"/>
            <a:ext cx="658368" cy="3749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/>
          <p:nvPr/>
        </p:nvCxnSpPr>
        <p:spPr>
          <a:xfrm flipV="1">
            <a:off x="8677656" y="4041648"/>
            <a:ext cx="1161288" cy="457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hape 52"/>
          <p:cNvCxnSpPr>
            <a:stCxn id="5126" idx="3"/>
          </p:cNvCxnSpPr>
          <p:nvPr/>
        </p:nvCxnSpPr>
        <p:spPr>
          <a:xfrm flipV="1">
            <a:off x="9674352" y="4215384"/>
            <a:ext cx="274320" cy="51902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332464" y="5480304"/>
            <a:ext cx="631904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Insect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54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CFBFD1-5C99-45D9-848F-35E6476E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16" y="0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Significant of Food chains and Food webs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03B82CF-395A-4136-B98B-885081D93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3" t="15031" r="9404" b="25052"/>
          <a:stretch/>
        </p:blipFill>
        <p:spPr>
          <a:xfrm>
            <a:off x="618128" y="1536976"/>
            <a:ext cx="9644907" cy="4552928"/>
          </a:xfrm>
        </p:spPr>
      </p:pic>
      <p:cxnSp>
        <p:nvCxnSpPr>
          <p:cNvPr id="6" name="Straight Connector 5"/>
          <p:cNvCxnSpPr/>
          <p:nvPr/>
        </p:nvCxnSpPr>
        <p:spPr>
          <a:xfrm>
            <a:off x="3191256" y="2496312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843272" y="3462528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007864" y="4559808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40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88535"/>
            <a:ext cx="10972800" cy="114300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</a:rPr>
              <a:t>Energy flow in a Ecosystem </a:t>
            </a:r>
            <a:endParaRPr lang="en-US" sz="4400" b="1" dirty="0">
              <a:solidFill>
                <a:srgbClr val="FF0000"/>
              </a:solidFill>
            </a:endParaRPr>
          </a:p>
        </p:txBody>
      </p:sp>
      <p:pic>
        <p:nvPicPr>
          <p:cNvPr id="6146" name="Picture 2" descr="C:\Users\NARESH\Desktop\Energy-flow-heat-loss-amount-biomass-land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b="4500"/>
          <a:stretch>
            <a:fillRect/>
          </a:stretch>
        </p:blipFill>
        <p:spPr bwMode="auto">
          <a:xfrm>
            <a:off x="1167242" y="1252483"/>
            <a:ext cx="4593477" cy="4942849"/>
          </a:xfrm>
          <a:prstGeom prst="rect">
            <a:avLst/>
          </a:prstGeom>
          <a:noFill/>
        </p:spPr>
      </p:pic>
      <p:grpSp>
        <p:nvGrpSpPr>
          <p:cNvPr id="9" name="Group 8"/>
          <p:cNvGrpSpPr/>
          <p:nvPr/>
        </p:nvGrpSpPr>
        <p:grpSpPr>
          <a:xfrm>
            <a:off x="5093208" y="2167128"/>
            <a:ext cx="1445000" cy="2795540"/>
            <a:chOff x="4992624" y="2167128"/>
            <a:chExt cx="1445000" cy="2795540"/>
          </a:xfrm>
        </p:grpSpPr>
        <p:sp>
          <p:nvSpPr>
            <p:cNvPr id="5" name="TextBox 4"/>
            <p:cNvSpPr txBox="1"/>
            <p:nvPr/>
          </p:nvSpPr>
          <p:spPr>
            <a:xfrm>
              <a:off x="4992624" y="2167128"/>
              <a:ext cx="133222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Respiration</a:t>
              </a:r>
              <a:endParaRPr lang="en-US" dirty="0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090160" y="3169920"/>
              <a:ext cx="1347464" cy="1792748"/>
              <a:chOff x="5090160" y="3169920"/>
              <a:chExt cx="1347464" cy="1792748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5090160" y="3169920"/>
                <a:ext cx="133222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Respiration</a:t>
                </a:r>
                <a:endParaRPr 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105400" y="4593336"/>
                <a:ext cx="133222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Respiration</a:t>
                </a:r>
                <a:endParaRPr lang="en-US" dirty="0"/>
              </a:p>
            </p:txBody>
          </p:sp>
        </p:grpSp>
      </p:grpSp>
      <p:sp>
        <p:nvSpPr>
          <p:cNvPr id="10" name="Left Arrow 9"/>
          <p:cNvSpPr/>
          <p:nvPr/>
        </p:nvSpPr>
        <p:spPr>
          <a:xfrm>
            <a:off x="1143000" y="4041648"/>
            <a:ext cx="1325880" cy="1371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>
            <a:off x="984504" y="2063496"/>
            <a:ext cx="969264" cy="16459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1014984" y="2956560"/>
            <a:ext cx="1255776" cy="16154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/>
          <p:cNvSpPr/>
          <p:nvPr/>
        </p:nvSpPr>
        <p:spPr>
          <a:xfrm>
            <a:off x="1091184" y="5010912"/>
            <a:ext cx="1514856" cy="1676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46888" y="1892808"/>
            <a:ext cx="694944" cy="3557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-502920" y="3429000"/>
            <a:ext cx="2289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Decomposer bacteria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007582" y="5629121"/>
            <a:ext cx="6051913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1. Solar </a:t>
            </a:r>
            <a:r>
              <a:rPr lang="en-US" dirty="0" smtClean="0">
                <a:solidFill>
                  <a:srgbClr val="3824CC"/>
                </a:solidFill>
              </a:rPr>
              <a:t>radiation energy </a:t>
            </a:r>
            <a:r>
              <a:rPr lang="en-US" dirty="0" smtClean="0"/>
              <a:t>trap by plant and in photosynthesis</a:t>
            </a:r>
          </a:p>
          <a:p>
            <a:r>
              <a:rPr lang="en-US" dirty="0" smtClean="0"/>
              <a:t>and converted to </a:t>
            </a:r>
            <a:r>
              <a:rPr lang="en-US" dirty="0" smtClean="0">
                <a:solidFill>
                  <a:srgbClr val="3824CC"/>
                </a:solidFill>
              </a:rPr>
              <a:t>biochemical energy (Food energy</a:t>
            </a:r>
            <a:r>
              <a:rPr lang="en-US" dirty="0" smtClean="0"/>
              <a:t>)</a:t>
            </a:r>
          </a:p>
          <a:p>
            <a:r>
              <a:rPr lang="en-US" dirty="0" smtClean="0"/>
              <a:t>Follow 1</a:t>
            </a:r>
            <a:r>
              <a:rPr lang="en-US" baseline="30000" dirty="0" smtClean="0"/>
              <a:t>st</a:t>
            </a:r>
            <a:r>
              <a:rPr lang="en-US" dirty="0" smtClean="0"/>
              <a:t> low of thermodynamic</a:t>
            </a:r>
            <a:endParaRPr lang="en-US" dirty="0"/>
          </a:p>
        </p:txBody>
      </p:sp>
      <p:sp>
        <p:nvSpPr>
          <p:cNvPr id="20" name="Up Arrow 19"/>
          <p:cNvSpPr/>
          <p:nvPr/>
        </p:nvSpPr>
        <p:spPr>
          <a:xfrm>
            <a:off x="8657954" y="5197374"/>
            <a:ext cx="155448" cy="3383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494258" y="2874673"/>
            <a:ext cx="5572052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2. Plants biochemical energy (Food energy) consume by  primary,  2ndary and tertiary consumer  where food energy converted </a:t>
            </a:r>
          </a:p>
          <a:p>
            <a:pPr algn="just"/>
            <a:r>
              <a:rPr lang="en-US" dirty="0" smtClean="0"/>
              <a:t>To mechanical energy, heat energy, sound energy, potential energy etc energy</a:t>
            </a:r>
          </a:p>
          <a:p>
            <a:pPr algn="just"/>
            <a:r>
              <a:rPr lang="en-US" dirty="0" smtClean="0"/>
              <a:t>Follow 2nd low of thermodynamic</a:t>
            </a:r>
          </a:p>
          <a:p>
            <a:pPr algn="just"/>
            <a:r>
              <a:rPr lang="en-US" dirty="0" smtClean="0"/>
              <a:t>Each step </a:t>
            </a:r>
            <a:r>
              <a:rPr lang="en-US" dirty="0" smtClean="0">
                <a:solidFill>
                  <a:srgbClr val="3824CC"/>
                </a:solidFill>
              </a:rPr>
              <a:t>90% energy loss </a:t>
            </a:r>
            <a:r>
              <a:rPr lang="en-US" dirty="0" smtClean="0"/>
              <a:t>in the form of heat, sound, respiration energy     </a:t>
            </a:r>
            <a:endParaRPr lang="en-US" dirty="0"/>
          </a:p>
        </p:txBody>
      </p:sp>
      <p:sp>
        <p:nvSpPr>
          <p:cNvPr id="22" name="Up Arrow 21"/>
          <p:cNvSpPr/>
          <p:nvPr/>
        </p:nvSpPr>
        <p:spPr>
          <a:xfrm>
            <a:off x="8744366" y="2484027"/>
            <a:ext cx="155448" cy="3383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582617" y="1482899"/>
            <a:ext cx="5653855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3. Some food energy is  utilized  for metabolism of food</a:t>
            </a:r>
          </a:p>
          <a:p>
            <a:r>
              <a:rPr lang="en-US" dirty="0" smtClean="0"/>
              <a:t>material  in the consumer system called </a:t>
            </a:r>
            <a:r>
              <a:rPr lang="en-US" dirty="0" smtClean="0">
                <a:solidFill>
                  <a:srgbClr val="3824CC"/>
                </a:solidFill>
              </a:rPr>
              <a:t>respiratory </a:t>
            </a:r>
          </a:p>
          <a:p>
            <a:r>
              <a:rPr lang="en-US" dirty="0" smtClean="0">
                <a:solidFill>
                  <a:srgbClr val="3824CC"/>
                </a:solidFill>
              </a:rPr>
              <a:t>Energy</a:t>
            </a:r>
            <a:endParaRPr lang="en-US" dirty="0">
              <a:solidFill>
                <a:srgbClr val="3824CC"/>
              </a:solidFill>
            </a:endParaRPr>
          </a:p>
        </p:txBody>
      </p:sp>
      <p:sp>
        <p:nvSpPr>
          <p:cNvPr id="24" name="Up Arrow 23"/>
          <p:cNvSpPr/>
          <p:nvPr/>
        </p:nvSpPr>
        <p:spPr>
          <a:xfrm>
            <a:off x="8661095" y="1175272"/>
            <a:ext cx="155448" cy="3383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798668" y="268413"/>
            <a:ext cx="5003691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4. Some food energy  stored in consumer system &amp; plant  (excretory Material )  move to (flow) </a:t>
            </a:r>
            <a:r>
              <a:rPr lang="en-US" dirty="0" smtClean="0">
                <a:solidFill>
                  <a:srgbClr val="3824CC"/>
                </a:solidFill>
              </a:rPr>
              <a:t>decomposer bacteria </a:t>
            </a:r>
            <a:r>
              <a:rPr lang="en-US" dirty="0" smtClean="0"/>
              <a:t>and stop the flow of energy</a:t>
            </a:r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877824" y="2313432"/>
            <a:ext cx="1717632" cy="3418820"/>
            <a:chOff x="877824" y="2313432"/>
            <a:chExt cx="1717632" cy="3418820"/>
          </a:xfrm>
        </p:grpSpPr>
        <p:sp>
          <p:nvSpPr>
            <p:cNvPr id="17" name="TextBox 16"/>
            <p:cNvSpPr txBox="1"/>
            <p:nvPr/>
          </p:nvSpPr>
          <p:spPr>
            <a:xfrm>
              <a:off x="938784" y="5209032"/>
              <a:ext cx="16566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Dead body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Excretory material 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877824" y="2313432"/>
              <a:ext cx="1696296" cy="1687556"/>
              <a:chOff x="877824" y="2313432"/>
              <a:chExt cx="1696296" cy="1687556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917448" y="3477768"/>
                <a:ext cx="16566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solidFill>
                      <a:srgbClr val="FF0000"/>
                    </a:solidFill>
                  </a:rPr>
                  <a:t>Dead body</a:t>
                </a:r>
              </a:p>
              <a:p>
                <a:r>
                  <a:rPr lang="en-US" sz="1400" dirty="0" smtClean="0">
                    <a:solidFill>
                      <a:srgbClr val="FF0000"/>
                    </a:solidFill>
                  </a:rPr>
                  <a:t>Excretory material </a:t>
                </a:r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7" name="Group 26"/>
              <p:cNvGrpSpPr/>
              <p:nvPr/>
            </p:nvGrpSpPr>
            <p:grpSpPr>
              <a:xfrm>
                <a:off x="877824" y="2313432"/>
                <a:ext cx="1656672" cy="1283335"/>
                <a:chOff x="877824" y="2313432"/>
                <a:chExt cx="1656672" cy="1283335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877824" y="2313432"/>
                  <a:ext cx="165667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smtClean="0">
                      <a:solidFill>
                        <a:srgbClr val="FF0000"/>
                      </a:solidFill>
                    </a:rPr>
                    <a:t>Dead body</a:t>
                  </a:r>
                </a:p>
                <a:p>
                  <a:r>
                    <a:rPr lang="en-US" sz="1400" dirty="0" smtClean="0">
                      <a:solidFill>
                        <a:srgbClr val="FF0000"/>
                      </a:solidFill>
                    </a:rPr>
                    <a:t>Excretory material </a:t>
                  </a:r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  <p:pic>
              <p:nvPicPr>
                <p:cNvPr id="6147" name="Picture 3" descr="C:\Users\NARESH\Desktop\download (2).jpg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1405573" y="3163824"/>
                  <a:ext cx="454553" cy="432943"/>
                </a:xfrm>
                <a:prstGeom prst="rect">
                  <a:avLst/>
                </a:prstGeom>
                <a:noFill/>
              </p:spPr>
            </p:pic>
          </p:grpSp>
        </p:grpSp>
      </p:grpSp>
      <p:sp>
        <p:nvSpPr>
          <p:cNvPr id="30" name="TextBox 29"/>
          <p:cNvSpPr txBox="1"/>
          <p:nvPr/>
        </p:nvSpPr>
        <p:spPr>
          <a:xfrm>
            <a:off x="210312" y="6062472"/>
            <a:ext cx="5694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flow is unidirectional  but nutrient flow is cyclic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5C881E-2DA8-4716-ACE1-21DEFA7C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IN" sz="4400" dirty="0" smtClean="0">
                <a:solidFill>
                  <a:srgbClr val="FF0000"/>
                </a:solidFill>
              </a:rPr>
              <a:t>Energy Flow  </a:t>
            </a:r>
            <a:endParaRPr lang="en-IN" sz="44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542A2147-5636-49DE-9DF5-64C810F7A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3" t="15031" r="373" b="6793"/>
          <a:stretch/>
        </p:blipFill>
        <p:spPr>
          <a:xfrm>
            <a:off x="1847088" y="1194200"/>
            <a:ext cx="9195996" cy="5001002"/>
          </a:xfrm>
        </p:spPr>
      </p:pic>
      <p:cxnSp>
        <p:nvCxnSpPr>
          <p:cNvPr id="4" name="Straight Connector 3"/>
          <p:cNvCxnSpPr/>
          <p:nvPr/>
        </p:nvCxnSpPr>
        <p:spPr>
          <a:xfrm>
            <a:off x="4407408" y="3209544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885688" y="4450080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894832" y="4834128"/>
            <a:ext cx="260604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55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460" y="-144796"/>
            <a:ext cx="109728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C22D0"/>
                </a:solidFill>
              </a:rPr>
              <a:t>Primary production</a:t>
            </a:r>
            <a:endParaRPr lang="en-US" dirty="0">
              <a:solidFill>
                <a:srgbClr val="CC22D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231392"/>
            <a:ext cx="10972800" cy="438912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3824CC"/>
                </a:solidFill>
              </a:rPr>
              <a:t>Primary productivity:  </a:t>
            </a:r>
            <a:r>
              <a:rPr lang="en-US" dirty="0" smtClean="0"/>
              <a:t>The rate at which radiant energy (light energy) is converted into chemical energy and stored in a plant by photosynthesis process </a:t>
            </a:r>
            <a:r>
              <a:rPr lang="en-US" dirty="0" smtClean="0">
                <a:solidFill>
                  <a:srgbClr val="FF0000"/>
                </a:solidFill>
              </a:rPr>
              <a:t>per unit area per unit time </a:t>
            </a:r>
            <a:r>
              <a:rPr lang="en-US" dirty="0" smtClean="0"/>
              <a:t>called </a:t>
            </a:r>
            <a:r>
              <a:rPr lang="en-US" dirty="0" smtClean="0">
                <a:solidFill>
                  <a:srgbClr val="7030A0"/>
                </a:solidFill>
              </a:rPr>
              <a:t>Gross Primary Production (GPP)  </a:t>
            </a:r>
          </a:p>
          <a:p>
            <a:r>
              <a:rPr lang="en-US" dirty="0" smtClean="0">
                <a:solidFill>
                  <a:srgbClr val="3824CC"/>
                </a:solidFill>
              </a:rPr>
              <a:t>Respiration energy</a:t>
            </a:r>
            <a:r>
              <a:rPr lang="en-US" dirty="0" smtClean="0"/>
              <a:t>: When organic matter is produced by the primary producers (mainly green plants and some microorganisms), </a:t>
            </a:r>
            <a:r>
              <a:rPr lang="en-US" dirty="0" smtClean="0">
                <a:solidFill>
                  <a:srgbClr val="FF0000"/>
                </a:solidFill>
              </a:rPr>
              <a:t>fraction of chemical energy is oxidized or used in the metabolic process of photosynthesis  inside their body and converted into carbon-dioxide </a:t>
            </a:r>
            <a:r>
              <a:rPr lang="en-US" dirty="0" smtClean="0"/>
              <a:t>which is released during respiration called respiration energy and is accompanied by loss of energy. (R)</a:t>
            </a:r>
          </a:p>
          <a:p>
            <a:r>
              <a:rPr lang="en-US" dirty="0" smtClean="0"/>
              <a:t>Thus </a:t>
            </a:r>
            <a:r>
              <a:rPr lang="en-US" dirty="0" smtClean="0">
                <a:solidFill>
                  <a:srgbClr val="7030A0"/>
                </a:solidFill>
              </a:rPr>
              <a:t>Net Primary Production (NPP) </a:t>
            </a:r>
            <a:r>
              <a:rPr lang="en-US" dirty="0" smtClean="0"/>
              <a:t>= Gross Primary Production (GPP) – Respiratory energy (R).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7918" y="5657214"/>
            <a:ext cx="11002367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3824CC"/>
                </a:solidFill>
              </a:rPr>
              <a:t>Secondary Production: </a:t>
            </a:r>
            <a:r>
              <a:rPr lang="en-US" sz="2400" dirty="0" smtClean="0"/>
              <a:t>The energy stored at consumer level for use by the next </a:t>
            </a:r>
            <a:r>
              <a:rPr lang="en-US" sz="2400" dirty="0" err="1" smtClean="0"/>
              <a:t>trophic</a:t>
            </a:r>
            <a:r>
              <a:rPr lang="en-US" sz="2400" dirty="0" smtClean="0"/>
              <a:t> level is thus defined as secondary production</a:t>
            </a:r>
            <a:endParaRPr lang="en-US" sz="2400" dirty="0">
              <a:solidFill>
                <a:srgbClr val="3824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11354" y="5086515"/>
            <a:ext cx="203728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 smtClean="0"/>
              <a:t>NPP = GPP -R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A3F4C0-AF38-441F-BF12-9C4DB16F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10972800" cy="1143000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FF0000"/>
                </a:solidFill>
              </a:rPr>
              <a:t>Ecological Pyramids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E0BDFFAF-6D62-4508-85EB-DF408903A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1" b="7426"/>
          <a:stretch/>
        </p:blipFill>
        <p:spPr>
          <a:xfrm>
            <a:off x="294212" y="1193862"/>
            <a:ext cx="10139092" cy="4429698"/>
          </a:xfrm>
        </p:spPr>
      </p:pic>
      <p:pic>
        <p:nvPicPr>
          <p:cNvPr id="7" name="Content Placeholder 4">
            <a:extLst>
              <a:ext uri="{FF2B5EF4-FFF2-40B4-BE49-F238E27FC236}">
                <a16:creationId xmlns="" xmlns:a16="http://schemas.microsoft.com/office/drawing/2014/main" id="{B1A6BD41-C6F7-47D7-AC42-18F82BC60C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21" r="52665" b="57620"/>
          <a:stretch/>
        </p:blipFill>
        <p:spPr>
          <a:xfrm>
            <a:off x="2750930" y="5027900"/>
            <a:ext cx="4132067" cy="166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7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-182880"/>
            <a:ext cx="8321040" cy="987552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Pyramids of Biomass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7170" name="Picture 2" descr="C:\Users\NARESH\Desktop\2b7bb27682615c89f74f9fb397e5bf6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00367"/>
            <a:ext cx="5778500" cy="489267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7251192" y="6488668"/>
            <a:ext cx="4172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pyramid of biomass in aquatic system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17720" y="2971800"/>
            <a:ext cx="228203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UPRIGHT PYRAMID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NARESH\Desktop\Ecological pyramid\ecological-pyramid-8-638.jpg"/>
          <p:cNvPicPr>
            <a:picLocks noChangeAspect="1" noChangeArrowheads="1"/>
          </p:cNvPicPr>
          <p:nvPr/>
        </p:nvPicPr>
        <p:blipFill>
          <a:blip r:embed="rId3"/>
          <a:srcRect l="54545" t="32568" r="7524" b="25052"/>
          <a:stretch>
            <a:fillRect/>
          </a:stretch>
        </p:blipFill>
        <p:spPr bwMode="auto">
          <a:xfrm>
            <a:off x="6847761" y="2375710"/>
            <a:ext cx="4591383" cy="3851353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9451848" y="5867400"/>
            <a:ext cx="246221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INVERTED  PYRAMID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61632" y="5974080"/>
            <a:ext cx="171797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Phytoplankton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7" name="Picture 3" descr="C:\Users\NARESH\Desktop\Ecological pyramid\ecological-pyramid-7-638.jpg"/>
          <p:cNvPicPr>
            <a:picLocks noChangeAspect="1" noChangeArrowheads="1"/>
          </p:cNvPicPr>
          <p:nvPr/>
        </p:nvPicPr>
        <p:blipFill>
          <a:blip r:embed="rId4"/>
          <a:srcRect l="7524" t="32568" r="9404" b="32568"/>
          <a:stretch>
            <a:fillRect/>
          </a:stretch>
        </p:blipFill>
        <p:spPr bwMode="auto">
          <a:xfrm>
            <a:off x="4014216" y="946051"/>
            <a:ext cx="7013448" cy="1476895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347472" y="6007608"/>
            <a:ext cx="625449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 pyramid of biomass shows the weight of biomass/organism</a:t>
            </a:r>
          </a:p>
          <a:p>
            <a:r>
              <a:rPr lang="en-US" dirty="0" smtClean="0"/>
              <a:t>At stages of food chain 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208" y="0"/>
            <a:ext cx="109728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Pyramid of Biomass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="" xmlns:a16="http://schemas.microsoft.com/office/drawing/2014/main" id="{EBDEAEA7-EBA7-43DF-BBBF-FB35D1381F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37" r="3762" b="10021"/>
          <a:stretch/>
        </p:blipFill>
        <p:spPr>
          <a:xfrm>
            <a:off x="142992" y="1271016"/>
            <a:ext cx="9974588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NARESH\Desktop\80a24f8f64b9dc99faf461fc7ed661b1.jpg"/>
          <p:cNvPicPr>
            <a:picLocks noChangeAspect="1" noChangeArrowheads="1"/>
          </p:cNvPicPr>
          <p:nvPr/>
        </p:nvPicPr>
        <p:blipFill>
          <a:blip r:embed="rId2"/>
          <a:srcRect l="1693"/>
          <a:stretch>
            <a:fillRect/>
          </a:stretch>
        </p:blipFill>
        <p:spPr bwMode="auto">
          <a:xfrm>
            <a:off x="5612647" y="1143001"/>
            <a:ext cx="5244329" cy="4484370"/>
          </a:xfrm>
          <a:prstGeom prst="rect">
            <a:avLst/>
          </a:prstGeom>
          <a:noFill/>
        </p:spPr>
      </p:pic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6004560" y="5815584"/>
            <a:ext cx="5672328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Pyramid of Number in grass land ecosystem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463102" y="135374"/>
            <a:ext cx="101896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Pyramid of Number 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5" name="Picture 4" descr="C:\Users\NARESH\Desktop\1122667_696458_ans_af7c7e686f3d43e2afa4dc7e9bb1aa3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2526570"/>
            <a:ext cx="5449824" cy="433143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9042350" y="1305806"/>
            <a:ext cx="228203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UPRIGHT PYRAMID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3358" y="5435846"/>
            <a:ext cx="240450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INVERTED PYRAMID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NARESH\Desktop\Ecological pyramid\ecological-pyramid-5-638.jpg"/>
          <p:cNvPicPr>
            <a:picLocks noChangeAspect="1" noChangeArrowheads="1"/>
          </p:cNvPicPr>
          <p:nvPr/>
        </p:nvPicPr>
        <p:blipFill>
          <a:blip r:embed="rId4"/>
          <a:srcRect l="3762" t="32568" r="11285" b="25052"/>
          <a:stretch>
            <a:fillRect/>
          </a:stretch>
        </p:blipFill>
        <p:spPr bwMode="auto">
          <a:xfrm>
            <a:off x="124421" y="822960"/>
            <a:ext cx="4584592" cy="1792224"/>
          </a:xfrm>
          <a:prstGeom prst="rect">
            <a:avLst/>
          </a:prstGeom>
          <a:noFill/>
        </p:spPr>
      </p:pic>
      <p:pic>
        <p:nvPicPr>
          <p:cNvPr id="10" name="Content Placeholder 4">
            <a:extLst>
              <a:ext uri="{FF2B5EF4-FFF2-40B4-BE49-F238E27FC236}">
                <a16:creationId xmlns="" xmlns:a16="http://schemas.microsoft.com/office/drawing/2014/main" id="{3487E915-44A7-4AF6-8255-D0BBE80B49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4" t="30063" r="11285" b="52610"/>
          <a:stretch/>
        </p:blipFill>
        <p:spPr>
          <a:xfrm>
            <a:off x="5617657" y="82296"/>
            <a:ext cx="6070928" cy="86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0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04" y="-265176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Pyramid of Energy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BFA44DB2-E877-4C72-A9F3-D5E27C661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5" t="27557" r="9404" b="7516"/>
          <a:stretch/>
        </p:blipFill>
        <p:spPr>
          <a:xfrm>
            <a:off x="6099732" y="914400"/>
            <a:ext cx="5668596" cy="4364904"/>
          </a:xfrm>
          <a:prstGeom prst="rect">
            <a:avLst/>
          </a:prstGeom>
        </p:spPr>
      </p:pic>
      <p:pic>
        <p:nvPicPr>
          <p:cNvPr id="3074" name="Picture 2" descr="C:\Users\NARESH\Desktop\Ecological pyramid\ecological-pyramid-9-638.jpg"/>
          <p:cNvPicPr>
            <a:picLocks noChangeAspect="1" noChangeArrowheads="1"/>
          </p:cNvPicPr>
          <p:nvPr/>
        </p:nvPicPr>
        <p:blipFill>
          <a:blip r:embed="rId3"/>
          <a:srcRect l="5643" t="32568" r="5643" b="15031"/>
          <a:stretch>
            <a:fillRect/>
          </a:stretch>
        </p:blipFill>
        <p:spPr bwMode="auto">
          <a:xfrm>
            <a:off x="54864" y="937722"/>
            <a:ext cx="5266944" cy="2390694"/>
          </a:xfrm>
          <a:prstGeom prst="rect">
            <a:avLst/>
          </a:prstGeom>
          <a:noFill/>
        </p:spPr>
      </p:pic>
      <p:pic>
        <p:nvPicPr>
          <p:cNvPr id="3075" name="Picture 3" descr="C:\Users\NARESH\Desktop\Ecological pyramid\ecological-pyramids-ppt-13-638.jpg"/>
          <p:cNvPicPr>
            <a:picLocks noChangeAspect="1" noChangeArrowheads="1"/>
          </p:cNvPicPr>
          <p:nvPr/>
        </p:nvPicPr>
        <p:blipFill>
          <a:blip r:embed="rId4"/>
          <a:srcRect l="1881" t="20042" r="7524" b="7516"/>
          <a:stretch>
            <a:fillRect/>
          </a:stretch>
        </p:blipFill>
        <p:spPr bwMode="auto">
          <a:xfrm>
            <a:off x="0" y="3305789"/>
            <a:ext cx="5917156" cy="355221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331720" y="3017520"/>
            <a:ext cx="276159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Transferred to other form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99E3DC-3CCA-4CC2-AB2F-B909FD0D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78" y="-292231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CC22D0"/>
                </a:solidFill>
              </a:rPr>
              <a:t>                             Carbon cycle </a:t>
            </a:r>
            <a:endParaRPr lang="en-IN" dirty="0">
              <a:solidFill>
                <a:srgbClr val="CC22D0"/>
              </a:solidFill>
            </a:endParaRPr>
          </a:p>
        </p:txBody>
      </p:sp>
      <p:pic>
        <p:nvPicPr>
          <p:cNvPr id="4098" name="Picture 2" descr="C:\Users\NARESH\Desktop\Ecological pyramid\nutrient-cycles-presentation-7-638.jpg"/>
          <p:cNvPicPr>
            <a:picLocks noChangeAspect="1" noChangeArrowheads="1"/>
          </p:cNvPicPr>
          <p:nvPr/>
        </p:nvPicPr>
        <p:blipFill>
          <a:blip r:embed="rId2"/>
          <a:srcRect l="7524" t="12526" r="9404" b="10021"/>
          <a:stretch>
            <a:fillRect/>
          </a:stretch>
        </p:blipFill>
        <p:spPr bwMode="auto">
          <a:xfrm>
            <a:off x="165191" y="1610074"/>
            <a:ext cx="7243840" cy="507051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97868" y="781670"/>
            <a:ext cx="9342058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Cyclic movement of carbon from biosphere through lithosphere, </a:t>
            </a:r>
          </a:p>
          <a:p>
            <a:r>
              <a:rPr lang="en-US" sz="2400" dirty="0" smtClean="0"/>
              <a:t>hydrosphere  and atmosphere called carbon cycle</a:t>
            </a:r>
            <a:endParaRPr lang="en-US" sz="24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3976260" y="1790057"/>
            <a:ext cx="7590847" cy="5067943"/>
            <a:chOff x="3976260" y="1790057"/>
            <a:chExt cx="7590847" cy="5067943"/>
          </a:xfrm>
        </p:grpSpPr>
        <p:sp>
          <p:nvSpPr>
            <p:cNvPr id="17" name="TextBox 16"/>
            <p:cNvSpPr txBox="1"/>
            <p:nvPr/>
          </p:nvSpPr>
          <p:spPr>
            <a:xfrm>
              <a:off x="8622792" y="2724912"/>
              <a:ext cx="6256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CO2</a:t>
              </a:r>
              <a:endParaRPr lang="en-US" dirty="0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3976260" y="1790057"/>
              <a:ext cx="7590847" cy="5067943"/>
              <a:chOff x="3976260" y="1790057"/>
              <a:chExt cx="7590847" cy="5067943"/>
            </a:xfrm>
          </p:grpSpPr>
          <p:sp>
            <p:nvSpPr>
              <p:cNvPr id="19" name="Curved Right Arrow 18"/>
              <p:cNvSpPr/>
              <p:nvPr/>
            </p:nvSpPr>
            <p:spPr>
              <a:xfrm rot="6580917">
                <a:off x="6362002" y="-95346"/>
                <a:ext cx="915848" cy="4686654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3976260" y="3039089"/>
                <a:ext cx="7590847" cy="3818911"/>
                <a:chOff x="3976260" y="3039089"/>
                <a:chExt cx="7590847" cy="3818911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8370719" y="3218687"/>
                  <a:ext cx="3196388" cy="3639313"/>
                  <a:chOff x="8370719" y="3218687"/>
                  <a:chExt cx="3196388" cy="3639313"/>
                </a:xfrm>
              </p:grpSpPr>
              <p:grpSp>
                <p:nvGrpSpPr>
                  <p:cNvPr id="13" name="Group 12"/>
                  <p:cNvGrpSpPr/>
                  <p:nvPr/>
                </p:nvGrpSpPr>
                <p:grpSpPr>
                  <a:xfrm>
                    <a:off x="8370719" y="4138367"/>
                    <a:ext cx="3196388" cy="2719633"/>
                    <a:chOff x="8370719" y="4138367"/>
                    <a:chExt cx="3196388" cy="2719633"/>
                  </a:xfrm>
                </p:grpSpPr>
                <p:sp>
                  <p:nvSpPr>
                    <p:cNvPr id="9" name="TextBox 8"/>
                    <p:cNvSpPr txBox="1"/>
                    <p:nvPr/>
                  </p:nvSpPr>
                  <p:spPr>
                    <a:xfrm>
                      <a:off x="8370719" y="5380672"/>
                      <a:ext cx="3196388" cy="1477328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 smtClean="0"/>
                        <a:t>Natural calamity</a:t>
                      </a:r>
                    </a:p>
                    <a:p>
                      <a:r>
                        <a:rPr lang="en-US" dirty="0" smtClean="0"/>
                        <a:t> earth quake</a:t>
                      </a:r>
                    </a:p>
                    <a:p>
                      <a:r>
                        <a:rPr lang="en-US" dirty="0" smtClean="0"/>
                        <a:t>Buried deep in to earth with </a:t>
                      </a:r>
                    </a:p>
                    <a:p>
                      <a:r>
                        <a:rPr lang="en-US" dirty="0" smtClean="0"/>
                        <a:t>high temp, &amp; pressure formed </a:t>
                      </a:r>
                    </a:p>
                    <a:p>
                      <a:r>
                        <a:rPr lang="en-US" dirty="0" smtClean="0"/>
                        <a:t>Coal , petrol and  diesel etc </a:t>
                      </a:r>
                      <a:endParaRPr lang="en-US" dirty="0"/>
                    </a:p>
                  </p:txBody>
                </p:sp>
                <p:sp>
                  <p:nvSpPr>
                    <p:cNvPr id="10" name="Up Arrow 9"/>
                    <p:cNvSpPr/>
                    <p:nvPr/>
                  </p:nvSpPr>
                  <p:spPr>
                    <a:xfrm>
                      <a:off x="9247695" y="4138367"/>
                      <a:ext cx="169682" cy="1291472"/>
                    </a:xfrm>
                    <a:prstGeom prst="upArrow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pic>
                <p:nvPicPr>
                  <p:cNvPr id="4099" name="Picture 3" descr="C:\Users\NARESH\Desktop\chemical-industry-stock-photo_csp3037094.jpg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8663178" y="3218687"/>
                    <a:ext cx="1140834" cy="869569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3976260" y="3039089"/>
                  <a:ext cx="4411811" cy="3092831"/>
                  <a:chOff x="3976260" y="3039089"/>
                  <a:chExt cx="4411811" cy="3092831"/>
                </a:xfrm>
              </p:grpSpPr>
              <p:sp>
                <p:nvSpPr>
                  <p:cNvPr id="20" name="Curved Left Arrow 19"/>
                  <p:cNvSpPr/>
                  <p:nvPr/>
                </p:nvSpPr>
                <p:spPr>
                  <a:xfrm rot="19209122">
                    <a:off x="7887735" y="3039089"/>
                    <a:ext cx="500336" cy="2490606"/>
                  </a:xfrm>
                  <a:prstGeom prst="curvedLef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Curved Right Arrow 20"/>
                  <p:cNvSpPr/>
                  <p:nvPr/>
                </p:nvSpPr>
                <p:spPr>
                  <a:xfrm rot="17420562">
                    <a:off x="5764716" y="3611852"/>
                    <a:ext cx="731612" cy="4308523"/>
                  </a:xfrm>
                  <a:prstGeom prst="curved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309816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DDE2EE-241C-4845-B65D-6CC661BD3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-320040"/>
            <a:ext cx="10972800" cy="1143000"/>
          </a:xfrm>
        </p:spPr>
        <p:txBody>
          <a:bodyPr/>
          <a:lstStyle/>
          <a:p>
            <a:r>
              <a:rPr lang="en-IN" dirty="0" smtClean="0">
                <a:solidFill>
                  <a:srgbClr val="CC22D0"/>
                </a:solidFill>
              </a:rPr>
              <a:t>Nitrogen cycle</a:t>
            </a:r>
            <a:endParaRPr lang="en-IN" dirty="0">
              <a:solidFill>
                <a:srgbClr val="CC22D0"/>
              </a:solidFill>
            </a:endParaRPr>
          </a:p>
        </p:txBody>
      </p:sp>
      <p:pic>
        <p:nvPicPr>
          <p:cNvPr id="5122" name="Picture 2" descr="C:\Users\NARESH\Desktop\Ecological pyramid\nutrient-cycles-presentation-11-638.jpg"/>
          <p:cNvPicPr>
            <a:picLocks noChangeAspect="1" noChangeArrowheads="1"/>
          </p:cNvPicPr>
          <p:nvPr/>
        </p:nvPicPr>
        <p:blipFill>
          <a:blip r:embed="rId2"/>
          <a:srcRect l="9404" t="12526" r="5643"/>
          <a:stretch>
            <a:fillRect/>
          </a:stretch>
        </p:blipFill>
        <p:spPr bwMode="auto">
          <a:xfrm>
            <a:off x="356616" y="1074160"/>
            <a:ext cx="7020602" cy="5427223"/>
          </a:xfrm>
          <a:prstGeom prst="rect">
            <a:avLst/>
          </a:prstGeom>
          <a:noFill/>
        </p:spPr>
      </p:pic>
      <p:pic>
        <p:nvPicPr>
          <p:cNvPr id="5123" name="Picture 3" descr="C:\Users\NARESH\Desktop\Ecological pyramid\nutrient-cycles-presentation-12-638.jpg"/>
          <p:cNvPicPr>
            <a:picLocks noChangeAspect="1" noChangeArrowheads="1"/>
          </p:cNvPicPr>
          <p:nvPr/>
        </p:nvPicPr>
        <p:blipFill>
          <a:blip r:embed="rId3"/>
          <a:srcRect l="7524" t="20042" r="11285" b="2505"/>
          <a:stretch>
            <a:fillRect/>
          </a:stretch>
        </p:blipFill>
        <p:spPr bwMode="auto">
          <a:xfrm>
            <a:off x="7455417" y="365759"/>
            <a:ext cx="4595922" cy="329165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435608" y="2112264"/>
            <a:ext cx="1989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baseline="30000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,2</a:t>
            </a:r>
            <a:r>
              <a:rPr lang="en-US" baseline="30000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,3</a:t>
            </a:r>
            <a:r>
              <a:rPr lang="en-US" baseline="30000" dirty="0" smtClean="0">
                <a:solidFill>
                  <a:srgbClr val="CC22D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solidFill>
                  <a:srgbClr val="CC22D0"/>
                </a:solidFill>
              </a:rPr>
              <a:t> consumer</a:t>
            </a:r>
          </a:p>
          <a:p>
            <a:r>
              <a:rPr lang="en-US" dirty="0" smtClean="0">
                <a:solidFill>
                  <a:srgbClr val="CC22D0"/>
                </a:solidFill>
              </a:rPr>
              <a:t>Biosphere</a:t>
            </a:r>
            <a:endParaRPr lang="en-US" dirty="0">
              <a:solidFill>
                <a:srgbClr val="CC22D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5495" y="965933"/>
            <a:ext cx="10943720" cy="5892067"/>
            <a:chOff x="15495" y="965933"/>
            <a:chExt cx="10943720" cy="5892067"/>
          </a:xfrm>
        </p:grpSpPr>
        <p:grpSp>
          <p:nvGrpSpPr>
            <p:cNvPr id="14" name="Group 13"/>
            <p:cNvGrpSpPr/>
            <p:nvPr/>
          </p:nvGrpSpPr>
          <p:grpSpPr>
            <a:xfrm rot="637281">
              <a:off x="8195573" y="4891054"/>
              <a:ext cx="1585687" cy="1251157"/>
              <a:chOff x="8361426" y="4498847"/>
              <a:chExt cx="1585687" cy="1251157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8370719" y="5380672"/>
                <a:ext cx="1576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Fossil fuel etc </a:t>
                </a:r>
                <a:endParaRPr lang="en-US" dirty="0"/>
              </a:p>
            </p:txBody>
          </p:sp>
          <p:pic>
            <p:nvPicPr>
              <p:cNvPr id="19" name="Picture 3" descr="C:\Users\NARESH\Desktop\chemical-industry-stock-photo_csp3037094.jp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361426" y="4498847"/>
                <a:ext cx="1140834" cy="869569"/>
              </a:xfrm>
              <a:prstGeom prst="rect">
                <a:avLst/>
              </a:prstGeom>
              <a:noFill/>
            </p:spPr>
          </p:pic>
        </p:grpSp>
        <p:grpSp>
          <p:nvGrpSpPr>
            <p:cNvPr id="31" name="Group 30"/>
            <p:cNvGrpSpPr/>
            <p:nvPr/>
          </p:nvGrpSpPr>
          <p:grpSpPr>
            <a:xfrm>
              <a:off x="15495" y="965933"/>
              <a:ext cx="10943720" cy="5892067"/>
              <a:chOff x="15495" y="965933"/>
              <a:chExt cx="10943720" cy="5892067"/>
            </a:xfrm>
          </p:grpSpPr>
          <p:pic>
            <p:nvPicPr>
              <p:cNvPr id="5124" name="Picture 4" descr="C:\Users\NARESH\Desktop\electric.jp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9402318" y="4818888"/>
                <a:ext cx="1556897" cy="1037273"/>
              </a:xfrm>
              <a:prstGeom prst="rect">
                <a:avLst/>
              </a:prstGeom>
              <a:noFill/>
            </p:spPr>
          </p:pic>
          <p:grpSp>
            <p:nvGrpSpPr>
              <p:cNvPr id="30" name="Group 29"/>
              <p:cNvGrpSpPr/>
              <p:nvPr/>
            </p:nvGrpSpPr>
            <p:grpSpPr>
              <a:xfrm>
                <a:off x="15495" y="965933"/>
                <a:ext cx="10487640" cy="5892067"/>
                <a:chOff x="15495" y="965933"/>
                <a:chExt cx="10487640" cy="5892067"/>
              </a:xfrm>
            </p:grpSpPr>
            <p:sp>
              <p:nvSpPr>
                <p:cNvPr id="23" name="TextBox 22"/>
                <p:cNvSpPr txBox="1"/>
                <p:nvPr/>
              </p:nvSpPr>
              <p:spPr>
                <a:xfrm>
                  <a:off x="9592056" y="4517136"/>
                  <a:ext cx="654346" cy="369332"/>
                </a:xfrm>
                <a:prstGeom prst="rect">
                  <a:avLst/>
                </a:prstGeom>
                <a:noFill/>
                <a:ln>
                  <a:solidFill>
                    <a:srgbClr val="CC22D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 smtClean="0"/>
                    <a:t>NOx</a:t>
                  </a:r>
                  <a:endParaRPr lang="en-US" dirty="0"/>
                </a:p>
              </p:txBody>
            </p:sp>
            <p:grpSp>
              <p:nvGrpSpPr>
                <p:cNvPr id="29" name="Group 28"/>
                <p:cNvGrpSpPr/>
                <p:nvPr/>
              </p:nvGrpSpPr>
              <p:grpSpPr>
                <a:xfrm>
                  <a:off x="15495" y="965933"/>
                  <a:ext cx="10487640" cy="5892067"/>
                  <a:chOff x="15495" y="965933"/>
                  <a:chExt cx="10487640" cy="5892067"/>
                </a:xfrm>
              </p:grpSpPr>
              <p:sp>
                <p:nvSpPr>
                  <p:cNvPr id="12" name="Curved Right Arrow 11"/>
                  <p:cNvSpPr/>
                  <p:nvPr/>
                </p:nvSpPr>
                <p:spPr>
                  <a:xfrm rot="7758404">
                    <a:off x="6666873" y="-805180"/>
                    <a:ext cx="860565" cy="6811959"/>
                  </a:xfrm>
                  <a:prstGeom prst="curved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28" name="Group 27"/>
                  <p:cNvGrpSpPr/>
                  <p:nvPr/>
                </p:nvGrpSpPr>
                <p:grpSpPr>
                  <a:xfrm>
                    <a:off x="15495" y="965933"/>
                    <a:ext cx="7700282" cy="5892067"/>
                    <a:chOff x="15495" y="965933"/>
                    <a:chExt cx="7700282" cy="5892067"/>
                  </a:xfrm>
                </p:grpSpPr>
                <p:grpSp>
                  <p:nvGrpSpPr>
                    <p:cNvPr id="27" name="Group 26"/>
                    <p:cNvGrpSpPr/>
                    <p:nvPr/>
                  </p:nvGrpSpPr>
                  <p:grpSpPr>
                    <a:xfrm>
                      <a:off x="15495" y="965933"/>
                      <a:ext cx="3029801" cy="5877112"/>
                      <a:chOff x="15495" y="965933"/>
                      <a:chExt cx="3029801" cy="5877112"/>
                    </a:xfrm>
                  </p:grpSpPr>
                  <p:sp>
                    <p:nvSpPr>
                      <p:cNvPr id="17" name="Curved Right Arrow 16"/>
                      <p:cNvSpPr/>
                      <p:nvPr/>
                    </p:nvSpPr>
                    <p:spPr>
                      <a:xfrm>
                        <a:off x="15495" y="965933"/>
                        <a:ext cx="779951" cy="5877112"/>
                      </a:xfrm>
                      <a:prstGeom prst="curvedRightArrow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24" name="TextBox 23"/>
                      <p:cNvSpPr txBox="1"/>
                      <p:nvPr/>
                    </p:nvSpPr>
                    <p:spPr>
                      <a:xfrm>
                        <a:off x="1243584" y="969264"/>
                        <a:ext cx="180171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 smtClean="0"/>
                          <a:t>HNO3 acid rain 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25" name="TextBox 24"/>
                    <p:cNvSpPr txBox="1"/>
                    <p:nvPr/>
                  </p:nvSpPr>
                  <p:spPr>
                    <a:xfrm>
                      <a:off x="950976" y="6488668"/>
                      <a:ext cx="6764801" cy="369332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 smtClean="0">
                          <a:solidFill>
                            <a:srgbClr val="CC22D0"/>
                          </a:solidFill>
                        </a:rPr>
                        <a:t>Lithosphere, hydrosphere, Biosphere,  Industrial Nitrogen fixation</a:t>
                      </a:r>
                      <a:endParaRPr lang="en-US" dirty="0">
                        <a:solidFill>
                          <a:srgbClr val="CC22D0"/>
                        </a:solidFill>
                      </a:endParaRP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30299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357" y="-165441"/>
            <a:ext cx="11004222" cy="8012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Hydrological cycle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1" name="Picture 3" descr="C:\Users\NARESH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6224557" y="3804501"/>
            <a:ext cx="581548" cy="578963"/>
          </a:xfrm>
          <a:prstGeom prst="rect">
            <a:avLst/>
          </a:prstGeom>
          <a:noFill/>
        </p:spPr>
      </p:pic>
      <p:pic>
        <p:nvPicPr>
          <p:cNvPr id="20" name="Picture 3" descr="C:\Users\NARESH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6716322" y="3900340"/>
            <a:ext cx="581548" cy="578963"/>
          </a:xfrm>
          <a:prstGeom prst="rect">
            <a:avLst/>
          </a:prstGeom>
          <a:noFill/>
        </p:spPr>
      </p:pic>
      <p:grpSp>
        <p:nvGrpSpPr>
          <p:cNvPr id="3" name="Group 37"/>
          <p:cNvGrpSpPr/>
          <p:nvPr/>
        </p:nvGrpSpPr>
        <p:grpSpPr>
          <a:xfrm>
            <a:off x="0" y="897786"/>
            <a:ext cx="10699128" cy="5819284"/>
            <a:chOff x="0" y="760626"/>
            <a:chExt cx="10699128" cy="5819284"/>
          </a:xfrm>
        </p:grpSpPr>
        <p:grpSp>
          <p:nvGrpSpPr>
            <p:cNvPr id="5" name="Group 33"/>
            <p:cNvGrpSpPr/>
            <p:nvPr/>
          </p:nvGrpSpPr>
          <p:grpSpPr>
            <a:xfrm>
              <a:off x="0" y="760626"/>
              <a:ext cx="10699128" cy="5819284"/>
              <a:chOff x="0" y="760626"/>
              <a:chExt cx="10699128" cy="5819284"/>
            </a:xfrm>
          </p:grpSpPr>
          <p:grpSp>
            <p:nvGrpSpPr>
              <p:cNvPr id="6" name="Group 13"/>
              <p:cNvGrpSpPr/>
              <p:nvPr/>
            </p:nvGrpSpPr>
            <p:grpSpPr>
              <a:xfrm>
                <a:off x="374715" y="760626"/>
                <a:ext cx="10324413" cy="5819284"/>
                <a:chOff x="-1282045" y="623936"/>
                <a:chExt cx="10324413" cy="5819284"/>
              </a:xfrm>
            </p:grpSpPr>
            <p:pic>
              <p:nvPicPr>
                <p:cNvPr id="4" name="Picture 3"/>
                <p:cNvPicPr>
                  <a:picLocks noChangeAspect="1"/>
                </p:cNvPicPr>
                <p:nvPr/>
              </p:nvPicPr>
              <p:blipFill>
                <a:blip r:embed="rId3" cstate="print"/>
                <a:srcRect l="2450" r="3675"/>
                <a:stretch>
                  <a:fillRect/>
                </a:stretch>
              </p:blipFill>
              <p:spPr>
                <a:xfrm>
                  <a:off x="-1282045" y="623936"/>
                  <a:ext cx="10324413" cy="5819284"/>
                </a:xfrm>
                <a:prstGeom prst="rect">
                  <a:avLst/>
                </a:prstGeom>
              </p:spPr>
            </p:pic>
            <p:sp>
              <p:nvSpPr>
                <p:cNvPr id="10" name="Notched Right Arrow 9"/>
                <p:cNvSpPr/>
                <p:nvPr/>
              </p:nvSpPr>
              <p:spPr>
                <a:xfrm rot="18597347">
                  <a:off x="-1452816" y="1947718"/>
                  <a:ext cx="2709590" cy="174736"/>
                </a:xfrm>
                <a:prstGeom prst="notched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Notched Right Arrow 10"/>
                <p:cNvSpPr/>
                <p:nvPr/>
              </p:nvSpPr>
              <p:spPr>
                <a:xfrm rot="7738790">
                  <a:off x="-1117709" y="2109520"/>
                  <a:ext cx="2590249" cy="173848"/>
                </a:xfrm>
                <a:prstGeom prst="notched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 rot="18340991">
                  <a:off x="-1080201" y="1706252"/>
                  <a:ext cx="14499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Evaporation </a:t>
                  </a:r>
                  <a:endParaRPr lang="en-US" dirty="0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 rot="18411053">
                  <a:off x="-357890" y="2169736"/>
                  <a:ext cx="1535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Precipitation </a:t>
                  </a:r>
                  <a:endParaRPr lang="en-US" dirty="0"/>
                </a:p>
              </p:txBody>
            </p:sp>
          </p:grpSp>
          <p:grpSp>
            <p:nvGrpSpPr>
              <p:cNvPr id="7" name="Group 15"/>
              <p:cNvGrpSpPr/>
              <p:nvPr/>
            </p:nvGrpSpPr>
            <p:grpSpPr>
              <a:xfrm>
                <a:off x="0" y="3393649"/>
                <a:ext cx="1632626" cy="914400"/>
                <a:chOff x="122548" y="3610466"/>
                <a:chExt cx="1632626" cy="914400"/>
              </a:xfrm>
            </p:grpSpPr>
            <p:sp>
              <p:nvSpPr>
                <p:cNvPr id="17" name="Rounded Rectangle 16"/>
                <p:cNvSpPr/>
                <p:nvPr/>
              </p:nvSpPr>
              <p:spPr>
                <a:xfrm>
                  <a:off x="160256" y="3610466"/>
                  <a:ext cx="1583703" cy="914400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/>
                    <a:t>G</a:t>
                  </a:r>
                  <a:endParaRPr lang="en-US" dirty="0"/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122548" y="3921550"/>
                  <a:ext cx="16326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Glacier / Snow</a:t>
                  </a:r>
                  <a:endParaRPr lang="en-US" dirty="0"/>
                </a:p>
              </p:txBody>
            </p:sp>
          </p:grpSp>
          <p:grpSp>
            <p:nvGrpSpPr>
              <p:cNvPr id="8" name="Group 21"/>
              <p:cNvGrpSpPr/>
              <p:nvPr/>
            </p:nvGrpSpPr>
            <p:grpSpPr>
              <a:xfrm rot="19442748">
                <a:off x="6515644" y="1366901"/>
                <a:ext cx="734560" cy="2320758"/>
                <a:chOff x="907771" y="1101078"/>
                <a:chExt cx="734560" cy="2320758"/>
              </a:xfrm>
            </p:grpSpPr>
            <p:sp>
              <p:nvSpPr>
                <p:cNvPr id="23" name="Notched Right Arrow 22"/>
                <p:cNvSpPr/>
                <p:nvPr/>
              </p:nvSpPr>
              <p:spPr>
                <a:xfrm rot="18416081">
                  <a:off x="293105" y="2128699"/>
                  <a:ext cx="2151177" cy="224553"/>
                </a:xfrm>
                <a:prstGeom prst="notched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Notched Right Arrow 23"/>
                <p:cNvSpPr/>
                <p:nvPr/>
              </p:nvSpPr>
              <p:spPr>
                <a:xfrm rot="7499832">
                  <a:off x="-76317" y="2141992"/>
                  <a:ext cx="2320758" cy="238929"/>
                </a:xfrm>
                <a:prstGeom prst="notched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18340991">
                  <a:off x="367462" y="1743197"/>
                  <a:ext cx="14499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Evaporation </a:t>
                  </a:r>
                  <a:endParaRPr lang="en-US" dirty="0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 rot="18411053">
                  <a:off x="689858" y="2196103"/>
                  <a:ext cx="1535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Precipitation </a:t>
                  </a:r>
                  <a:endParaRPr lang="en-US" dirty="0"/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6876194" y="3542216"/>
                <a:ext cx="1233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/>
                  <a:t>Transpiration</a:t>
                </a:r>
                <a:r>
                  <a:rPr lang="en-US" b="1" dirty="0" smtClean="0"/>
                  <a:t> </a:t>
                </a:r>
                <a:endParaRPr lang="en-US" b="1" dirty="0"/>
              </a:p>
            </p:txBody>
          </p:sp>
        </p:grpSp>
        <p:sp>
          <p:nvSpPr>
            <p:cNvPr id="36" name="Right Arrow 35"/>
            <p:cNvSpPr/>
            <p:nvPr/>
          </p:nvSpPr>
          <p:spPr>
            <a:xfrm rot="1907644">
              <a:off x="1618488" y="4151376"/>
              <a:ext cx="1545336" cy="1737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 rot="2082375">
              <a:off x="1419693" y="4215830"/>
              <a:ext cx="13479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>
                  <a:solidFill>
                    <a:srgbClr val="7030A0"/>
                  </a:solidFill>
                </a:rPr>
                <a:t>Glacier melting </a:t>
              </a:r>
              <a:endParaRPr lang="en-US" sz="12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508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25082"/>
            <a:ext cx="12016596" cy="6732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926</TotalTime>
  <Words>905</Words>
  <Application>Microsoft Office PowerPoint</Application>
  <PresentationFormat>Custom</PresentationFormat>
  <Paragraphs>151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Flow</vt:lpstr>
      <vt:lpstr>PowerPoint Presentation</vt:lpstr>
      <vt:lpstr>Topic to be discussed  </vt:lpstr>
      <vt:lpstr>PowerPoint Presentation</vt:lpstr>
      <vt:lpstr>Structure of Ecosystem</vt:lpstr>
      <vt:lpstr>Types of Ecosystem</vt:lpstr>
      <vt:lpstr>PowerPoint Presentation</vt:lpstr>
      <vt:lpstr>Food Chains</vt:lpstr>
      <vt:lpstr> Types of Food Chains</vt:lpstr>
      <vt:lpstr>Types of Food Chains</vt:lpstr>
      <vt:lpstr>                          Food web</vt:lpstr>
      <vt:lpstr>Significant of Food chains and Food webs</vt:lpstr>
      <vt:lpstr>Energy flow in a Ecosystem </vt:lpstr>
      <vt:lpstr>Energy Flow  </vt:lpstr>
      <vt:lpstr>Primary production</vt:lpstr>
      <vt:lpstr>Ecological Pyramids</vt:lpstr>
      <vt:lpstr>Pyramids of Biomass</vt:lpstr>
      <vt:lpstr>Pyramid of Biomass</vt:lpstr>
      <vt:lpstr>PowerPoint Presentation</vt:lpstr>
      <vt:lpstr>Pyramid of Energy</vt:lpstr>
      <vt:lpstr>                             Carbon cycle </vt:lpstr>
      <vt:lpstr>Nitrogen cycle</vt:lpstr>
      <vt:lpstr>Hydrological cycle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dibyasingh rajput</dc:creator>
  <cp:lastModifiedBy>user</cp:lastModifiedBy>
  <cp:revision>103</cp:revision>
  <dcterms:created xsi:type="dcterms:W3CDTF">2020-04-15T10:50:00Z</dcterms:created>
  <dcterms:modified xsi:type="dcterms:W3CDTF">2025-08-30T09:07:47Z</dcterms:modified>
</cp:coreProperties>
</file>