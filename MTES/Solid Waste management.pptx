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396" r:id="rId2"/>
    <p:sldId id="400" r:id="rId3"/>
    <p:sldId id="361" r:id="rId4"/>
    <p:sldId id="387" r:id="rId5"/>
    <p:sldId id="386" r:id="rId6"/>
    <p:sldId id="354" r:id="rId7"/>
    <p:sldId id="402" r:id="rId8"/>
    <p:sldId id="366" r:id="rId9"/>
    <p:sldId id="355" r:id="rId10"/>
    <p:sldId id="388" r:id="rId11"/>
    <p:sldId id="375" r:id="rId12"/>
    <p:sldId id="397" r:id="rId13"/>
    <p:sldId id="376" r:id="rId14"/>
    <p:sldId id="377" r:id="rId15"/>
    <p:sldId id="398" r:id="rId16"/>
    <p:sldId id="399" r:id="rId17"/>
    <p:sldId id="389" r:id="rId18"/>
    <p:sldId id="379" r:id="rId19"/>
    <p:sldId id="380" r:id="rId20"/>
    <p:sldId id="381" r:id="rId21"/>
    <p:sldId id="382" r:id="rId22"/>
    <p:sldId id="403" r:id="rId23"/>
    <p:sldId id="40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35" autoAdjust="0"/>
    <p:restoredTop sz="94660"/>
  </p:normalViewPr>
  <p:slideViewPr>
    <p:cSldViewPr snapToGrid="0">
      <p:cViewPr varScale="1">
        <p:scale>
          <a:sx n="88" d="100"/>
          <a:sy n="88" d="100"/>
        </p:scale>
        <p:origin x="-451" y="-77"/>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5F5F41-4859-4040-9F9A-37A4442692BA}" type="datetimeFigureOut">
              <a:rPr lang="en-IN" smtClean="0"/>
              <a:pPr/>
              <a:t>20-05-2021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54029-6BA0-4B38-ACAE-59B52D8A8205}" type="slidenum">
              <a:rPr lang="en-IN" smtClean="0"/>
              <a:pPr/>
              <a:t>‹#›</a:t>
            </a:fld>
            <a:endParaRPr lang="en-IN"/>
          </a:p>
        </p:txBody>
      </p:sp>
    </p:spTree>
    <p:extLst>
      <p:ext uri="{BB962C8B-B14F-4D97-AF65-F5344CB8AC3E}">
        <p14:creationId xmlns:p14="http://schemas.microsoft.com/office/powerpoint/2010/main" xmlns="" val="3097031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C3EFE1-84F0-44BF-A7E6-4B8E7AEDC81C}" type="slidenum">
              <a:rPr lang="en-US" smtClean="0"/>
              <a:pPr/>
              <a:t>3</a:t>
            </a:fld>
            <a:endParaRPr lang="en-US"/>
          </a:p>
        </p:txBody>
      </p:sp>
    </p:spTree>
    <p:extLst>
      <p:ext uri="{BB962C8B-B14F-4D97-AF65-F5344CB8AC3E}">
        <p14:creationId xmlns:p14="http://schemas.microsoft.com/office/powerpoint/2010/main" xmlns="" val="1000797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8E2DE1-1C23-4A03-949D-D07AAF76FE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4A0912F1-EFC8-4183-B2E3-BC0FEF6805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5BE2F714-B210-49D5-BADB-FBE9B8D92132}"/>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5" name="Footer Placeholder 4">
            <a:extLst>
              <a:ext uri="{FF2B5EF4-FFF2-40B4-BE49-F238E27FC236}">
                <a16:creationId xmlns="" xmlns:a16="http://schemas.microsoft.com/office/drawing/2014/main" id="{D8C7CD44-1D06-43EA-A27C-B28B9A3F6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987D44B-CC6C-4268-B241-9EFDEDAFC8A0}"/>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3946117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120089-7E0A-4A68-8791-09E484CBB0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057B8A4-A786-4FFD-9D8B-93DE16984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837A989-CD7A-4C5F-A63C-BB0C3930FE44}"/>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5" name="Footer Placeholder 4">
            <a:extLst>
              <a:ext uri="{FF2B5EF4-FFF2-40B4-BE49-F238E27FC236}">
                <a16:creationId xmlns="" xmlns:a16="http://schemas.microsoft.com/office/drawing/2014/main" id="{74F8E39D-F922-4119-ADF7-BD872AEE5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1011EBFB-86FD-4C0B-BB6A-B9F38E7F5DCD}"/>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124531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EC7CED-20B6-4574-A753-FFB3C9DE67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9EBA39C-AEDE-4EE4-8C57-138B43EA6F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9BF4F832-9C2C-4476-9C7F-723D5BBA4316}"/>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5" name="Footer Placeholder 4">
            <a:extLst>
              <a:ext uri="{FF2B5EF4-FFF2-40B4-BE49-F238E27FC236}">
                <a16:creationId xmlns="" xmlns:a16="http://schemas.microsoft.com/office/drawing/2014/main" id="{F9C7C846-C781-4211-A03C-ABABE849EE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D349C08-3D84-4CC0-AA1C-1BCAAF55C3B1}"/>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242897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FFAB34-6F01-4488-8128-C0C1A175C1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300CCA9-4D88-40F0-95B5-2A3D3155F1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C8DEE2A7-13EC-435B-AB5F-EAD9FD0138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3718BE2C-4B4D-45CC-A1D4-FA4817F78391}"/>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6" name="Footer Placeholder 5">
            <a:extLst>
              <a:ext uri="{FF2B5EF4-FFF2-40B4-BE49-F238E27FC236}">
                <a16:creationId xmlns="" xmlns:a16="http://schemas.microsoft.com/office/drawing/2014/main" id="{30627838-B15B-41FD-8C37-9DAB1E3546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963CA71-9EC9-47CE-86CD-0475EB2872AF}"/>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3117576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35A309-FF34-430F-B5FE-CB676D055FA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6E66F39-510A-4420-A7E2-1134E8BB8E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7C970971-C702-4058-BD42-C0E02B3F36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27A955A9-5949-45F2-A822-B26A654344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7705A96B-67C2-4C36-9D26-9CD720EBDB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ED09D63D-1E8B-4E86-822D-3FD82DC153EC}"/>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8" name="Footer Placeholder 7">
            <a:extLst>
              <a:ext uri="{FF2B5EF4-FFF2-40B4-BE49-F238E27FC236}">
                <a16:creationId xmlns="" xmlns:a16="http://schemas.microsoft.com/office/drawing/2014/main" id="{EE8B5F0F-3EFC-4DAE-982E-932B404189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2EC75075-9595-497F-AF01-1F93C3243E3C}"/>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1900748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65C9B1-E16E-4F23-9D80-36AB5F4A5A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65477F21-A1B8-4734-AF79-DA4C8BC59806}"/>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4" name="Footer Placeholder 3">
            <a:extLst>
              <a:ext uri="{FF2B5EF4-FFF2-40B4-BE49-F238E27FC236}">
                <a16:creationId xmlns="" xmlns:a16="http://schemas.microsoft.com/office/drawing/2014/main" id="{AE22359A-406D-4493-A89E-DB8573A586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8BE4B0F2-995F-403F-810E-19995E089E08}"/>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1637216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E9357FA-9DE0-4E77-B565-66B08D7BFA95}"/>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3" name="Footer Placeholder 2">
            <a:extLst>
              <a:ext uri="{FF2B5EF4-FFF2-40B4-BE49-F238E27FC236}">
                <a16:creationId xmlns="" xmlns:a16="http://schemas.microsoft.com/office/drawing/2014/main" id="{53F68202-D420-470E-8FB6-E7447E018D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F6479013-B7E9-4083-A0AC-32354A6D1AA8}"/>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3419247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AE37BA-552E-4637-8096-841638C619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E8E94CA-2580-4B5F-AB67-AA23536610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9B6513DC-243F-4906-9316-E493EFEF6D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D48FF1F-FA1A-471B-8EDE-F083357E2E3F}"/>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6" name="Footer Placeholder 5">
            <a:extLst>
              <a:ext uri="{FF2B5EF4-FFF2-40B4-BE49-F238E27FC236}">
                <a16:creationId xmlns="" xmlns:a16="http://schemas.microsoft.com/office/drawing/2014/main" id="{1BA9F5EA-1CE7-41A0-9531-066D6E2C9E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F397D857-D395-419E-8F6C-BAF09F2E54D4}"/>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2510742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90949C2-73A9-4454-8B1B-F7CA547351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27458ACC-F92F-4808-8050-7B7A6F6020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A5247972-0440-4082-9C82-651CADA89B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0DB76D9-C0BF-438F-8981-64348DAE30AE}"/>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6" name="Footer Placeholder 5">
            <a:extLst>
              <a:ext uri="{FF2B5EF4-FFF2-40B4-BE49-F238E27FC236}">
                <a16:creationId xmlns="" xmlns:a16="http://schemas.microsoft.com/office/drawing/2014/main" id="{D624F911-09EB-44C9-9CF9-42B3782D0F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14A1FBD3-46F3-4922-8C9C-A77F35D0C993}"/>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2385861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B6C43B-E9D1-42D9-9806-645BBD9C89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818121C-86D5-4A88-B8C7-F2CB46442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028BFED-30D9-4F27-80BB-95A67BE7B930}"/>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5" name="Footer Placeholder 4">
            <a:extLst>
              <a:ext uri="{FF2B5EF4-FFF2-40B4-BE49-F238E27FC236}">
                <a16:creationId xmlns="" xmlns:a16="http://schemas.microsoft.com/office/drawing/2014/main" id="{2E1864DB-1BE0-4E47-B7CD-9F43629A5A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4E1BE99-E346-4230-8288-64B5D9A93E0B}"/>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2616187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FA20B78-C4EC-44E4-B19A-097FCCE3CA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792E1D11-DAFD-48FA-9BD1-570979BC0A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ED5C8F5-477F-4A5F-8091-739E78D944D2}"/>
              </a:ext>
            </a:extLst>
          </p:cNvPr>
          <p:cNvSpPr>
            <a:spLocks noGrp="1"/>
          </p:cNvSpPr>
          <p:nvPr>
            <p:ph type="dt" sz="half" idx="10"/>
          </p:nvPr>
        </p:nvSpPr>
        <p:spPr/>
        <p:txBody>
          <a:bodyPr/>
          <a:lstStyle/>
          <a:p>
            <a:fld id="{29173C1C-28CA-4E80-939B-345C6641F6F6}" type="datetimeFigureOut">
              <a:rPr lang="en-IN" smtClean="0"/>
              <a:pPr/>
              <a:t>20-05-2021</a:t>
            </a:fld>
            <a:endParaRPr lang="en-IN"/>
          </a:p>
        </p:txBody>
      </p:sp>
      <p:sp>
        <p:nvSpPr>
          <p:cNvPr id="5" name="Footer Placeholder 4">
            <a:extLst>
              <a:ext uri="{FF2B5EF4-FFF2-40B4-BE49-F238E27FC236}">
                <a16:creationId xmlns="" xmlns:a16="http://schemas.microsoft.com/office/drawing/2014/main" id="{29C67E77-58DB-46A5-9694-3C59DB031A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FF1BA0C-5382-446B-9871-6FE3185339EC}"/>
              </a:ext>
            </a:extLst>
          </p:cNvPr>
          <p:cNvSpPr>
            <a:spLocks noGrp="1"/>
          </p:cNvSpPr>
          <p:nvPr>
            <p:ph type="sldNum" sz="quarter" idx="12"/>
          </p:nvPr>
        </p:nvSpPr>
        <p:spPr/>
        <p:txBody>
          <a:body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1633386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9B8A971E-7E4C-4034-AEAB-881A1412AD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DD27F9CC-16A5-400C-AACA-30E589A09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0E87D9C-B029-4EAE-87B0-93E029E726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173C1C-28CA-4E80-939B-345C6641F6F6}" type="datetimeFigureOut">
              <a:rPr lang="en-IN" smtClean="0"/>
              <a:pPr/>
              <a:t>20-05-2021</a:t>
            </a:fld>
            <a:endParaRPr lang="en-IN"/>
          </a:p>
        </p:txBody>
      </p:sp>
      <p:sp>
        <p:nvSpPr>
          <p:cNvPr id="5" name="Footer Placeholder 4">
            <a:extLst>
              <a:ext uri="{FF2B5EF4-FFF2-40B4-BE49-F238E27FC236}">
                <a16:creationId xmlns="" xmlns:a16="http://schemas.microsoft.com/office/drawing/2014/main" id="{BE26D535-1A60-4D05-81BF-7922450CE5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7CF58477-AD3B-440A-B7D0-4A50F47764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C5E4D9-47D5-41FF-8936-024BC19DCCF2}" type="slidenum">
              <a:rPr lang="en-IN" smtClean="0"/>
              <a:pPr/>
              <a:t>‹#›</a:t>
            </a:fld>
            <a:endParaRPr lang="en-IN"/>
          </a:p>
        </p:txBody>
      </p:sp>
    </p:spTree>
    <p:extLst>
      <p:ext uri="{BB962C8B-B14F-4D97-AF65-F5344CB8AC3E}">
        <p14:creationId xmlns:p14="http://schemas.microsoft.com/office/powerpoint/2010/main" xmlns="" val="1404884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905001"/>
            <a:ext cx="10769600" cy="2339102"/>
          </a:xfrm>
          <a:prstGeom prst="rect">
            <a:avLst/>
          </a:prstGeom>
        </p:spPr>
        <p:txBody>
          <a:bodyPr wrap="square">
            <a:spAutoFit/>
          </a:bodyPr>
          <a:lstStyle/>
          <a:p>
            <a:pPr algn="ctr">
              <a:defRPr/>
            </a:pPr>
            <a:r>
              <a:rPr lang="en-US" sz="3200" b="1" dirty="0" smtClean="0">
                <a:solidFill>
                  <a:srgbClr val="0070C0"/>
                </a:solidFill>
                <a:latin typeface="Times New Roman" panose="02020603050405020304" pitchFamily="18" charset="0"/>
              </a:rPr>
              <a:t>Solid Waste management including Integrated Solid Waste Management (ISWM)</a:t>
            </a:r>
            <a:endParaRPr lang="en-IN" sz="3200" dirty="0" smtClean="0">
              <a:solidFill>
                <a:srgbClr val="00B0F0"/>
              </a:solidFill>
            </a:endParaRPr>
          </a:p>
          <a:p>
            <a:pPr algn="ctr">
              <a:defRPr/>
            </a:pPr>
            <a:r>
              <a:rPr lang="en-US" sz="3200" b="1" dirty="0" smtClean="0"/>
              <a:t>Unit 5 </a:t>
            </a:r>
            <a:endParaRPr lang="en-US" sz="3200" dirty="0"/>
          </a:p>
          <a:p>
            <a:r>
              <a:rPr lang="en-US" sz="3200" dirty="0"/>
              <a:t> </a:t>
            </a:r>
            <a:r>
              <a:rPr lang="en-US" sz="3200" dirty="0" smtClean="0"/>
              <a:t>                                            Environmental  Pollution</a:t>
            </a:r>
            <a:endParaRPr lang="en-US" sz="3200" b="1" dirty="0"/>
          </a:p>
          <a:p>
            <a:pPr algn="ctr">
              <a:defRPr/>
            </a:pPr>
            <a:r>
              <a:rPr lang="en-US" dirty="0"/>
              <a:t>	</a:t>
            </a:r>
          </a:p>
        </p:txBody>
      </p:sp>
      <p:sp>
        <p:nvSpPr>
          <p:cNvPr id="5" name="Rectangle 4"/>
          <p:cNvSpPr/>
          <p:nvPr/>
        </p:nvSpPr>
        <p:spPr>
          <a:xfrm>
            <a:off x="203200" y="5257804"/>
            <a:ext cx="6096000" cy="923330"/>
          </a:xfrm>
          <a:prstGeom prst="rect">
            <a:avLst/>
          </a:prstGeom>
        </p:spPr>
        <p:txBody>
          <a:bodyPr>
            <a:spAutoFit/>
          </a:bodyPr>
          <a:lstStyle/>
          <a:p>
            <a:pPr algn="just"/>
            <a:r>
              <a:rPr lang="en-US" altLang="en-US" b="1" dirty="0" smtClean="0">
                <a:latin typeface="Comic Sans MS" pitchFamily="66" charset="0"/>
              </a:rPr>
              <a:t>Prepared by; Dr  </a:t>
            </a:r>
            <a:r>
              <a:rPr lang="en-US" altLang="en-US" b="1" dirty="0" err="1" smtClean="0">
                <a:latin typeface="Comic Sans MS" pitchFamily="66" charset="0"/>
              </a:rPr>
              <a:t>Naresh</a:t>
            </a:r>
            <a:r>
              <a:rPr lang="en-US" altLang="en-US" b="1" dirty="0" smtClean="0">
                <a:latin typeface="Comic Sans MS" pitchFamily="66" charset="0"/>
              </a:rPr>
              <a:t> Kumar </a:t>
            </a:r>
            <a:r>
              <a:rPr lang="en-US" altLang="en-US" b="1" dirty="0" err="1" smtClean="0">
                <a:latin typeface="Comic Sans MS" pitchFamily="66" charset="0"/>
              </a:rPr>
              <a:t>Sahoo</a:t>
            </a:r>
            <a:endParaRPr lang="en-US" altLang="en-US" b="1" dirty="0" smtClean="0">
              <a:latin typeface="Comic Sans MS" pitchFamily="66" charset="0"/>
            </a:endParaRPr>
          </a:p>
          <a:p>
            <a:pPr algn="just"/>
            <a:r>
              <a:rPr lang="en-US" altLang="en-US" b="1" dirty="0" smtClean="0">
                <a:latin typeface="Comic Sans MS" pitchFamily="66" charset="0"/>
              </a:rPr>
              <a:t>Department: Chemistry</a:t>
            </a:r>
          </a:p>
          <a:p>
            <a:pPr algn="just"/>
            <a:r>
              <a:rPr lang="en-US" altLang="en-US" b="1" dirty="0" smtClean="0">
                <a:latin typeface="Comic Sans MS" pitchFamily="66" charset="0"/>
              </a:rPr>
              <a:t>Subject: Environmental Studies (CHM1002)</a:t>
            </a:r>
          </a:p>
        </p:txBody>
      </p:sp>
      <p:pic>
        <p:nvPicPr>
          <p:cNvPr id="6" name="image1.png"/>
          <p:cNvPicPr>
            <a:picLocks noChangeAspect="1" noChangeArrowheads="1"/>
          </p:cNvPicPr>
          <p:nvPr/>
        </p:nvPicPr>
        <p:blipFill>
          <a:blip r:embed="rId2"/>
          <a:srcRect/>
          <a:stretch>
            <a:fillRect/>
          </a:stretch>
        </p:blipFill>
        <p:spPr bwMode="auto">
          <a:xfrm>
            <a:off x="9839867" y="0"/>
            <a:ext cx="2019300" cy="1791418"/>
          </a:xfrm>
          <a:prstGeom prst="rect">
            <a:avLst/>
          </a:prstGeom>
          <a:noFill/>
          <a:ln w="9525">
            <a:noFill/>
            <a:miter lim="800000"/>
            <a:headEnd/>
            <a:tailEnd/>
          </a:ln>
        </p:spPr>
      </p:pic>
      <p:sp>
        <p:nvSpPr>
          <p:cNvPr id="8" name="Rectangle 7"/>
          <p:cNvSpPr/>
          <p:nvPr/>
        </p:nvSpPr>
        <p:spPr>
          <a:xfrm>
            <a:off x="508000" y="762002"/>
            <a:ext cx="8026400" cy="892552"/>
          </a:xfrm>
          <a:prstGeom prst="rect">
            <a:avLst/>
          </a:prstGeom>
        </p:spPr>
        <p:txBody>
          <a:bodyPr wrap="square">
            <a:spAutoFit/>
          </a:bodyPr>
          <a:lstStyle/>
          <a:p>
            <a:pPr algn="ctr">
              <a:defRPr/>
            </a:pPr>
            <a:r>
              <a:rPr lang="en-US" sz="2800" b="1" dirty="0">
                <a:solidFill>
                  <a:srgbClr val="D32BE5"/>
                </a:solidFill>
              </a:rPr>
              <a:t>B. Tech (Environmental Studies)</a:t>
            </a:r>
            <a:r>
              <a:rPr lang="en-US" sz="2800" dirty="0">
                <a:solidFill>
                  <a:srgbClr val="FF0000"/>
                </a:solidFill>
              </a:rPr>
              <a:t/>
            </a:r>
            <a:br>
              <a:rPr lang="en-US" sz="2800" dirty="0">
                <a:solidFill>
                  <a:srgbClr val="FF0000"/>
                </a:solidFill>
              </a:rPr>
            </a:br>
            <a:r>
              <a:rPr lang="en-US" sz="2400" b="1" dirty="0">
                <a:solidFill>
                  <a:schemeClr val="tx2">
                    <a:lumMod val="75000"/>
                  </a:schemeClr>
                </a:solidFill>
              </a:rPr>
              <a:t>4</a:t>
            </a:r>
            <a:r>
              <a:rPr lang="en-US" sz="2400" b="1" baseline="30000" dirty="0">
                <a:solidFill>
                  <a:schemeClr val="tx2">
                    <a:lumMod val="75000"/>
                  </a:schemeClr>
                </a:solidFill>
              </a:rPr>
              <a:t>th </a:t>
            </a:r>
            <a:r>
              <a:rPr lang="en-US" sz="2400" dirty="0">
                <a:solidFill>
                  <a:schemeClr val="tx2">
                    <a:lumMod val="75000"/>
                  </a:schemeClr>
                </a:solidFill>
              </a:rPr>
              <a:t>and 6</a:t>
            </a:r>
            <a:r>
              <a:rPr lang="en-US" sz="2400" baseline="30000" dirty="0">
                <a:solidFill>
                  <a:schemeClr val="tx2">
                    <a:lumMod val="75000"/>
                  </a:schemeClr>
                </a:solidFill>
              </a:rPr>
              <a:t>th</a:t>
            </a:r>
            <a:r>
              <a:rPr lang="en-US" sz="2400" dirty="0">
                <a:solidFill>
                  <a:schemeClr val="tx2">
                    <a:lumMod val="75000"/>
                  </a:schemeClr>
                </a:solidFill>
              </a:rPr>
              <a:t> </a:t>
            </a:r>
            <a:r>
              <a:rPr lang="en-US" sz="2400" b="1" dirty="0">
                <a:solidFill>
                  <a:schemeClr val="tx2">
                    <a:lumMod val="75000"/>
                  </a:schemeClr>
                </a:solidFill>
              </a:rPr>
              <a:t>Semester</a:t>
            </a:r>
            <a:endParaRPr lang="en-US" sz="2400" dirty="0"/>
          </a:p>
        </p:txBody>
      </p:sp>
      <p:pic>
        <p:nvPicPr>
          <p:cNvPr id="9" name="Picture 2" descr="C:\Users\NARESH\Desktop\solid waste management\landfill-basics-1-638.jpg"/>
          <p:cNvPicPr>
            <a:picLocks noChangeAspect="1" noChangeArrowheads="1"/>
          </p:cNvPicPr>
          <p:nvPr/>
        </p:nvPicPr>
        <p:blipFill>
          <a:blip r:embed="rId3"/>
          <a:srcRect b="47599"/>
          <a:stretch>
            <a:fillRect/>
          </a:stretch>
        </p:blipFill>
        <p:spPr bwMode="auto">
          <a:xfrm>
            <a:off x="7179403" y="4023445"/>
            <a:ext cx="4906206" cy="2834555"/>
          </a:xfrm>
          <a:prstGeom prst="rect">
            <a:avLst/>
          </a:prstGeom>
          <a:noFill/>
        </p:spPr>
      </p:pic>
      <p:pic>
        <p:nvPicPr>
          <p:cNvPr id="11" name="Picture 10">
            <a:extLst>
              <a:ext uri="{FF2B5EF4-FFF2-40B4-BE49-F238E27FC236}">
                <a16:creationId xmlns="" xmlns:a16="http://schemas.microsoft.com/office/drawing/2014/main" id="{B58BFCCD-3AF1-455E-BF3B-297399B14C89}"/>
              </a:ext>
            </a:extLst>
          </p:cNvPr>
          <p:cNvPicPr>
            <a:picLocks noChangeAspect="1"/>
          </p:cNvPicPr>
          <p:nvPr/>
        </p:nvPicPr>
        <p:blipFill>
          <a:blip r:embed="rId4"/>
          <a:stretch>
            <a:fillRect/>
          </a:stretch>
        </p:blipFill>
        <p:spPr>
          <a:xfrm>
            <a:off x="245361" y="2769078"/>
            <a:ext cx="3106034" cy="229449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Contents</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Introduction</a:t>
            </a:r>
          </a:p>
          <a:p>
            <a:r>
              <a:rPr lang="en-US" dirty="0" smtClean="0"/>
              <a:t> Types and sources of Solid waste generation </a:t>
            </a:r>
          </a:p>
          <a:p>
            <a:r>
              <a:rPr lang="en-US" dirty="0" smtClean="0"/>
              <a:t>Trend of solid waste generation</a:t>
            </a:r>
          </a:p>
          <a:p>
            <a:r>
              <a:rPr lang="en-US" dirty="0" smtClean="0"/>
              <a:t>Effect of solid waste</a:t>
            </a:r>
          </a:p>
          <a:p>
            <a:r>
              <a:rPr lang="en-US" dirty="0" smtClean="0"/>
              <a:t>Technique for sold waste disposal</a:t>
            </a:r>
          </a:p>
          <a:p>
            <a:r>
              <a:rPr lang="en-US" dirty="0" smtClean="0"/>
              <a:t>Municipal solid waste management</a:t>
            </a:r>
          </a:p>
          <a:p>
            <a:r>
              <a:rPr lang="en-US" dirty="0" smtClean="0"/>
              <a:t>Sanitary land fill</a:t>
            </a:r>
          </a:p>
          <a:p>
            <a:r>
              <a:rPr lang="en-US" dirty="0" smtClean="0"/>
              <a:t>Composting, Incineration, </a:t>
            </a:r>
            <a:r>
              <a:rPr lang="en-US" dirty="0" err="1" smtClean="0"/>
              <a:t>Pyrolysis</a:t>
            </a:r>
            <a:r>
              <a:rPr lang="en-US" dirty="0" smtClean="0"/>
              <a:t> etc.</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xfrm>
            <a:off x="8458200" y="6416676"/>
            <a:ext cx="2133600" cy="365125"/>
          </a:xfrm>
        </p:spPr>
        <p:txBody>
          <a:bodyPr/>
          <a:lstStyle/>
          <a:p>
            <a:fld id="{56C6338E-475B-4C21-AB41-3EBC6D7DA700}" type="slidenum">
              <a:rPr lang="en-US" smtClean="0"/>
              <a:pPr/>
              <a:t>3</a:t>
            </a:fld>
            <a:endParaRPr lang="en-US" dirty="0"/>
          </a:p>
        </p:txBody>
      </p:sp>
      <p:sp>
        <p:nvSpPr>
          <p:cNvPr id="12" name="Title 1"/>
          <p:cNvSpPr>
            <a:spLocks noGrp="1"/>
          </p:cNvSpPr>
          <p:nvPr>
            <p:ph type="title"/>
          </p:nvPr>
        </p:nvSpPr>
        <p:spPr>
          <a:xfrm>
            <a:off x="-76200" y="0"/>
            <a:ext cx="12268200" cy="1143000"/>
          </a:xfrm>
          <a:solidFill>
            <a:srgbClr val="C00000"/>
          </a:solidFill>
        </p:spPr>
        <p:txBody>
          <a:bodyPr>
            <a:normAutofit fontScale="90000"/>
          </a:bodyPr>
          <a:lstStyle/>
          <a:p>
            <a:pPr algn="ctr"/>
            <a:r>
              <a:rPr lang="en-US" sz="3600" b="1" dirty="0">
                <a:solidFill>
                  <a:schemeClr val="bg1"/>
                </a:solidFill>
                <a:latin typeface="Times New Roman" pitchFamily="18" charset="0"/>
                <a:cs typeface="Times New Roman" pitchFamily="18" charset="0"/>
              </a:rPr>
              <a:t>   </a:t>
            </a:r>
            <a:br>
              <a:rPr lang="en-US" sz="3600" b="1" dirty="0">
                <a:solidFill>
                  <a:schemeClr val="bg1"/>
                </a:solidFill>
                <a:latin typeface="Times New Roman" pitchFamily="18" charset="0"/>
                <a:cs typeface="Times New Roman" pitchFamily="18" charset="0"/>
              </a:rPr>
            </a:br>
            <a:r>
              <a:rPr lang="en-US" sz="3600" b="1" dirty="0">
                <a:solidFill>
                  <a:schemeClr val="bg1"/>
                </a:solidFill>
                <a:latin typeface="Times New Roman" pitchFamily="18" charset="0"/>
                <a:cs typeface="Times New Roman" pitchFamily="18" charset="0"/>
              </a:rPr>
              <a:t> </a:t>
            </a:r>
            <a:r>
              <a:rPr lang="en-US" sz="4900" b="1" dirty="0">
                <a:solidFill>
                  <a:schemeClr val="bg1"/>
                </a:solidFill>
                <a:latin typeface="Times New Roman" pitchFamily="18" charset="0"/>
                <a:cs typeface="Times New Roman" pitchFamily="18" charset="0"/>
              </a:rPr>
              <a:t>Solid waste</a:t>
            </a:r>
            <a:r>
              <a:rPr lang="en-US" sz="3600" b="1" dirty="0">
                <a:solidFill>
                  <a:schemeClr val="bg1"/>
                </a:solidFill>
                <a:latin typeface="Times New Roman" pitchFamily="18" charset="0"/>
                <a:cs typeface="Times New Roman" pitchFamily="18" charset="0"/>
              </a:rPr>
              <a:t/>
            </a:r>
            <a:br>
              <a:rPr lang="en-US" sz="3600" b="1" dirty="0">
                <a:solidFill>
                  <a:schemeClr val="bg1"/>
                </a:solidFill>
                <a:latin typeface="Times New Roman" pitchFamily="18" charset="0"/>
                <a:cs typeface="Times New Roman" pitchFamily="18" charset="0"/>
              </a:rPr>
            </a:br>
            <a:endParaRPr lang="en-US" sz="3600" b="1" dirty="0">
              <a:solidFill>
                <a:schemeClr val="bg1"/>
              </a:solidFill>
              <a:latin typeface="Times New Roman" pitchFamily="18" charset="0"/>
              <a:cs typeface="Times New Roman" pitchFamily="18" charset="0"/>
            </a:endParaRPr>
          </a:p>
        </p:txBody>
      </p:sp>
      <p:sp>
        <p:nvSpPr>
          <p:cNvPr id="50178" name="AutoShape 2" descr="Image result for Specific power against specific energy, also called a Ragone plot, for capacitors, batteries, supercapacitors and fuel cells (78)."/>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0180" name="AutoShape 4" descr="Image result for Specific power against specific energy, also called a Ragone plot, for capacitors, batteries, supercapacitors and fuel cells (78)."/>
          <p:cNvSpPr>
            <a:spLocks noChangeAspect="1" noChangeArrowheads="1"/>
          </p:cNvSpPr>
          <p:nvPr/>
        </p:nvSpPr>
        <p:spPr bwMode="auto">
          <a:xfrm>
            <a:off x="1679575" y="-2193925"/>
            <a:ext cx="6800850" cy="45815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0182" name="AutoShape 6" descr="Image result for Specific power against specific energy, also called a Ragone plot, for capacitors, batteries, supercapacitors and fuel cells (78)."/>
          <p:cNvSpPr>
            <a:spLocks noChangeAspect="1" noChangeArrowheads="1"/>
          </p:cNvSpPr>
          <p:nvPr/>
        </p:nvSpPr>
        <p:spPr bwMode="auto">
          <a:xfrm>
            <a:off x="1679575" y="-2193925"/>
            <a:ext cx="6800850" cy="4581525"/>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3" name="AutoShape 4" descr="Image result for Ragone plot of energy density vs. power density"/>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 name="Rectangle 1">
            <a:extLst>
              <a:ext uri="{FF2B5EF4-FFF2-40B4-BE49-F238E27FC236}">
                <a16:creationId xmlns="" xmlns:a16="http://schemas.microsoft.com/office/drawing/2014/main" id="{C688B323-1C04-4FCD-AF89-E5219025F889}"/>
              </a:ext>
            </a:extLst>
          </p:cNvPr>
          <p:cNvSpPr/>
          <p:nvPr/>
        </p:nvSpPr>
        <p:spPr>
          <a:xfrm>
            <a:off x="38099" y="795505"/>
            <a:ext cx="8772350" cy="5693866"/>
          </a:xfrm>
          <a:prstGeom prst="rect">
            <a:avLst/>
          </a:prstGeom>
        </p:spPr>
        <p:txBody>
          <a:bodyPr wrap="square">
            <a:spAutoFit/>
          </a:bodyPr>
          <a:lstStyle/>
          <a:p>
            <a:endParaRPr lang="en-IN" sz="2000" dirty="0">
              <a:solidFill>
                <a:srgbClr val="000000"/>
              </a:solidFill>
              <a:latin typeface="Bookman Old Style" panose="02050604050505020204" pitchFamily="18" charset="0"/>
            </a:endParaRPr>
          </a:p>
          <a:p>
            <a:r>
              <a:rPr lang="en-IN" sz="3600" dirty="0">
                <a:solidFill>
                  <a:srgbClr val="000000"/>
                </a:solidFill>
                <a:latin typeface="Times New Roman" panose="02020603050405020304" pitchFamily="18" charset="0"/>
                <a:cs typeface="Times New Roman" panose="02020603050405020304" pitchFamily="18" charset="0"/>
              </a:rPr>
              <a:t> </a:t>
            </a:r>
            <a:r>
              <a:rPr lang="en-IN" sz="3600" b="1" dirty="0">
                <a:solidFill>
                  <a:srgbClr val="0070C0"/>
                </a:solidFill>
                <a:latin typeface="Times New Roman" panose="02020603050405020304" pitchFamily="18" charset="0"/>
                <a:cs typeface="Times New Roman" panose="02020603050405020304" pitchFamily="18" charset="0"/>
              </a:rPr>
              <a:t>Definition</a:t>
            </a:r>
          </a:p>
          <a:p>
            <a:pPr marL="342900" indent="-342900"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All solid and semisolid wastes, arising from human and animal activities, and which are discarded as useless or unwanted, are called Solid Wastes or Refuse.</a:t>
            </a:r>
          </a:p>
          <a:p>
            <a:pPr marL="342900" indent="-342900"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This definition excludes human excreta and sullage (liquid waste from kitchen and bathroom).</a:t>
            </a:r>
          </a:p>
          <a:p>
            <a:pPr marL="342900" indent="-342900"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In normal life, solid wastes are seen in two common forms:</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cs typeface="Times New Roman" panose="02020603050405020304" pitchFamily="18" charset="0"/>
              </a:rPr>
              <a:t>Rubbish</a:t>
            </a:r>
            <a:r>
              <a:rPr lang="en-US" sz="2200" dirty="0">
                <a:latin typeface="Times New Roman" panose="02020603050405020304" pitchFamily="18" charset="0"/>
                <a:cs typeface="Times New Roman" panose="02020603050405020304" pitchFamily="18" charset="0"/>
              </a:rPr>
              <a:t>: It include combustible (e.g., paper, card board, textile, plastic, rubber,</a:t>
            </a:r>
          </a:p>
          <a:p>
            <a:pPr algn="just"/>
            <a:r>
              <a:rPr lang="en-US" sz="2200" dirty="0">
                <a:latin typeface="Times New Roman" panose="02020603050405020304" pitchFamily="18" charset="0"/>
                <a:cs typeface="Times New Roman" panose="02020603050405020304" pitchFamily="18" charset="0"/>
              </a:rPr>
              <a:t>wood etc.) and non-combustible (glass, </a:t>
            </a:r>
            <a:r>
              <a:rPr lang="en-US" sz="2200" dirty="0" err="1">
                <a:latin typeface="Times New Roman" panose="02020603050405020304" pitchFamily="18" charset="0"/>
                <a:cs typeface="Times New Roman" panose="02020603050405020304" pitchFamily="18" charset="0"/>
              </a:rPr>
              <a:t>crokery</a:t>
            </a:r>
            <a:r>
              <a:rPr lang="en-US" sz="2200" dirty="0">
                <a:latin typeface="Times New Roman" panose="02020603050405020304" pitchFamily="18" charset="0"/>
                <a:cs typeface="Times New Roman" panose="02020603050405020304" pitchFamily="18" charset="0"/>
              </a:rPr>
              <a:t>, metals, construction wastes etc.)</a:t>
            </a:r>
          </a:p>
          <a:p>
            <a:pPr algn="just"/>
            <a:r>
              <a:rPr lang="en-US" sz="2200" dirty="0">
                <a:latin typeface="Times New Roman" panose="02020603050405020304" pitchFamily="18" charset="0"/>
                <a:cs typeface="Times New Roman" panose="02020603050405020304" pitchFamily="18" charset="0"/>
              </a:rPr>
              <a:t>solid wastes.</a:t>
            </a:r>
          </a:p>
          <a:p>
            <a:pPr algn="just"/>
            <a:r>
              <a:rPr lang="en-US" sz="2200" dirty="0">
                <a:solidFill>
                  <a:srgbClr val="7030A0"/>
                </a:solidFill>
                <a:latin typeface="Times New Roman" panose="02020603050405020304" pitchFamily="18" charset="0"/>
                <a:cs typeface="Times New Roman" panose="02020603050405020304" pitchFamily="18" charset="0"/>
              </a:rPr>
              <a:t>Garbage</a:t>
            </a:r>
            <a:r>
              <a:rPr lang="en-US" sz="2200" dirty="0">
                <a:latin typeface="Times New Roman" panose="02020603050405020304" pitchFamily="18" charset="0"/>
                <a:cs typeface="Times New Roman" panose="02020603050405020304" pitchFamily="18" charset="0"/>
              </a:rPr>
              <a:t>: It includes putrescible (that can rot) organic wastes, e.g., residue of fruits, vegetable and animals which are generally produced in cooking and eating of foods.</a:t>
            </a:r>
            <a:endParaRPr lang="en-IN" sz="22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163F726B-8EAA-4890-8A89-F676FF927955}"/>
              </a:ext>
            </a:extLst>
          </p:cNvPr>
          <p:cNvSpPr/>
          <p:nvPr/>
        </p:nvSpPr>
        <p:spPr>
          <a:xfrm>
            <a:off x="148130" y="1272558"/>
            <a:ext cx="8772350" cy="707886"/>
          </a:xfrm>
          <a:prstGeom prst="rect">
            <a:avLst/>
          </a:prstGeom>
        </p:spPr>
        <p:txBody>
          <a:bodyPr wrap="square">
            <a:spAutoFit/>
          </a:bodyPr>
          <a:lstStyle/>
          <a:p>
            <a:endParaRPr lang="en-IN" sz="2000" dirty="0">
              <a:solidFill>
                <a:srgbClr val="000000"/>
              </a:solidFill>
              <a:latin typeface="Bookman Old Style" panose="02050604050505020204" pitchFamily="18" charset="0"/>
            </a:endParaRPr>
          </a:p>
          <a:p>
            <a:r>
              <a:rPr lang="en-IN" sz="2000" dirty="0">
                <a:solidFill>
                  <a:srgbClr val="000000"/>
                </a:solidFill>
                <a:latin typeface="Bookman Old Style" panose="02050604050505020204" pitchFamily="18" charset="0"/>
              </a:rPr>
              <a:t> </a:t>
            </a:r>
          </a:p>
        </p:txBody>
      </p:sp>
      <p:pic>
        <p:nvPicPr>
          <p:cNvPr id="8" name="Picture 7">
            <a:extLst>
              <a:ext uri="{FF2B5EF4-FFF2-40B4-BE49-F238E27FC236}">
                <a16:creationId xmlns="" xmlns:a16="http://schemas.microsoft.com/office/drawing/2014/main" id="{FB4A2446-559D-45D7-9045-718237B4E029}"/>
              </a:ext>
            </a:extLst>
          </p:cNvPr>
          <p:cNvPicPr>
            <a:picLocks noChangeAspect="1"/>
          </p:cNvPicPr>
          <p:nvPr/>
        </p:nvPicPr>
        <p:blipFill>
          <a:blip r:embed="rId3"/>
          <a:stretch>
            <a:fillRect/>
          </a:stretch>
        </p:blipFill>
        <p:spPr>
          <a:xfrm>
            <a:off x="9005745" y="2121511"/>
            <a:ext cx="3013359" cy="3457721"/>
          </a:xfrm>
          <a:prstGeom prst="rect">
            <a:avLst/>
          </a:prstGeom>
        </p:spPr>
      </p:pic>
    </p:spTree>
    <p:extLst>
      <p:ext uri="{BB962C8B-B14F-4D97-AF65-F5344CB8AC3E}">
        <p14:creationId xmlns:p14="http://schemas.microsoft.com/office/powerpoint/2010/main" xmlns="" val="2921543931"/>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Users\NARESH\Desktop\solid waste management\landfill-basics-4-638.jpg"/>
          <p:cNvPicPr>
            <a:picLocks noGrp="1" noChangeAspect="1" noChangeArrowheads="1"/>
          </p:cNvPicPr>
          <p:nvPr>
            <p:ph idx="1"/>
          </p:nvPr>
        </p:nvPicPr>
        <p:blipFill>
          <a:blip r:embed="rId2"/>
          <a:srcRect/>
          <a:stretch>
            <a:fillRect/>
          </a:stretch>
        </p:blipFill>
        <p:spPr bwMode="auto">
          <a:xfrm>
            <a:off x="270588" y="0"/>
            <a:ext cx="11168743" cy="6887374"/>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815" y="0"/>
            <a:ext cx="10515600" cy="1325563"/>
          </a:xfrm>
        </p:spPr>
        <p:txBody>
          <a:bodyPr/>
          <a:lstStyle/>
          <a:p>
            <a:r>
              <a:rPr lang="en-US" dirty="0" smtClean="0">
                <a:solidFill>
                  <a:srgbClr val="FF0000"/>
                </a:solidFill>
              </a:rPr>
              <a:t>Sources of solid waste </a:t>
            </a:r>
            <a:endParaRPr lang="en-US" dirty="0">
              <a:solidFill>
                <a:srgbClr val="FF0000"/>
              </a:solidFill>
            </a:endParaRPr>
          </a:p>
        </p:txBody>
      </p:sp>
      <p:pic>
        <p:nvPicPr>
          <p:cNvPr id="3074" name="Picture 2" descr="C:\Users\NARESH\Desktop\solid waste management\landfill-basics-3-638.jpg"/>
          <p:cNvPicPr>
            <a:picLocks noChangeAspect="1" noChangeArrowheads="1"/>
          </p:cNvPicPr>
          <p:nvPr/>
        </p:nvPicPr>
        <p:blipFill>
          <a:blip r:embed="rId2"/>
          <a:srcRect l="11285" t="32568" r="1881" b="2505"/>
          <a:stretch>
            <a:fillRect/>
          </a:stretch>
        </p:blipFill>
        <p:spPr bwMode="auto">
          <a:xfrm>
            <a:off x="1161786" y="1000662"/>
            <a:ext cx="9836893" cy="5522025"/>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3D3BF7E7-5DF4-48F2-A68C-E04917D326A4}"/>
              </a:ext>
            </a:extLst>
          </p:cNvPr>
          <p:cNvSpPr/>
          <p:nvPr/>
        </p:nvSpPr>
        <p:spPr>
          <a:xfrm>
            <a:off x="361950" y="2798832"/>
            <a:ext cx="6096000" cy="707886"/>
          </a:xfrm>
          <a:prstGeom prst="rect">
            <a:avLst/>
          </a:prstGeom>
        </p:spPr>
        <p:txBody>
          <a:bodyPr>
            <a:spAutoFit/>
          </a:bodyPr>
          <a:lstStyle/>
          <a:p>
            <a:endParaRPr lang="en-IN" sz="2000" dirty="0">
              <a:solidFill>
                <a:srgbClr val="000000"/>
              </a:solidFill>
              <a:latin typeface="Bookman Old Style" panose="02050604050505020204" pitchFamily="18" charset="0"/>
            </a:endParaRPr>
          </a:p>
          <a:p>
            <a:r>
              <a:rPr lang="en-IN" sz="2000" dirty="0">
                <a:solidFill>
                  <a:srgbClr val="000000"/>
                </a:solidFill>
                <a:latin typeface="Bookman Old Style" panose="02050604050505020204" pitchFamily="18" charset="0"/>
              </a:rPr>
              <a:t> </a:t>
            </a:r>
            <a:endParaRPr lang="en-IN" dirty="0"/>
          </a:p>
        </p:txBody>
      </p:sp>
      <p:sp>
        <p:nvSpPr>
          <p:cNvPr id="6" name="Title 1">
            <a:extLst>
              <a:ext uri="{FF2B5EF4-FFF2-40B4-BE49-F238E27FC236}">
                <a16:creationId xmlns="" xmlns:a16="http://schemas.microsoft.com/office/drawing/2014/main" id="{0BE1F19F-632E-4C12-9D9D-EC2BD75F4024}"/>
              </a:ext>
            </a:extLst>
          </p:cNvPr>
          <p:cNvSpPr>
            <a:spLocks noGrp="1"/>
          </p:cNvSpPr>
          <p:nvPr>
            <p:ph type="title"/>
          </p:nvPr>
        </p:nvSpPr>
        <p:spPr>
          <a:xfrm>
            <a:off x="0" y="0"/>
            <a:ext cx="12268200" cy="1057275"/>
          </a:xfrm>
          <a:solidFill>
            <a:srgbClr val="C00000"/>
          </a:solidFill>
        </p:spPr>
        <p:txBody>
          <a:bodyPr>
            <a:normAutofit/>
          </a:bodyPr>
          <a:lstStyle/>
          <a:p>
            <a:pPr algn="ctr"/>
            <a:r>
              <a:rPr lang="en-US" sz="4000" b="1" dirty="0">
                <a:solidFill>
                  <a:schemeClr val="bg1"/>
                </a:solidFill>
                <a:latin typeface="Times New Roman" pitchFamily="18" charset="0"/>
                <a:cs typeface="Times New Roman" pitchFamily="18" charset="0"/>
              </a:rPr>
              <a:t>Types and Sources</a:t>
            </a:r>
          </a:p>
        </p:txBody>
      </p:sp>
      <p:sp>
        <p:nvSpPr>
          <p:cNvPr id="4" name="Rectangle 3">
            <a:extLst>
              <a:ext uri="{FF2B5EF4-FFF2-40B4-BE49-F238E27FC236}">
                <a16:creationId xmlns="" xmlns:a16="http://schemas.microsoft.com/office/drawing/2014/main" id="{D8E5C922-7E43-4F04-8409-F885E741F93F}"/>
              </a:ext>
            </a:extLst>
          </p:cNvPr>
          <p:cNvSpPr/>
          <p:nvPr/>
        </p:nvSpPr>
        <p:spPr>
          <a:xfrm>
            <a:off x="148536" y="978490"/>
            <a:ext cx="8954181" cy="5293757"/>
          </a:xfrm>
          <a:prstGeom prst="rect">
            <a:avLst/>
          </a:prstGeom>
        </p:spPr>
        <p:txBody>
          <a:bodyPr wrap="square">
            <a:spAutoFit/>
          </a:bodyPr>
          <a:lstStyle/>
          <a:p>
            <a:pPr algn="just"/>
            <a:r>
              <a:rPr lang="en-US" sz="2600" dirty="0">
                <a:latin typeface="Times New Roman" panose="02020603050405020304" pitchFamily="18" charset="0"/>
                <a:cs typeface="Times New Roman" panose="02020603050405020304" pitchFamily="18" charset="0"/>
              </a:rPr>
              <a:t>There are three categories of soil wastes:</a:t>
            </a:r>
          </a:p>
          <a:p>
            <a:pPr marL="457200" indent="-457200" algn="just">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Municipal Wastes: </a:t>
            </a:r>
            <a:r>
              <a:rPr lang="en-US" sz="2600" dirty="0">
                <a:latin typeface="Times New Roman" panose="02020603050405020304" pitchFamily="18" charset="0"/>
                <a:cs typeface="Times New Roman" panose="02020603050405020304" pitchFamily="18" charset="0"/>
              </a:rPr>
              <a:t>These wastes arise from residential areas (household activities, streets), commercial areas (hotels, markets, institutions) and community areas </a:t>
            </a:r>
            <a:r>
              <a:rPr lang="en-IN" sz="2600" dirty="0">
                <a:latin typeface="Times New Roman" panose="02020603050405020304" pitchFamily="18" charset="0"/>
                <a:cs typeface="Times New Roman" panose="02020603050405020304" pitchFamily="18" charset="0"/>
              </a:rPr>
              <a:t>(streets, parks, play ground).</a:t>
            </a:r>
          </a:p>
          <a:p>
            <a:pPr marL="457200" indent="-457200" algn="just">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Industrial Wastes: </a:t>
            </a:r>
            <a:r>
              <a:rPr lang="en-US" sz="2600" dirty="0">
                <a:latin typeface="Times New Roman" panose="02020603050405020304" pitchFamily="18" charset="0"/>
                <a:cs typeface="Times New Roman" panose="02020603050405020304" pitchFamily="18" charset="0"/>
              </a:rPr>
              <a:t>These wastes arise from industrial activities and include </a:t>
            </a:r>
            <a:r>
              <a:rPr lang="en-IN" sz="2600" dirty="0">
                <a:latin typeface="Times New Roman" panose="02020603050405020304" pitchFamily="18" charset="0"/>
                <a:cs typeface="Times New Roman" panose="02020603050405020304" pitchFamily="18" charset="0"/>
              </a:rPr>
              <a:t>rubbish, ashes, construction wastes, toxic wastes etc.</a:t>
            </a:r>
          </a:p>
          <a:p>
            <a:pPr marL="457200" indent="-457200" algn="just">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Hazardous wastes: </a:t>
            </a:r>
            <a:r>
              <a:rPr lang="en-US" sz="2600" dirty="0">
                <a:latin typeface="Times New Roman" panose="02020603050405020304" pitchFamily="18" charset="0"/>
                <a:cs typeface="Times New Roman" panose="02020603050405020304" pitchFamily="18" charset="0"/>
              </a:rPr>
              <a:t>These are highly harmful wastes arising from hospitals, industries, nuclear plants, research institutions, laboratories and include biological wastes, toxic chemicals, radioactive substances, explosives and flammable wastes</a:t>
            </a:r>
            <a:r>
              <a:rPr lang="en-US" sz="2600" dirty="0" smtClean="0">
                <a:latin typeface="Times New Roman" panose="02020603050405020304" pitchFamily="18" charset="0"/>
                <a:cs typeface="Times New Roman" panose="02020603050405020304" pitchFamily="18" charset="0"/>
              </a:rPr>
              <a:t>.</a:t>
            </a:r>
            <a:r>
              <a:rPr lang="en-US" sz="2600" b="1" dirty="0" smtClean="0">
                <a:solidFill>
                  <a:schemeClr val="bg1">
                    <a:lumMod val="75000"/>
                  </a:schemeClr>
                </a:solidFill>
                <a:latin typeface="Times New Roman" panose="02020603050405020304" pitchFamily="18" charset="0"/>
                <a:cs typeface="Times New Roman" panose="02020603050405020304" pitchFamily="18" charset="0"/>
              </a:rPr>
              <a:t> </a:t>
            </a:r>
            <a:r>
              <a:rPr lang="en-US" sz="2600" b="1" dirty="0" smtClean="0">
                <a:solidFill>
                  <a:srgbClr val="0000CC"/>
                </a:solidFill>
                <a:latin typeface="Times New Roman" panose="02020603050405020304" pitchFamily="18" charset="0"/>
                <a:cs typeface="Times New Roman" panose="02020603050405020304" pitchFamily="18" charset="0"/>
              </a:rPr>
              <a:t>ignitability, </a:t>
            </a:r>
            <a:r>
              <a:rPr lang="en-IN" sz="2600" b="1" dirty="0" err="1" smtClean="0">
                <a:solidFill>
                  <a:srgbClr val="0000CC"/>
                </a:solidFill>
                <a:latin typeface="Times New Roman" panose="02020603050405020304" pitchFamily="18" charset="0"/>
                <a:cs typeface="Times New Roman" panose="02020603050405020304" pitchFamily="18" charset="0"/>
              </a:rPr>
              <a:t>corrosivity</a:t>
            </a:r>
            <a:r>
              <a:rPr lang="en-IN" sz="2600" b="1" dirty="0" smtClean="0">
                <a:solidFill>
                  <a:srgbClr val="0000CC"/>
                </a:solidFill>
                <a:latin typeface="Times New Roman" panose="02020603050405020304" pitchFamily="18" charset="0"/>
                <a:cs typeface="Times New Roman" panose="02020603050405020304" pitchFamily="18" charset="0"/>
              </a:rPr>
              <a:t>, reactivity &amp; toxicity</a:t>
            </a:r>
            <a:endParaRPr lang="en-IN" sz="2600" dirty="0">
              <a:solidFill>
                <a:srgbClr val="0000CC"/>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9082D1B9-EA97-416E-8D2D-1341911066B8}"/>
              </a:ext>
            </a:extLst>
          </p:cNvPr>
          <p:cNvPicPr>
            <a:picLocks noChangeAspect="1"/>
          </p:cNvPicPr>
          <p:nvPr/>
        </p:nvPicPr>
        <p:blipFill rotWithShape="1">
          <a:blip r:embed="rId2"/>
          <a:srcRect t="4218"/>
          <a:stretch/>
        </p:blipFill>
        <p:spPr>
          <a:xfrm>
            <a:off x="9376501" y="1215588"/>
            <a:ext cx="2279650" cy="1666515"/>
          </a:xfrm>
          <a:prstGeom prst="rect">
            <a:avLst/>
          </a:prstGeom>
        </p:spPr>
      </p:pic>
      <p:pic>
        <p:nvPicPr>
          <p:cNvPr id="10" name="Picture 9">
            <a:extLst>
              <a:ext uri="{FF2B5EF4-FFF2-40B4-BE49-F238E27FC236}">
                <a16:creationId xmlns="" xmlns:a16="http://schemas.microsoft.com/office/drawing/2014/main" id="{11DDD828-2DE9-409F-B75D-417D4402CBCD}"/>
              </a:ext>
            </a:extLst>
          </p:cNvPr>
          <p:cNvPicPr>
            <a:picLocks noChangeAspect="1"/>
          </p:cNvPicPr>
          <p:nvPr/>
        </p:nvPicPr>
        <p:blipFill rotWithShape="1">
          <a:blip r:embed="rId3"/>
          <a:srcRect l="1324" t="9359" r="-1324" b="-6729"/>
          <a:stretch/>
        </p:blipFill>
        <p:spPr>
          <a:xfrm>
            <a:off x="9259860" y="4875663"/>
            <a:ext cx="2396291" cy="1798163"/>
          </a:xfrm>
          <a:prstGeom prst="rect">
            <a:avLst/>
          </a:prstGeom>
        </p:spPr>
      </p:pic>
      <p:pic>
        <p:nvPicPr>
          <p:cNvPr id="11" name="Picture 10">
            <a:extLst>
              <a:ext uri="{FF2B5EF4-FFF2-40B4-BE49-F238E27FC236}">
                <a16:creationId xmlns="" xmlns:a16="http://schemas.microsoft.com/office/drawing/2014/main" id="{A09C4450-583C-4F6F-9277-87C4038F00C6}"/>
              </a:ext>
            </a:extLst>
          </p:cNvPr>
          <p:cNvPicPr>
            <a:picLocks noChangeAspect="1"/>
          </p:cNvPicPr>
          <p:nvPr/>
        </p:nvPicPr>
        <p:blipFill rotWithShape="1">
          <a:blip r:embed="rId4"/>
          <a:srcRect t="7577"/>
          <a:stretch/>
        </p:blipFill>
        <p:spPr>
          <a:xfrm>
            <a:off x="9376501" y="3040416"/>
            <a:ext cx="2279650" cy="1719817"/>
          </a:xfrm>
          <a:prstGeom prst="rect">
            <a:avLst/>
          </a:prstGeom>
        </p:spPr>
      </p:pic>
    </p:spTree>
    <p:extLst>
      <p:ext uri="{BB962C8B-B14F-4D97-AF65-F5344CB8AC3E}">
        <p14:creationId xmlns:p14="http://schemas.microsoft.com/office/powerpoint/2010/main" xmlns="" val="36144285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725" y="0"/>
            <a:ext cx="10515600" cy="1325563"/>
          </a:xfrm>
        </p:spPr>
        <p:txBody>
          <a:bodyPr/>
          <a:lstStyle/>
          <a:p>
            <a:r>
              <a:rPr lang="en-US" b="1" dirty="0" smtClean="0">
                <a:solidFill>
                  <a:srgbClr val="FF0000"/>
                </a:solidFill>
              </a:rPr>
              <a:t>Solid waste generation in India</a:t>
            </a:r>
            <a:endParaRPr lang="en-US" b="1" dirty="0">
              <a:solidFill>
                <a:srgbClr val="FF0000"/>
              </a:solidFill>
            </a:endParaRPr>
          </a:p>
        </p:txBody>
      </p:sp>
      <p:pic>
        <p:nvPicPr>
          <p:cNvPr id="3074" name="Picture 2" descr="C:\Users\NARESH\Desktop\image_201611142259111.png"/>
          <p:cNvPicPr>
            <a:picLocks noChangeAspect="1" noChangeArrowheads="1"/>
          </p:cNvPicPr>
          <p:nvPr/>
        </p:nvPicPr>
        <p:blipFill>
          <a:blip r:embed="rId2"/>
          <a:srcRect/>
          <a:stretch>
            <a:fillRect/>
          </a:stretch>
        </p:blipFill>
        <p:spPr bwMode="auto">
          <a:xfrm>
            <a:off x="7526108" y="3428039"/>
            <a:ext cx="4550873" cy="3323501"/>
          </a:xfrm>
          <a:prstGeom prst="rect">
            <a:avLst/>
          </a:prstGeom>
          <a:noFill/>
        </p:spPr>
      </p:pic>
      <p:pic>
        <p:nvPicPr>
          <p:cNvPr id="3075" name="Picture 3" descr="C:\Users\NARESH\Desktop\state wise percentage generation of sewage.png"/>
          <p:cNvPicPr>
            <a:picLocks noChangeAspect="1" noChangeArrowheads="1"/>
          </p:cNvPicPr>
          <p:nvPr/>
        </p:nvPicPr>
        <p:blipFill>
          <a:blip r:embed="rId3"/>
          <a:srcRect/>
          <a:stretch>
            <a:fillRect/>
          </a:stretch>
        </p:blipFill>
        <p:spPr bwMode="auto">
          <a:xfrm>
            <a:off x="112825" y="2831867"/>
            <a:ext cx="6231940" cy="3870941"/>
          </a:xfrm>
          <a:prstGeom prst="rect">
            <a:avLst/>
          </a:prstGeom>
          <a:noFill/>
        </p:spPr>
      </p:pic>
      <p:pic>
        <p:nvPicPr>
          <p:cNvPr id="6" name="Picture 2" descr="C:\Users\NARESH\Desktop\download (1).png"/>
          <p:cNvPicPr>
            <a:picLocks noChangeAspect="1" noChangeArrowheads="1"/>
          </p:cNvPicPr>
          <p:nvPr/>
        </p:nvPicPr>
        <p:blipFill>
          <a:blip r:embed="rId4"/>
          <a:srcRect/>
          <a:stretch>
            <a:fillRect/>
          </a:stretch>
        </p:blipFill>
        <p:spPr bwMode="auto">
          <a:xfrm>
            <a:off x="7600949" y="0"/>
            <a:ext cx="4471625" cy="333652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452CF7F8-410F-4D03-A60E-AE8EE2A1A5AA}"/>
              </a:ext>
            </a:extLst>
          </p:cNvPr>
          <p:cNvSpPr>
            <a:spLocks noGrp="1"/>
          </p:cNvSpPr>
          <p:nvPr>
            <p:ph type="title"/>
          </p:nvPr>
        </p:nvSpPr>
        <p:spPr>
          <a:xfrm>
            <a:off x="0" y="0"/>
            <a:ext cx="12268200" cy="1057275"/>
          </a:xfrm>
          <a:solidFill>
            <a:srgbClr val="C00000"/>
          </a:solidFill>
        </p:spPr>
        <p:txBody>
          <a:bodyPr>
            <a:normAutofit/>
          </a:bodyPr>
          <a:lstStyle/>
          <a:p>
            <a:pPr algn="ctr"/>
            <a:r>
              <a:rPr lang="en-US" sz="4000" b="1" dirty="0">
                <a:solidFill>
                  <a:schemeClr val="bg1"/>
                </a:solidFill>
                <a:latin typeface="Times New Roman" pitchFamily="18" charset="0"/>
                <a:cs typeface="Times New Roman" pitchFamily="18" charset="0"/>
              </a:rPr>
              <a:t>Cause of increasing solid waste generation</a:t>
            </a:r>
          </a:p>
        </p:txBody>
      </p:sp>
      <p:sp>
        <p:nvSpPr>
          <p:cNvPr id="3" name="Rectangle 2">
            <a:extLst>
              <a:ext uri="{FF2B5EF4-FFF2-40B4-BE49-F238E27FC236}">
                <a16:creationId xmlns="" xmlns:a16="http://schemas.microsoft.com/office/drawing/2014/main" id="{B5B8264A-F110-40C5-BE51-FDBB2EC2A66C}"/>
              </a:ext>
            </a:extLst>
          </p:cNvPr>
          <p:cNvSpPr/>
          <p:nvPr/>
        </p:nvSpPr>
        <p:spPr>
          <a:xfrm>
            <a:off x="233362" y="1354515"/>
            <a:ext cx="11801476" cy="5016758"/>
          </a:xfrm>
          <a:prstGeom prst="rect">
            <a:avLst/>
          </a:prstGeom>
          <a:ln>
            <a:solidFill>
              <a:schemeClr val="accent1"/>
            </a:solidFill>
          </a:ln>
        </p:spPr>
        <p:txBody>
          <a:bodyPr wrap="square">
            <a:spAutoFit/>
          </a:bodyPr>
          <a:lstStyle/>
          <a:p>
            <a:pPr marL="457200" indent="-457200" algn="just">
              <a:buFont typeface="Wingdings" panose="05000000000000000000" pitchFamily="2" charset="2"/>
              <a:buChar char="v"/>
            </a:pPr>
            <a:r>
              <a:rPr lang="en-US" sz="3200" b="1" dirty="0">
                <a:solidFill>
                  <a:srgbClr val="0000CC"/>
                </a:solidFill>
                <a:latin typeface="Times New Roman" panose="02020603050405020304" pitchFamily="18" charset="0"/>
                <a:cs typeface="Times New Roman" panose="02020603050405020304" pitchFamily="18" charset="0"/>
              </a:rPr>
              <a:t>Overpopulation</a:t>
            </a:r>
            <a:r>
              <a:rPr lang="en-US" sz="3200" dirty="0">
                <a:latin typeface="Times New Roman" panose="02020603050405020304" pitchFamily="18" charset="0"/>
                <a:cs typeface="Times New Roman" panose="02020603050405020304" pitchFamily="18" charset="0"/>
              </a:rPr>
              <a:t> and thereby increasing consumption and waste generation</a:t>
            </a:r>
          </a:p>
          <a:p>
            <a:pPr marL="457200" indent="-457200" algn="just">
              <a:buFont typeface="Wingdings" panose="05000000000000000000" pitchFamily="2" charset="2"/>
              <a:buChar char="v"/>
            </a:pPr>
            <a:r>
              <a:rPr lang="en-US" sz="3200" b="1" dirty="0">
                <a:solidFill>
                  <a:srgbClr val="0000CC"/>
                </a:solidFill>
                <a:latin typeface="Times New Roman" panose="02020603050405020304" pitchFamily="18" charset="0"/>
                <a:cs typeface="Times New Roman" panose="02020603050405020304" pitchFamily="18" charset="0"/>
              </a:rPr>
              <a:t>Technological advancement </a:t>
            </a:r>
            <a:r>
              <a:rPr lang="en-US" sz="3200" dirty="0">
                <a:latin typeface="Times New Roman" panose="02020603050405020304" pitchFamily="18" charset="0"/>
                <a:cs typeface="Times New Roman" panose="02020603050405020304" pitchFamily="18" charset="0"/>
              </a:rPr>
              <a:t>leading to cheap production of commodities</a:t>
            </a:r>
          </a:p>
          <a:p>
            <a:pPr marL="457200" indent="-457200" algn="just">
              <a:buFont typeface="Wingdings" panose="05000000000000000000" pitchFamily="2" charset="2"/>
              <a:buChar char="v"/>
            </a:pPr>
            <a:r>
              <a:rPr lang="en-US" sz="3200" b="1" dirty="0">
                <a:solidFill>
                  <a:srgbClr val="0000CC"/>
                </a:solidFill>
                <a:latin typeface="Times New Roman" panose="02020603050405020304" pitchFamily="18" charset="0"/>
                <a:cs typeface="Times New Roman" panose="02020603050405020304" pitchFamily="18" charset="0"/>
              </a:rPr>
              <a:t>Rapid urbanization</a:t>
            </a:r>
            <a:r>
              <a:rPr lang="en-US" sz="3200" dirty="0">
                <a:latin typeface="Times New Roman" panose="02020603050405020304" pitchFamily="18" charset="0"/>
                <a:cs typeface="Times New Roman" panose="02020603050405020304" pitchFamily="18" charset="0"/>
              </a:rPr>
              <a:t> and increasing availability of consumer products</a:t>
            </a:r>
          </a:p>
          <a:p>
            <a:pPr marL="457200" indent="-457200" algn="just">
              <a:buFont typeface="Wingdings" panose="05000000000000000000" pitchFamily="2" charset="2"/>
              <a:buChar char="v"/>
            </a:pPr>
            <a:r>
              <a:rPr lang="en-US" sz="3200" dirty="0">
                <a:solidFill>
                  <a:srgbClr val="0000CC"/>
                </a:solidFill>
                <a:latin typeface="Times New Roman" panose="02020603050405020304" pitchFamily="18" charset="0"/>
                <a:cs typeface="Times New Roman" panose="02020603050405020304" pitchFamily="18" charset="0"/>
              </a:rPr>
              <a:t>Growing trend of “non-returnable packaging</a:t>
            </a:r>
            <a:r>
              <a:rPr lang="en-US" sz="3200" dirty="0">
                <a:latin typeface="Times New Roman" panose="02020603050405020304" pitchFamily="18" charset="0"/>
                <a:cs typeface="Times New Roman" panose="02020603050405020304" pitchFamily="18" charset="0"/>
              </a:rPr>
              <a:t>” and “use and throw” culture</a:t>
            </a:r>
          </a:p>
          <a:p>
            <a:pPr marL="457200" indent="-457200" algn="just">
              <a:buFont typeface="Wingdings" panose="05000000000000000000" pitchFamily="2" charset="2"/>
              <a:buChar char="v"/>
            </a:pPr>
            <a:r>
              <a:rPr lang="en-US" sz="3200" dirty="0">
                <a:solidFill>
                  <a:srgbClr val="0000CC"/>
                </a:solidFill>
                <a:latin typeface="Times New Roman" panose="02020603050405020304" pitchFamily="18" charset="0"/>
                <a:cs typeface="Times New Roman" panose="02020603050405020304" pitchFamily="18" charset="0"/>
              </a:rPr>
              <a:t>Increasing purchasing power </a:t>
            </a:r>
            <a:r>
              <a:rPr lang="en-US" sz="3200" dirty="0">
                <a:latin typeface="Times New Roman" panose="02020603050405020304" pitchFamily="18" charset="0"/>
                <a:cs typeface="Times New Roman" panose="02020603050405020304" pitchFamily="18" charset="0"/>
              </a:rPr>
              <a:t>of public which lead to increasing consumerism, </a:t>
            </a:r>
            <a:r>
              <a:rPr lang="en-IN" sz="3200" dirty="0">
                <a:latin typeface="Times New Roman" panose="02020603050405020304" pitchFamily="18" charset="0"/>
                <a:cs typeface="Times New Roman" panose="02020603050405020304" pitchFamily="18" charset="0"/>
              </a:rPr>
              <a:t>affluence and luxury</a:t>
            </a:r>
          </a:p>
        </p:txBody>
      </p:sp>
    </p:spTree>
    <p:extLst>
      <p:ext uri="{BB962C8B-B14F-4D97-AF65-F5344CB8AC3E}">
        <p14:creationId xmlns:p14="http://schemas.microsoft.com/office/powerpoint/2010/main" xmlns="" val="4267553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BC44EA71-831A-409A-8A8F-ECEA7750452F}"/>
              </a:ext>
            </a:extLst>
          </p:cNvPr>
          <p:cNvSpPr>
            <a:spLocks noGrp="1"/>
          </p:cNvSpPr>
          <p:nvPr>
            <p:ph type="title"/>
          </p:nvPr>
        </p:nvSpPr>
        <p:spPr>
          <a:xfrm>
            <a:off x="0" y="0"/>
            <a:ext cx="12268200" cy="1057275"/>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Effects of solid waste pollution</a:t>
            </a:r>
            <a:endParaRPr lang="en-US" sz="4000" b="1" dirty="0">
              <a:solidFill>
                <a:schemeClr val="bg1"/>
              </a:solidFill>
              <a:latin typeface="Times New Roman" pitchFamily="18" charset="0"/>
              <a:cs typeface="Times New Roman" pitchFamily="18" charset="0"/>
            </a:endParaRPr>
          </a:p>
        </p:txBody>
      </p:sp>
      <p:sp>
        <p:nvSpPr>
          <p:cNvPr id="9" name="Rectangle 8">
            <a:extLst>
              <a:ext uri="{FF2B5EF4-FFF2-40B4-BE49-F238E27FC236}">
                <a16:creationId xmlns="" xmlns:a16="http://schemas.microsoft.com/office/drawing/2014/main" id="{A32E9EA3-5284-40B5-A693-6B1C11160B02}"/>
              </a:ext>
            </a:extLst>
          </p:cNvPr>
          <p:cNvSpPr/>
          <p:nvPr/>
        </p:nvSpPr>
        <p:spPr>
          <a:xfrm>
            <a:off x="204787" y="1362492"/>
            <a:ext cx="11901487" cy="4708981"/>
          </a:xfrm>
          <a:prstGeom prst="rect">
            <a:avLst/>
          </a:prstGeom>
        </p:spPr>
        <p:txBody>
          <a:bodyPr wrap="square">
            <a:spAutoFit/>
          </a:bodyPr>
          <a:lstStyle/>
          <a:p>
            <a:pPr marL="457200" indent="-457200">
              <a:buFont typeface="Wingdings" panose="05000000000000000000" pitchFamily="2" charset="2"/>
              <a:buChar char="v"/>
            </a:pPr>
            <a:r>
              <a:rPr lang="en-US" sz="3000" dirty="0">
                <a:solidFill>
                  <a:srgbClr val="0000CC"/>
                </a:solidFill>
                <a:latin typeface="Times New Roman" panose="02020603050405020304" pitchFamily="18" charset="0"/>
                <a:cs typeface="Times New Roman" panose="02020603050405020304" pitchFamily="18" charset="0"/>
              </a:rPr>
              <a:t>Pathogens of different diseases </a:t>
            </a:r>
            <a:r>
              <a:rPr lang="en-US" sz="3000" dirty="0">
                <a:latin typeface="Times New Roman" panose="02020603050405020304" pitchFamily="18" charset="0"/>
                <a:cs typeface="Times New Roman" panose="02020603050405020304" pitchFamily="18" charset="0"/>
              </a:rPr>
              <a:t>arise from the wastes and spread diseases</a:t>
            </a:r>
          </a:p>
          <a:p>
            <a:pPr marL="457200" indent="-457200">
              <a:buFont typeface="Wingdings" panose="05000000000000000000" pitchFamily="2" charset="2"/>
              <a:buChar char="v"/>
            </a:pPr>
            <a:r>
              <a:rPr lang="en-US" sz="3000" dirty="0">
                <a:solidFill>
                  <a:srgbClr val="0000CC"/>
                </a:solidFill>
                <a:latin typeface="Times New Roman" panose="02020603050405020304" pitchFamily="18" charset="0"/>
                <a:cs typeface="Times New Roman" panose="02020603050405020304" pitchFamily="18" charset="0"/>
              </a:rPr>
              <a:t>Solid waste may choke drains </a:t>
            </a:r>
            <a:r>
              <a:rPr lang="en-US" sz="3000" dirty="0">
                <a:latin typeface="Times New Roman" panose="02020603050405020304" pitchFamily="18" charset="0"/>
                <a:cs typeface="Times New Roman" panose="02020603050405020304" pitchFamily="18" charset="0"/>
              </a:rPr>
              <a:t>and pits which result in water logging and </a:t>
            </a:r>
            <a:r>
              <a:rPr lang="en-US" sz="3000" dirty="0">
                <a:solidFill>
                  <a:srgbClr val="FFC000"/>
                </a:solidFill>
                <a:latin typeface="Times New Roman" panose="02020603050405020304" pitchFamily="18" charset="0"/>
                <a:cs typeface="Times New Roman" panose="02020603050405020304" pitchFamily="18" charset="0"/>
              </a:rPr>
              <a:t>breeding </a:t>
            </a:r>
            <a:r>
              <a:rPr lang="en-IN" sz="3000" dirty="0">
                <a:solidFill>
                  <a:srgbClr val="FFC000"/>
                </a:solidFill>
                <a:latin typeface="Times New Roman" panose="02020603050405020304" pitchFamily="18" charset="0"/>
                <a:cs typeface="Times New Roman" panose="02020603050405020304" pitchFamily="18" charset="0"/>
              </a:rPr>
              <a:t>of mosquitoes</a:t>
            </a:r>
          </a:p>
          <a:p>
            <a:pPr marL="457200" indent="-457200">
              <a:buFont typeface="Wingdings" panose="05000000000000000000" pitchFamily="2" charset="2"/>
              <a:buChar char="v"/>
            </a:pPr>
            <a:r>
              <a:rPr lang="en-US" sz="3000" dirty="0">
                <a:solidFill>
                  <a:srgbClr val="0000CC"/>
                </a:solidFill>
                <a:latin typeface="Times New Roman" panose="02020603050405020304" pitchFamily="18" charset="0"/>
                <a:cs typeface="Times New Roman" panose="02020603050405020304" pitchFamily="18" charset="0"/>
              </a:rPr>
              <a:t>Stray animal (dogs, cattle) feed </a:t>
            </a:r>
            <a:r>
              <a:rPr lang="en-US" sz="3000" dirty="0">
                <a:latin typeface="Times New Roman" panose="02020603050405020304" pitchFamily="18" charset="0"/>
                <a:cs typeface="Times New Roman" panose="02020603050405020304" pitchFamily="18" charset="0"/>
              </a:rPr>
              <a:t>on the garbage, spread it and also fall ill</a:t>
            </a:r>
          </a:p>
          <a:p>
            <a:pPr marL="457200" indent="-457200">
              <a:buFont typeface="Wingdings" panose="05000000000000000000" pitchFamily="2" charset="2"/>
              <a:buChar char="v"/>
            </a:pPr>
            <a:r>
              <a:rPr lang="en-US" sz="3000" dirty="0">
                <a:latin typeface="Times New Roman" panose="02020603050405020304" pitchFamily="18" charset="0"/>
                <a:cs typeface="Times New Roman" panose="02020603050405020304" pitchFamily="18" charset="0"/>
              </a:rPr>
              <a:t>Pollutants from garbage dump contaminate ground water and surface water</a:t>
            </a:r>
          </a:p>
          <a:p>
            <a:pPr marL="457200" indent="-457200">
              <a:buFont typeface="Wingdings" panose="05000000000000000000" pitchFamily="2" charset="2"/>
              <a:buChar char="v"/>
            </a:pPr>
            <a:r>
              <a:rPr lang="en-US" sz="3000" dirty="0">
                <a:latin typeface="Times New Roman" panose="02020603050405020304" pitchFamily="18" charset="0"/>
                <a:cs typeface="Times New Roman" panose="02020603050405020304" pitchFamily="18" charset="0"/>
              </a:rPr>
              <a:t>Garbage dumps often destroy aesthetic value of the locality</a:t>
            </a:r>
          </a:p>
          <a:p>
            <a:pPr marL="457200" indent="-457200">
              <a:buFont typeface="Wingdings" panose="05000000000000000000" pitchFamily="2" charset="2"/>
              <a:buChar char="v"/>
            </a:pPr>
            <a:r>
              <a:rPr lang="en-US" sz="3000" dirty="0">
                <a:latin typeface="Times New Roman" panose="02020603050405020304" pitchFamily="18" charset="0"/>
                <a:cs typeface="Times New Roman" panose="02020603050405020304" pitchFamily="18" charset="0"/>
              </a:rPr>
              <a:t>Fumes arising from burning of wastes pollute the air and foul smell due to decomposition of organic wastes create are unpleasant and create health problems</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92491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Technique for solid waste disposal</a:t>
            </a:r>
            <a:endParaRPr lang="en-US" dirty="0">
              <a:solidFill>
                <a:srgbClr val="FF0000"/>
              </a:solidFill>
            </a:endParaRPr>
          </a:p>
        </p:txBody>
      </p:sp>
      <p:grpSp>
        <p:nvGrpSpPr>
          <p:cNvPr id="6" name="Group 5"/>
          <p:cNvGrpSpPr/>
          <p:nvPr/>
        </p:nvGrpSpPr>
        <p:grpSpPr>
          <a:xfrm>
            <a:off x="764757" y="1886078"/>
            <a:ext cx="9591868" cy="4237073"/>
            <a:chOff x="764757" y="1886078"/>
            <a:chExt cx="9591868" cy="4237073"/>
          </a:xfrm>
        </p:grpSpPr>
        <p:pic>
          <p:nvPicPr>
            <p:cNvPr id="4098" name="Picture 2" descr="C:\Users\NARESH\Desktop\solid waste management\landfill-basics-6-638 (1).jpg"/>
            <p:cNvPicPr>
              <a:picLocks noChangeAspect="1" noChangeArrowheads="1"/>
            </p:cNvPicPr>
            <p:nvPr/>
          </p:nvPicPr>
          <p:blipFill>
            <a:blip r:embed="rId2"/>
            <a:srcRect t="30063"/>
            <a:stretch>
              <a:fillRect/>
            </a:stretch>
          </p:blipFill>
          <p:spPr bwMode="auto">
            <a:xfrm>
              <a:off x="764757" y="1886078"/>
              <a:ext cx="9591868" cy="4147482"/>
            </a:xfrm>
            <a:prstGeom prst="rect">
              <a:avLst/>
            </a:prstGeom>
            <a:noFill/>
          </p:spPr>
        </p:pic>
        <p:sp>
          <p:nvSpPr>
            <p:cNvPr id="5" name="TextBox 4"/>
            <p:cNvSpPr txBox="1"/>
            <p:nvPr/>
          </p:nvSpPr>
          <p:spPr>
            <a:xfrm>
              <a:off x="1259457" y="5753819"/>
              <a:ext cx="2120902" cy="369332"/>
            </a:xfrm>
            <a:prstGeom prst="rect">
              <a:avLst/>
            </a:prstGeom>
            <a:solidFill>
              <a:schemeClr val="accent4">
                <a:lumMod val="20000"/>
                <a:lumOff val="80000"/>
              </a:schemeClr>
            </a:solidFill>
          </p:spPr>
          <p:txBody>
            <a:bodyPr wrap="none" rtlCol="0">
              <a:spAutoFit/>
            </a:bodyPr>
            <a:lstStyle/>
            <a:p>
              <a:r>
                <a:rPr lang="en-US" dirty="0" smtClean="0"/>
                <a:t>Anaerobic Digestion </a:t>
              </a:r>
              <a:endParaRPr lang="en-US"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8D22578D-E2C3-413D-AF8F-5C1A178CC42D}"/>
              </a:ext>
            </a:extLst>
          </p:cNvPr>
          <p:cNvSpPr>
            <a:spLocks noGrp="1"/>
          </p:cNvSpPr>
          <p:nvPr>
            <p:ph type="title"/>
          </p:nvPr>
        </p:nvSpPr>
        <p:spPr>
          <a:xfrm>
            <a:off x="0" y="0"/>
            <a:ext cx="12268200" cy="1057275"/>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Solid waste management</a:t>
            </a:r>
            <a:endParaRPr lang="en-US" sz="4000" b="1" dirty="0">
              <a:solidFill>
                <a:schemeClr val="bg1"/>
              </a:solidFill>
              <a:latin typeface="Times New Roman" pitchFamily="18" charset="0"/>
              <a:cs typeface="Times New Roman" pitchFamily="18" charset="0"/>
            </a:endParaRPr>
          </a:p>
        </p:txBody>
      </p:sp>
      <p:sp>
        <p:nvSpPr>
          <p:cNvPr id="6" name="Rectangle 5">
            <a:extLst>
              <a:ext uri="{FF2B5EF4-FFF2-40B4-BE49-F238E27FC236}">
                <a16:creationId xmlns="" xmlns:a16="http://schemas.microsoft.com/office/drawing/2014/main" id="{15676104-A941-4DB8-8C49-E9839ACF6FB1}"/>
              </a:ext>
            </a:extLst>
          </p:cNvPr>
          <p:cNvSpPr/>
          <p:nvPr/>
        </p:nvSpPr>
        <p:spPr>
          <a:xfrm>
            <a:off x="142874" y="1194138"/>
            <a:ext cx="11972925" cy="4524315"/>
          </a:xfrm>
          <a:prstGeom prst="rect">
            <a:avLst/>
          </a:prstGeom>
        </p:spPr>
        <p:txBody>
          <a:bodyPr wrap="square">
            <a:spAutoFit/>
          </a:bodyPr>
          <a:lstStyle/>
          <a:p>
            <a:pPr algn="just"/>
            <a:r>
              <a:rPr lang="en-US" sz="3600" dirty="0">
                <a:latin typeface="Bookman Old Style" panose="02050604050505020204" pitchFamily="18" charset="0"/>
              </a:rPr>
              <a:t>With growing rate of solid waste generation all over the world, solid waste management has become one of the major necessities of the society, particularly in urban areas.</a:t>
            </a:r>
          </a:p>
          <a:p>
            <a:pPr algn="just"/>
            <a:r>
              <a:rPr lang="en-US" sz="3600" dirty="0">
                <a:latin typeface="Bookman Old Style" panose="02050604050505020204" pitchFamily="18" charset="0"/>
              </a:rPr>
              <a:t>There are three parts of solid waste management: </a:t>
            </a:r>
          </a:p>
          <a:p>
            <a:pPr marL="742950" indent="-742950" algn="just">
              <a:buFont typeface="+mj-lt"/>
              <a:buAutoNum type="alphaUcPeriod"/>
            </a:pPr>
            <a:r>
              <a:rPr lang="en-US" sz="3600" dirty="0">
                <a:latin typeface="Bookman Old Style" panose="02050604050505020204" pitchFamily="18" charset="0"/>
              </a:rPr>
              <a:t>Collection </a:t>
            </a:r>
          </a:p>
          <a:p>
            <a:pPr marL="742950" indent="-742950" algn="just">
              <a:buFont typeface="+mj-lt"/>
              <a:buAutoNum type="alphaUcPeriod"/>
            </a:pPr>
            <a:r>
              <a:rPr lang="en-US" sz="3600" dirty="0">
                <a:latin typeface="Bookman Old Style" panose="02050604050505020204" pitchFamily="18" charset="0"/>
              </a:rPr>
              <a:t>Disposal </a:t>
            </a:r>
          </a:p>
          <a:p>
            <a:pPr marL="742950" indent="-742950" algn="just">
              <a:buFont typeface="+mj-lt"/>
              <a:buAutoNum type="alphaUcPeriod"/>
            </a:pPr>
            <a:r>
              <a:rPr lang="en-US" sz="3600" dirty="0">
                <a:latin typeface="Bookman Old Style" panose="02050604050505020204" pitchFamily="18" charset="0"/>
              </a:rPr>
              <a:t>Recovery</a:t>
            </a:r>
          </a:p>
        </p:txBody>
      </p:sp>
    </p:spTree>
    <p:extLst>
      <p:ext uri="{BB962C8B-B14F-4D97-AF65-F5344CB8AC3E}">
        <p14:creationId xmlns:p14="http://schemas.microsoft.com/office/powerpoint/2010/main" xmlns="" val="1532327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itchFamily="18" charset="0"/>
                <a:cs typeface="Times New Roman" pitchFamily="18" charset="0"/>
              </a:rPr>
              <a:t>Municipal Solid waste management</a:t>
            </a:r>
            <a:endParaRPr lang="en-US" dirty="0">
              <a:solidFill>
                <a:srgbClr val="FF0000"/>
              </a:solidFill>
            </a:endParaRPr>
          </a:p>
        </p:txBody>
      </p:sp>
      <p:pic>
        <p:nvPicPr>
          <p:cNvPr id="1026" name="Picture 2"/>
          <p:cNvPicPr>
            <a:picLocks noGrp="1" noChangeAspect="1" noChangeArrowheads="1"/>
          </p:cNvPicPr>
          <p:nvPr>
            <p:ph idx="1"/>
          </p:nvPr>
        </p:nvPicPr>
        <p:blipFill>
          <a:blip r:embed="rId2"/>
          <a:srcRect/>
          <a:stretch>
            <a:fillRect/>
          </a:stretch>
        </p:blipFill>
        <p:spPr bwMode="auto">
          <a:xfrm>
            <a:off x="1518679" y="1433496"/>
            <a:ext cx="9057305" cy="524476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CB8F3809-D02B-41A1-AFC1-A72C71794DA4}"/>
              </a:ext>
            </a:extLst>
          </p:cNvPr>
          <p:cNvSpPr>
            <a:spLocks noGrp="1"/>
          </p:cNvSpPr>
          <p:nvPr>
            <p:ph type="title"/>
          </p:nvPr>
        </p:nvSpPr>
        <p:spPr>
          <a:xfrm>
            <a:off x="0" y="0"/>
            <a:ext cx="12268200" cy="1057275"/>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Solid waste management</a:t>
            </a:r>
            <a:endParaRPr lang="en-US" sz="4000" b="1" dirty="0">
              <a:solidFill>
                <a:schemeClr val="bg1"/>
              </a:solidFill>
              <a:latin typeface="Times New Roman" pitchFamily="18" charset="0"/>
              <a:cs typeface="Times New Roman" pitchFamily="18" charset="0"/>
            </a:endParaRPr>
          </a:p>
        </p:txBody>
      </p:sp>
      <p:sp>
        <p:nvSpPr>
          <p:cNvPr id="5" name="Rectangle 4">
            <a:extLst>
              <a:ext uri="{FF2B5EF4-FFF2-40B4-BE49-F238E27FC236}">
                <a16:creationId xmlns="" xmlns:a16="http://schemas.microsoft.com/office/drawing/2014/main" id="{D3DB8514-6DB3-4342-AA1F-9AE02B786F48}"/>
              </a:ext>
            </a:extLst>
          </p:cNvPr>
          <p:cNvSpPr/>
          <p:nvPr/>
        </p:nvSpPr>
        <p:spPr>
          <a:xfrm>
            <a:off x="207337" y="1263134"/>
            <a:ext cx="2464136" cy="584775"/>
          </a:xfrm>
          <a:prstGeom prst="rect">
            <a:avLst/>
          </a:prstGeom>
        </p:spPr>
        <p:txBody>
          <a:bodyPr wrap="none">
            <a:spAutoFit/>
          </a:bodyPr>
          <a:lstStyle/>
          <a:p>
            <a:r>
              <a:rPr lang="en-IN" sz="3200" b="1" dirty="0">
                <a:latin typeface="Times New Roman" panose="02020603050405020304" pitchFamily="18" charset="0"/>
                <a:cs typeface="Times New Roman" panose="02020603050405020304" pitchFamily="18" charset="0"/>
              </a:rPr>
              <a:t>A. Collection</a:t>
            </a:r>
            <a:endParaRPr lang="en-IN"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 xmlns:a16="http://schemas.microsoft.com/office/drawing/2014/main" id="{65E79ADC-F3E4-4EFF-B862-4B020B690F49}"/>
              </a:ext>
            </a:extLst>
          </p:cNvPr>
          <p:cNvSpPr/>
          <p:nvPr/>
        </p:nvSpPr>
        <p:spPr>
          <a:xfrm>
            <a:off x="585867" y="1992213"/>
            <a:ext cx="11461590" cy="3785652"/>
          </a:xfrm>
          <a:prstGeom prst="rect">
            <a:avLst/>
          </a:prstGeom>
        </p:spPr>
        <p:txBody>
          <a:bodyPr wrap="square">
            <a:spAutoFit/>
          </a:bodyPr>
          <a:lstStyle/>
          <a:p>
            <a:pPr marL="571500" indent="-571500" algn="just">
              <a:buFont typeface="Wingdings" panose="05000000000000000000" pitchFamily="2" charset="2"/>
              <a:buChar char="ü"/>
            </a:pPr>
            <a:r>
              <a:rPr lang="en-US" sz="4000" dirty="0">
                <a:latin typeface="Times New Roman" panose="02020603050405020304" pitchFamily="18" charset="0"/>
                <a:cs typeface="Times New Roman" panose="02020603050405020304" pitchFamily="18" charset="0"/>
              </a:rPr>
              <a:t>It involves collection of solid waste from the point of generation and its transportation to disposal site. </a:t>
            </a:r>
          </a:p>
          <a:p>
            <a:pPr marL="571500" indent="-571500" algn="just">
              <a:buFont typeface="Wingdings" panose="05000000000000000000" pitchFamily="2" charset="2"/>
              <a:buChar char="ü"/>
            </a:pPr>
            <a:r>
              <a:rPr lang="en-US" sz="4000" dirty="0">
                <a:latin typeface="Times New Roman" panose="02020603050405020304" pitchFamily="18" charset="0"/>
                <a:cs typeface="Times New Roman" panose="02020603050405020304" pitchFamily="18" charset="0"/>
              </a:rPr>
              <a:t>Households usually collect their waste in dust bins and throws it in </a:t>
            </a:r>
            <a:r>
              <a:rPr lang="en-US" sz="4000" dirty="0">
                <a:solidFill>
                  <a:srgbClr val="0000CC"/>
                </a:solidFill>
                <a:latin typeface="Times New Roman" panose="02020603050405020304" pitchFamily="18" charset="0"/>
                <a:cs typeface="Times New Roman" panose="02020603050405020304" pitchFamily="18" charset="0"/>
              </a:rPr>
              <a:t>community storage </a:t>
            </a:r>
            <a:r>
              <a:rPr lang="en-US" sz="4000" dirty="0">
                <a:latin typeface="Times New Roman" panose="02020603050405020304" pitchFamily="18" charset="0"/>
                <a:cs typeface="Times New Roman" panose="02020603050405020304" pitchFamily="18" charset="0"/>
              </a:rPr>
              <a:t>place from where municipality or similar body pick it up and </a:t>
            </a:r>
            <a:r>
              <a:rPr lang="en-IN" sz="4000" dirty="0">
                <a:latin typeface="Times New Roman" panose="02020603050405020304" pitchFamily="18" charset="0"/>
                <a:cs typeface="Times New Roman" panose="02020603050405020304" pitchFamily="18" charset="0"/>
              </a:rPr>
              <a:t>transport to disposal site.</a:t>
            </a:r>
          </a:p>
        </p:txBody>
      </p:sp>
    </p:spTree>
    <p:extLst>
      <p:ext uri="{BB962C8B-B14F-4D97-AF65-F5344CB8AC3E}">
        <p14:creationId xmlns:p14="http://schemas.microsoft.com/office/powerpoint/2010/main" xmlns="" val="2920260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3028194-3A4D-437A-BB56-046B055C9240}"/>
              </a:ext>
            </a:extLst>
          </p:cNvPr>
          <p:cNvSpPr/>
          <p:nvPr/>
        </p:nvSpPr>
        <p:spPr>
          <a:xfrm>
            <a:off x="452096" y="1101209"/>
            <a:ext cx="5293096" cy="584775"/>
          </a:xfrm>
          <a:prstGeom prst="rect">
            <a:avLst/>
          </a:prstGeom>
        </p:spPr>
        <p:txBody>
          <a:bodyPr wrap="square">
            <a:spAutoFit/>
          </a:bodyPr>
          <a:lstStyle/>
          <a:p>
            <a:r>
              <a:rPr lang="en-IN" sz="3200" b="1" dirty="0">
                <a:latin typeface="Times New Roman" panose="02020603050405020304" pitchFamily="18" charset="0"/>
                <a:cs typeface="Times New Roman" panose="02020603050405020304" pitchFamily="18" charset="0"/>
              </a:rPr>
              <a:t>B. Disposal</a:t>
            </a:r>
            <a:endParaRPr lang="en-IN" sz="32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 xmlns:a16="http://schemas.microsoft.com/office/drawing/2014/main" id="{88900AB8-0EF2-4614-A9B4-CE4A33AFBD83}"/>
              </a:ext>
            </a:extLst>
          </p:cNvPr>
          <p:cNvSpPr>
            <a:spLocks noGrp="1"/>
          </p:cNvSpPr>
          <p:nvPr>
            <p:ph type="title"/>
          </p:nvPr>
        </p:nvSpPr>
        <p:spPr>
          <a:xfrm>
            <a:off x="0" y="0"/>
            <a:ext cx="12268200" cy="1057275"/>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Solid waste management</a:t>
            </a:r>
            <a:endParaRPr lang="en-US" sz="4000" b="1" dirty="0">
              <a:solidFill>
                <a:schemeClr val="bg1"/>
              </a:solidFill>
              <a:latin typeface="Times New Roman" pitchFamily="18" charset="0"/>
              <a:cs typeface="Times New Roman" pitchFamily="18" charset="0"/>
            </a:endParaRPr>
          </a:p>
        </p:txBody>
      </p:sp>
      <p:sp>
        <p:nvSpPr>
          <p:cNvPr id="6" name="Rectangle 5">
            <a:extLst>
              <a:ext uri="{FF2B5EF4-FFF2-40B4-BE49-F238E27FC236}">
                <a16:creationId xmlns="" xmlns:a16="http://schemas.microsoft.com/office/drawing/2014/main" id="{74E1D6EE-283A-42AC-A930-0CCF59A8E5AA}"/>
              </a:ext>
            </a:extLst>
          </p:cNvPr>
          <p:cNvSpPr/>
          <p:nvPr/>
        </p:nvSpPr>
        <p:spPr>
          <a:xfrm>
            <a:off x="452096" y="1581894"/>
            <a:ext cx="11558929" cy="3046988"/>
          </a:xfrm>
          <a:prstGeom prst="rect">
            <a:avLst/>
          </a:prstGeom>
        </p:spPr>
        <p:txBody>
          <a:bodyPr wrap="square">
            <a:spAutoFit/>
          </a:bodyPr>
          <a:lstStyle/>
          <a:p>
            <a:pPr algn="just"/>
            <a:r>
              <a:rPr lang="en-US" sz="3200" dirty="0">
                <a:latin typeface="Times New Roman" panose="02020603050405020304" pitchFamily="18" charset="0"/>
                <a:cs typeface="Times New Roman" panose="02020603050405020304" pitchFamily="18" charset="0"/>
              </a:rPr>
              <a:t>Disposal means processing of waste so as to get rid of it. It also means </a:t>
            </a:r>
            <a:r>
              <a:rPr lang="en-US" sz="3200" dirty="0">
                <a:solidFill>
                  <a:srgbClr val="0000CC"/>
                </a:solidFill>
                <a:latin typeface="Times New Roman" panose="02020603050405020304" pitchFamily="18" charset="0"/>
                <a:cs typeface="Times New Roman" panose="02020603050405020304" pitchFamily="18" charset="0"/>
              </a:rPr>
              <a:t>to reduce volume, harmful effect and unpleasant </a:t>
            </a:r>
            <a:r>
              <a:rPr lang="en-US" sz="3200" dirty="0">
                <a:latin typeface="Times New Roman" panose="02020603050405020304" pitchFamily="18" charset="0"/>
                <a:cs typeface="Times New Roman" panose="02020603050405020304" pitchFamily="18" charset="0"/>
              </a:rPr>
              <a:t>appearance of solid waste. The collected solid waste is disposed in one of the following ways:</a:t>
            </a:r>
          </a:p>
          <a:p>
            <a:pPr marL="457200" indent="-457200" algn="just">
              <a:buFont typeface="Wingdings" panose="05000000000000000000" pitchFamily="2" charset="2"/>
              <a:buChar char="v"/>
            </a:pPr>
            <a:r>
              <a:rPr lang="en-US" sz="3200" b="1" dirty="0">
                <a:latin typeface="Times New Roman" panose="02020603050405020304" pitchFamily="18" charset="0"/>
                <a:cs typeface="Times New Roman" panose="02020603050405020304" pitchFamily="18" charset="0"/>
              </a:rPr>
              <a:t>Open dumping</a:t>
            </a:r>
          </a:p>
          <a:p>
            <a:pPr algn="just"/>
            <a:r>
              <a:rPr lang="en-US" sz="3200" b="1"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ADC9F502-1412-49D4-BC15-427DF29287CE}"/>
              </a:ext>
            </a:extLst>
          </p:cNvPr>
          <p:cNvSpPr txBox="1"/>
          <p:nvPr/>
        </p:nvSpPr>
        <p:spPr>
          <a:xfrm>
            <a:off x="1063860" y="4152721"/>
            <a:ext cx="11013840" cy="2246769"/>
          </a:xfrm>
          <a:prstGeom prst="rect">
            <a:avLst/>
          </a:prstGeom>
          <a:noFill/>
        </p:spPr>
        <p:txBody>
          <a:bodyPr wrap="square" rtlCol="0">
            <a:spAutoFit/>
          </a:bodyPr>
          <a:lstStyle/>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Waste is deposited in low laying land, usually on out skirt of town.</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No further processing is done. This is cheap and easier method, but it causes of air and water pollution and health hazards.</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Open dumping is commonly applied for disposing of community waste in many </a:t>
            </a:r>
            <a:r>
              <a:rPr lang="en-IN" sz="2800" dirty="0">
                <a:latin typeface="Times New Roman" panose="02020603050405020304" pitchFamily="18" charset="0"/>
                <a:cs typeface="Times New Roman" panose="02020603050405020304" pitchFamily="18" charset="0"/>
              </a:rPr>
              <a:t>towns of India.</a:t>
            </a:r>
          </a:p>
        </p:txBody>
      </p:sp>
    </p:spTree>
    <p:extLst>
      <p:ext uri="{BB962C8B-B14F-4D97-AF65-F5344CB8AC3E}">
        <p14:creationId xmlns:p14="http://schemas.microsoft.com/office/powerpoint/2010/main" xmlns="" val="1337195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5428" y="0"/>
            <a:ext cx="10515600" cy="1325563"/>
          </a:xfrm>
        </p:spPr>
        <p:txBody>
          <a:bodyPr/>
          <a:lstStyle/>
          <a:p>
            <a:r>
              <a:rPr lang="en-US" b="1" dirty="0" smtClean="0">
                <a:solidFill>
                  <a:srgbClr val="FF0000"/>
                </a:solidFill>
              </a:rPr>
              <a:t>Types of Land fill</a:t>
            </a:r>
            <a:endParaRPr lang="en-US" b="1" dirty="0">
              <a:solidFill>
                <a:srgbClr val="FF0000"/>
              </a:solidFill>
            </a:endParaRPr>
          </a:p>
        </p:txBody>
      </p:sp>
      <p:pic>
        <p:nvPicPr>
          <p:cNvPr id="8194" name="Picture 2" descr="C:\Users\NARESH\Desktop\solid waste management\landfill-basics-17-638.jpg"/>
          <p:cNvPicPr>
            <a:picLocks noGrp="1" noChangeAspect="1" noChangeArrowheads="1"/>
          </p:cNvPicPr>
          <p:nvPr>
            <p:ph idx="1"/>
          </p:nvPr>
        </p:nvPicPr>
        <p:blipFill>
          <a:blip r:embed="rId2"/>
          <a:srcRect t="31315" b="7516"/>
          <a:stretch>
            <a:fillRect/>
          </a:stretch>
        </p:blipFill>
        <p:spPr bwMode="auto">
          <a:xfrm>
            <a:off x="472525" y="1341976"/>
            <a:ext cx="10656681" cy="4893890"/>
          </a:xfrm>
          <a:prstGeom prst="rect">
            <a:avLst/>
          </a:prstGeom>
          <a:noFill/>
        </p:spPr>
      </p:pic>
      <p:sp>
        <p:nvSpPr>
          <p:cNvPr id="4" name="TextBox 3"/>
          <p:cNvSpPr txBox="1"/>
          <p:nvPr/>
        </p:nvSpPr>
        <p:spPr>
          <a:xfrm>
            <a:off x="2130640" y="5202314"/>
            <a:ext cx="5404428" cy="369332"/>
          </a:xfrm>
          <a:prstGeom prst="rect">
            <a:avLst/>
          </a:prstGeom>
          <a:noFill/>
        </p:spPr>
        <p:txBody>
          <a:bodyPr wrap="none" rtlCol="0">
            <a:spAutoFit/>
          </a:bodyPr>
          <a:lstStyle/>
          <a:p>
            <a:r>
              <a:rPr lang="en-US" dirty="0" smtClean="0">
                <a:solidFill>
                  <a:srgbClr val="FF0000"/>
                </a:solidFill>
              </a:rPr>
              <a:t>Fly ash,  sold generated after metal  extraction from ore</a:t>
            </a:r>
            <a:endParaRPr lang="en-US"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392F6BAF-C2E1-4751-AADC-1AB2D280F5E2}"/>
              </a:ext>
            </a:extLst>
          </p:cNvPr>
          <p:cNvSpPr>
            <a:spLocks noGrp="1"/>
          </p:cNvSpPr>
          <p:nvPr>
            <p:ph type="title"/>
          </p:nvPr>
        </p:nvSpPr>
        <p:spPr>
          <a:xfrm>
            <a:off x="0" y="0"/>
            <a:ext cx="12268200" cy="1057275"/>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Solid waste management</a:t>
            </a:r>
            <a:endParaRPr lang="en-US" sz="4000" b="1" dirty="0">
              <a:solidFill>
                <a:schemeClr val="bg1"/>
              </a:solidFill>
              <a:latin typeface="Times New Roman" pitchFamily="18" charset="0"/>
              <a:cs typeface="Times New Roman" pitchFamily="18" charset="0"/>
            </a:endParaRPr>
          </a:p>
        </p:txBody>
      </p:sp>
      <p:sp>
        <p:nvSpPr>
          <p:cNvPr id="5" name="Rectangle 4">
            <a:extLst>
              <a:ext uri="{FF2B5EF4-FFF2-40B4-BE49-F238E27FC236}">
                <a16:creationId xmlns="" xmlns:a16="http://schemas.microsoft.com/office/drawing/2014/main" id="{887E2B7C-6D88-4C19-B3D0-4622519075B7}"/>
              </a:ext>
            </a:extLst>
          </p:cNvPr>
          <p:cNvSpPr/>
          <p:nvPr/>
        </p:nvSpPr>
        <p:spPr>
          <a:xfrm>
            <a:off x="200023" y="979872"/>
            <a:ext cx="11896725" cy="584775"/>
          </a:xfrm>
          <a:prstGeom prst="rect">
            <a:avLst/>
          </a:prstGeom>
        </p:spPr>
        <p:txBody>
          <a:bodyPr wrap="square">
            <a:spAutoFit/>
          </a:bodyPr>
          <a:lstStyle/>
          <a:p>
            <a:pPr marL="457200" indent="-457200" algn="just">
              <a:buFont typeface="Wingdings" panose="05000000000000000000" pitchFamily="2" charset="2"/>
              <a:buChar char="v"/>
            </a:pPr>
            <a:r>
              <a:rPr lang="en-US" sz="3200" b="1" dirty="0">
                <a:latin typeface="Times New Roman" panose="02020603050405020304" pitchFamily="18" charset="0"/>
                <a:cs typeface="Times New Roman" panose="02020603050405020304" pitchFamily="18" charset="0"/>
              </a:rPr>
              <a:t>Sanitary land-filling </a:t>
            </a:r>
          </a:p>
        </p:txBody>
      </p:sp>
      <p:sp>
        <p:nvSpPr>
          <p:cNvPr id="6" name="TextBox 5">
            <a:extLst>
              <a:ext uri="{FF2B5EF4-FFF2-40B4-BE49-F238E27FC236}">
                <a16:creationId xmlns="" xmlns:a16="http://schemas.microsoft.com/office/drawing/2014/main" id="{B72493F3-AA86-47A0-A3EF-E2DE73451CAC}"/>
              </a:ext>
            </a:extLst>
          </p:cNvPr>
          <p:cNvSpPr txBox="1"/>
          <p:nvPr/>
        </p:nvSpPr>
        <p:spPr>
          <a:xfrm>
            <a:off x="527901" y="1564647"/>
            <a:ext cx="11464076" cy="4893647"/>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This is modified form of open dumping in which waste is deposited in layers of about 1.5 m thickness. These layers are covered with soil (20 cm) and compressed by bulldozers. Insecticides like DDT are sprayed on top layer to prevent mosquitoes and flies. The waste undergoes decomposition, stabilizes within a period of 2-12 months and settles down by 20-40% of its original volume.</a:t>
            </a:r>
          </a:p>
          <a:p>
            <a:pPr marL="457200" indent="-457200" algn="just">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Sanitary land-filling is applied for disposing of municipal waste in metros and </a:t>
            </a:r>
            <a:r>
              <a:rPr lang="en-IN" sz="2600" dirty="0">
                <a:latin typeface="Times New Roman" panose="02020603050405020304" pitchFamily="18" charset="0"/>
                <a:cs typeface="Times New Roman" panose="02020603050405020304" pitchFamily="18" charset="0"/>
              </a:rPr>
              <a:t>big cities of India.</a:t>
            </a:r>
          </a:p>
          <a:p>
            <a:pPr marL="457200" indent="-457200" algn="just">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This method is simple, economical, does not require skilled </a:t>
            </a:r>
            <a:r>
              <a:rPr lang="en-US" sz="2600" dirty="0" err="1">
                <a:latin typeface="Times New Roman" panose="02020603050405020304" pitchFamily="18" charset="0"/>
                <a:cs typeface="Times New Roman" panose="02020603050405020304" pitchFamily="18" charset="0"/>
              </a:rPr>
              <a:t>labour</a:t>
            </a:r>
            <a:r>
              <a:rPr lang="en-US" sz="2600" dirty="0">
                <a:latin typeface="Times New Roman" panose="02020603050405020304" pitchFamily="18" charset="0"/>
                <a:cs typeface="Times New Roman" panose="02020603050405020304" pitchFamily="18" charset="0"/>
              </a:rPr>
              <a:t> and costly equipment, does not involve segregation or further processing, and can be done </a:t>
            </a:r>
            <a:r>
              <a:rPr lang="en-IN" sz="2600" dirty="0">
                <a:latin typeface="Times New Roman" panose="02020603050405020304" pitchFamily="18" charset="0"/>
                <a:cs typeface="Times New Roman" panose="02020603050405020304" pitchFamily="18" charset="0"/>
              </a:rPr>
              <a:t>to reclaim low-lying areas.</a:t>
            </a:r>
          </a:p>
          <a:p>
            <a:pPr marL="457200" indent="-457200" algn="just">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Negative aspects include large area requirement, soil requirement for covering, and use of insecticides and risk of ground water pollution.</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95004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NARESH\Desktop\solid waste management\landfill-basics-9-638.jpg"/>
          <p:cNvPicPr>
            <a:picLocks noGrp="1" noChangeAspect="1" noChangeArrowheads="1"/>
          </p:cNvPicPr>
          <p:nvPr>
            <p:ph idx="1"/>
          </p:nvPr>
        </p:nvPicPr>
        <p:blipFill>
          <a:blip r:embed="rId2"/>
          <a:srcRect l="3762" t="25052" r="5643" b="5010"/>
          <a:stretch>
            <a:fillRect/>
          </a:stretch>
        </p:blipFill>
        <p:spPr bwMode="auto">
          <a:xfrm>
            <a:off x="879941" y="1017917"/>
            <a:ext cx="9642956" cy="5588817"/>
          </a:xfrm>
          <a:prstGeom prst="rect">
            <a:avLst/>
          </a:prstGeom>
          <a:noFill/>
        </p:spPr>
      </p:pic>
      <p:sp>
        <p:nvSpPr>
          <p:cNvPr id="4" name="TextBox 3"/>
          <p:cNvSpPr txBox="1"/>
          <p:nvPr/>
        </p:nvSpPr>
        <p:spPr>
          <a:xfrm>
            <a:off x="483080" y="198407"/>
            <a:ext cx="10903788" cy="707886"/>
          </a:xfrm>
          <a:prstGeom prst="rect">
            <a:avLst/>
          </a:prstGeom>
          <a:noFill/>
        </p:spPr>
        <p:txBody>
          <a:bodyPr wrap="square" rtlCol="0">
            <a:spAutoFit/>
          </a:bodyPr>
          <a:lstStyle/>
          <a:p>
            <a:r>
              <a:rPr lang="en-US" sz="4000" dirty="0" smtClean="0">
                <a:solidFill>
                  <a:srgbClr val="FF0000"/>
                </a:solidFill>
              </a:rPr>
              <a:t>Essential components of Land Fill</a:t>
            </a:r>
            <a:endParaRPr lang="en-US" sz="40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C7908951-2945-4AAD-BCB3-483A468DC434}"/>
              </a:ext>
            </a:extLst>
          </p:cNvPr>
          <p:cNvSpPr>
            <a:spLocks noGrp="1"/>
          </p:cNvSpPr>
          <p:nvPr>
            <p:ph type="title"/>
          </p:nvPr>
        </p:nvSpPr>
        <p:spPr>
          <a:xfrm>
            <a:off x="0" y="1"/>
            <a:ext cx="12268200" cy="862642"/>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Solid waste management</a:t>
            </a:r>
            <a:endParaRPr lang="en-US" sz="4000" b="1" dirty="0">
              <a:solidFill>
                <a:schemeClr val="bg1"/>
              </a:solidFill>
              <a:latin typeface="Times New Roman" pitchFamily="18" charset="0"/>
              <a:cs typeface="Times New Roman" pitchFamily="18" charset="0"/>
            </a:endParaRPr>
          </a:p>
        </p:txBody>
      </p:sp>
      <p:sp>
        <p:nvSpPr>
          <p:cNvPr id="5" name="Rectangle 4">
            <a:extLst>
              <a:ext uri="{FF2B5EF4-FFF2-40B4-BE49-F238E27FC236}">
                <a16:creationId xmlns="" xmlns:a16="http://schemas.microsoft.com/office/drawing/2014/main" id="{80020D97-2485-4A69-AA11-F463CBFCF44A}"/>
              </a:ext>
            </a:extLst>
          </p:cNvPr>
          <p:cNvSpPr/>
          <p:nvPr/>
        </p:nvSpPr>
        <p:spPr>
          <a:xfrm>
            <a:off x="169681" y="807121"/>
            <a:ext cx="11943761" cy="2123658"/>
          </a:xfrm>
          <a:prstGeom prst="rect">
            <a:avLst/>
          </a:prstGeom>
        </p:spPr>
        <p:txBody>
          <a:bodyPr wrap="square">
            <a:spAutoFit/>
          </a:bodyPr>
          <a:lstStyle/>
          <a:p>
            <a:pPr marL="285750" indent="-285750" algn="just">
              <a:buFont typeface="Wingdings" panose="05000000000000000000" pitchFamily="2" charset="2"/>
              <a:buChar char="v"/>
            </a:pPr>
            <a:r>
              <a:rPr lang="en-US" sz="2800" b="1" dirty="0" smtClean="0">
                <a:latin typeface="Bookman Old Style,Bold"/>
              </a:rPr>
              <a:t>Composting: </a:t>
            </a:r>
            <a:r>
              <a:rPr lang="en-US" sz="2600" dirty="0" smtClean="0">
                <a:latin typeface="Times New Roman" panose="02020603050405020304" pitchFamily="18" charset="0"/>
                <a:cs typeface="Times New Roman" panose="02020603050405020304" pitchFamily="18" charset="0"/>
              </a:rPr>
              <a:t>It </a:t>
            </a:r>
            <a:r>
              <a:rPr lang="en-US" sz="2600" dirty="0">
                <a:latin typeface="Times New Roman" panose="02020603050405020304" pitchFamily="18" charset="0"/>
                <a:cs typeface="Times New Roman" panose="02020603050405020304" pitchFamily="18" charset="0"/>
              </a:rPr>
              <a:t>involves </a:t>
            </a:r>
            <a:r>
              <a:rPr lang="en-US" sz="2600" dirty="0">
                <a:solidFill>
                  <a:srgbClr val="0000CC"/>
                </a:solidFill>
                <a:latin typeface="Times New Roman" panose="02020603050405020304" pitchFamily="18" charset="0"/>
                <a:cs typeface="Times New Roman" panose="02020603050405020304" pitchFamily="18" charset="0"/>
              </a:rPr>
              <a:t>biological decomposition of organic substances </a:t>
            </a:r>
            <a:r>
              <a:rPr lang="en-US" sz="2600" dirty="0">
                <a:latin typeface="Times New Roman" panose="02020603050405020304" pitchFamily="18" charset="0"/>
                <a:cs typeface="Times New Roman" panose="02020603050405020304" pitchFamily="18" charset="0"/>
              </a:rPr>
              <a:t>available in waste, under controlled conditions. It operates in both </a:t>
            </a:r>
            <a:r>
              <a:rPr lang="en-US" sz="2600" dirty="0">
                <a:solidFill>
                  <a:srgbClr val="0000CC"/>
                </a:solidFill>
                <a:latin typeface="Times New Roman" panose="02020603050405020304" pitchFamily="18" charset="0"/>
                <a:cs typeface="Times New Roman" panose="02020603050405020304" pitchFamily="18" charset="0"/>
              </a:rPr>
              <a:t>aerobic and anaerobic conditions</a:t>
            </a:r>
            <a:r>
              <a:rPr lang="en-US" sz="2600" dirty="0">
                <a:latin typeface="Times New Roman" panose="02020603050405020304" pitchFamily="18" charset="0"/>
                <a:cs typeface="Times New Roman" panose="02020603050405020304" pitchFamily="18" charset="0"/>
              </a:rPr>
              <a:t>. As a result of this </a:t>
            </a:r>
            <a:r>
              <a:rPr lang="en-US" sz="2600" dirty="0">
                <a:solidFill>
                  <a:srgbClr val="0000CC"/>
                </a:solidFill>
                <a:latin typeface="Times New Roman" panose="02020603050405020304" pitchFamily="18" charset="0"/>
                <a:cs typeface="Times New Roman" panose="02020603050405020304" pitchFamily="18" charset="0"/>
              </a:rPr>
              <a:t>volume and harmful effects of waste is reduces</a:t>
            </a:r>
            <a:r>
              <a:rPr lang="en-US" sz="2600" dirty="0">
                <a:latin typeface="Times New Roman" panose="02020603050405020304" pitchFamily="18" charset="0"/>
                <a:cs typeface="Times New Roman" panose="02020603050405020304" pitchFamily="18" charset="0"/>
              </a:rPr>
              <a:t>. The residue of the process is organic manure which contains minerals and can be applied in </a:t>
            </a:r>
            <a:r>
              <a:rPr lang="en-US" sz="2600" dirty="0">
                <a:solidFill>
                  <a:srgbClr val="0000CC"/>
                </a:solidFill>
                <a:latin typeface="Times New Roman" panose="02020603050405020304" pitchFamily="18" charset="0"/>
                <a:cs typeface="Times New Roman" panose="02020603050405020304" pitchFamily="18" charset="0"/>
              </a:rPr>
              <a:t>agriculture as fertilizer.</a:t>
            </a:r>
            <a:endParaRPr lang="en-IN" sz="2600" dirty="0">
              <a:solidFill>
                <a:srgbClr val="0000CC"/>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 xmlns:a16="http://schemas.microsoft.com/office/drawing/2014/main" id="{67E1FE21-CB16-42CD-BC68-0EFDE294DAF6}"/>
              </a:ext>
            </a:extLst>
          </p:cNvPr>
          <p:cNvSpPr/>
          <p:nvPr/>
        </p:nvSpPr>
        <p:spPr>
          <a:xfrm>
            <a:off x="169681" y="2930024"/>
            <a:ext cx="11840066" cy="3693319"/>
          </a:xfrm>
          <a:prstGeom prst="rect">
            <a:avLst/>
          </a:prstGeom>
        </p:spPr>
        <p:txBody>
          <a:bodyPr wrap="square">
            <a:spAutoFit/>
          </a:bodyPr>
          <a:lstStyle/>
          <a:p>
            <a:pPr marL="342900" indent="-342900" algn="just">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There are three common methods of composting: (</a:t>
            </a:r>
            <a:r>
              <a:rPr lang="en-US" sz="2600" dirty="0" err="1">
                <a:latin typeface="Times New Roman" panose="02020603050405020304" pitchFamily="18" charset="0"/>
                <a:cs typeface="Times New Roman" panose="02020603050405020304" pitchFamily="18" charset="0"/>
              </a:rPr>
              <a:t>i</a:t>
            </a:r>
            <a:r>
              <a:rPr lang="en-US" sz="2600" dirty="0">
                <a:latin typeface="Times New Roman" panose="02020603050405020304" pitchFamily="18" charset="0"/>
                <a:cs typeface="Times New Roman" panose="02020603050405020304" pitchFamily="18" charset="0"/>
              </a:rPr>
              <a:t>) Trenching based composting (ii) Open window composting and (iii) Mechanical composting.</a:t>
            </a:r>
          </a:p>
          <a:p>
            <a:pPr marL="342900" indent="-342900" algn="just">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Composting is practiced since long in India and it is the best suited to our environment. Composting is an ecofriendly method in which wastes are finally converted into simple compounds of nature. It produces valuable manure which protects soil fertility and reduces soil erosion. It can be practiced even a </a:t>
            </a:r>
            <a:r>
              <a:rPr lang="en-IN" sz="2600" dirty="0">
                <a:latin typeface="Times New Roman" panose="02020603050405020304" pitchFamily="18" charset="0"/>
                <a:cs typeface="Times New Roman" panose="02020603050405020304" pitchFamily="18" charset="0"/>
              </a:rPr>
              <a:t>household level.</a:t>
            </a:r>
            <a:r>
              <a:rPr lang="en-US" sz="2600"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Negative aspects or limitations include its slow processing, production of unpleasant smells, and its applicable only for bio-degradable wastes.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309923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43DCC2FF-671B-48EA-A425-076E35F82AAF}"/>
              </a:ext>
            </a:extLst>
          </p:cNvPr>
          <p:cNvSpPr>
            <a:spLocks noGrp="1"/>
          </p:cNvSpPr>
          <p:nvPr>
            <p:ph type="title"/>
          </p:nvPr>
        </p:nvSpPr>
        <p:spPr>
          <a:xfrm>
            <a:off x="0" y="0"/>
            <a:ext cx="12192000" cy="759125"/>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Solid waste management</a:t>
            </a:r>
            <a:endParaRPr lang="en-US" sz="4000" b="1" dirty="0">
              <a:solidFill>
                <a:schemeClr val="bg1"/>
              </a:solidFill>
              <a:latin typeface="Times New Roman" pitchFamily="18" charset="0"/>
              <a:cs typeface="Times New Roman" pitchFamily="18" charset="0"/>
            </a:endParaRPr>
          </a:p>
        </p:txBody>
      </p:sp>
      <p:sp>
        <p:nvSpPr>
          <p:cNvPr id="5" name="Rectangle 4">
            <a:extLst>
              <a:ext uri="{FF2B5EF4-FFF2-40B4-BE49-F238E27FC236}">
                <a16:creationId xmlns="" xmlns:a16="http://schemas.microsoft.com/office/drawing/2014/main" id="{2C3C2101-C731-40C3-8AD0-192BB381219B}"/>
              </a:ext>
            </a:extLst>
          </p:cNvPr>
          <p:cNvSpPr/>
          <p:nvPr/>
        </p:nvSpPr>
        <p:spPr>
          <a:xfrm>
            <a:off x="172705" y="651840"/>
            <a:ext cx="11885631" cy="2308324"/>
          </a:xfrm>
          <a:prstGeom prst="rect">
            <a:avLst/>
          </a:prstGeom>
        </p:spPr>
        <p:txBody>
          <a:bodyPr wrap="square">
            <a:spAutoFit/>
          </a:bodyPr>
          <a:lstStyle/>
          <a:p>
            <a:pPr marL="457200" indent="-457200">
              <a:buFont typeface="Wingdings" panose="05000000000000000000" pitchFamily="2" charset="2"/>
              <a:buChar char="v"/>
            </a:pPr>
            <a:r>
              <a:rPr lang="en-US" sz="3200" b="1" dirty="0">
                <a:latin typeface="Bookman Old Style,Bold"/>
              </a:rPr>
              <a:t>Incineration: </a:t>
            </a:r>
            <a:r>
              <a:rPr lang="en-US" sz="2800" dirty="0" smtClean="0">
                <a:latin typeface="Times New Roman" panose="02020603050405020304" pitchFamily="18" charset="0"/>
                <a:cs typeface="Times New Roman" panose="02020603050405020304" pitchFamily="18" charset="0"/>
              </a:rPr>
              <a:t>Waste </a:t>
            </a:r>
            <a:r>
              <a:rPr lang="en-US" sz="2800" dirty="0">
                <a:latin typeface="Times New Roman" panose="02020603050405020304" pitchFamily="18" charset="0"/>
                <a:cs typeface="Times New Roman" panose="02020603050405020304" pitchFamily="18" charset="0"/>
              </a:rPr>
              <a:t>is </a:t>
            </a:r>
            <a:r>
              <a:rPr lang="en-US" sz="2800" dirty="0">
                <a:solidFill>
                  <a:srgbClr val="0000CC"/>
                </a:solidFill>
                <a:latin typeface="Times New Roman" panose="02020603050405020304" pitchFamily="18" charset="0"/>
                <a:cs typeface="Times New Roman" panose="02020603050405020304" pitchFamily="18" charset="0"/>
              </a:rPr>
              <a:t>burnt in controlled manner, at high temperature (700</a:t>
            </a:r>
            <a:r>
              <a:rPr lang="en-US" sz="2800" baseline="30000" dirty="0">
                <a:solidFill>
                  <a:srgbClr val="0000CC"/>
                </a:solidFill>
                <a:latin typeface="Times New Roman" panose="02020603050405020304" pitchFamily="18" charset="0"/>
                <a:cs typeface="Times New Roman" panose="02020603050405020304" pitchFamily="18" charset="0"/>
              </a:rPr>
              <a:t>0</a:t>
            </a:r>
            <a:r>
              <a:rPr lang="en-US" sz="2800" dirty="0">
                <a:solidFill>
                  <a:srgbClr val="0000CC"/>
                </a:solidFill>
                <a:latin typeface="Times New Roman" panose="02020603050405020304" pitchFamily="18" charset="0"/>
                <a:cs typeface="Times New Roman" panose="02020603050405020304" pitchFamily="18" charset="0"/>
              </a:rPr>
              <a:t>-1000</a:t>
            </a:r>
            <a:r>
              <a:rPr lang="en-US" sz="2800" baseline="30000" dirty="0">
                <a:solidFill>
                  <a:srgbClr val="0000CC"/>
                </a:solidFill>
                <a:latin typeface="Times New Roman" panose="02020603050405020304" pitchFamily="18" charset="0"/>
                <a:cs typeface="Times New Roman" panose="02020603050405020304" pitchFamily="18" charset="0"/>
              </a:rPr>
              <a:t>0</a:t>
            </a:r>
            <a:r>
              <a:rPr lang="en-US" sz="2800" dirty="0">
                <a:solidFill>
                  <a:srgbClr val="0000CC"/>
                </a:solidFill>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in a large furnace known as incinerator. Prior to burning non-combustible items (e.g., metals, glass, crockery etc.) are segregated and removed. The combustion process produces CO</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N</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and water </a:t>
            </a:r>
            <a:r>
              <a:rPr lang="en-US" sz="2800" dirty="0" err="1">
                <a:latin typeface="Times New Roman" panose="02020603050405020304" pitchFamily="18" charset="0"/>
                <a:cs typeface="Times New Roman" panose="02020603050405020304" pitchFamily="18" charset="0"/>
              </a:rPr>
              <a:t>vapour</a:t>
            </a:r>
            <a:r>
              <a:rPr lang="en-US" sz="2800" dirty="0">
                <a:latin typeface="Times New Roman" panose="02020603050405020304" pitchFamily="18" charset="0"/>
                <a:cs typeface="Times New Roman" panose="02020603050405020304" pitchFamily="18" charset="0"/>
              </a:rPr>
              <a:t>. Waste reduces to ash which is only 10% of original volume.</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2C1D352C-1133-468F-ABB1-04CC9801118B}"/>
              </a:ext>
            </a:extLst>
          </p:cNvPr>
          <p:cNvSpPr txBox="1"/>
          <p:nvPr/>
        </p:nvSpPr>
        <p:spPr>
          <a:xfrm>
            <a:off x="0" y="3240506"/>
            <a:ext cx="11786650" cy="3108543"/>
          </a:xfrm>
          <a:prstGeom prst="rect">
            <a:avLst/>
          </a:prstGeom>
          <a:noFill/>
        </p:spPr>
        <p:txBody>
          <a:bodyPr wrap="square" rtlCol="0">
            <a:spAutoFit/>
          </a:bodyPr>
          <a:lstStyle/>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Incineration is commonly adopted for disposing of hazardous toxic waste in</a:t>
            </a:r>
          </a:p>
          <a:p>
            <a:pPr algn="just"/>
            <a:r>
              <a:rPr lang="en-US" sz="2800" dirty="0">
                <a:latin typeface="Times New Roman" panose="02020603050405020304" pitchFamily="18" charset="0"/>
                <a:cs typeface="Times New Roman" panose="02020603050405020304" pitchFamily="18" charset="0"/>
              </a:rPr>
              <a:t>      India. It is more common in developed countries.</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This method is quick, require little space, involve less transportation cost, highly reduce volume of waste and provide safest disposal.</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Negative aspects include high capital (initial) and operating cost, need of skilled manpower and air pollution. Besides it, segregation of waste and final disposal of ash is also required</a:t>
            </a:r>
            <a:r>
              <a:rPr lang="en-US" sz="2800" dirty="0" smtClean="0">
                <a:latin typeface="Times New Roman" panose="02020603050405020304" pitchFamily="18" charset="0"/>
                <a:cs typeface="Times New Roman" panose="02020603050405020304" pitchFamily="18" charset="0"/>
              </a:rPr>
              <a:t>. </a:t>
            </a:r>
            <a:r>
              <a:rPr lang="en-US" sz="2800" dirty="0" smtClean="0">
                <a:solidFill>
                  <a:srgbClr val="0000CC"/>
                </a:solidFill>
                <a:latin typeface="Times New Roman" panose="02020603050405020304" pitchFamily="18" charset="0"/>
                <a:cs typeface="Times New Roman" panose="02020603050405020304" pitchFamily="18" charset="0"/>
              </a:rPr>
              <a:t>It may generates some more toxic gas</a:t>
            </a:r>
            <a:endParaRPr lang="en-IN" sz="2800"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37191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FBBBEB7D-E658-42F7-AE3E-5ABDA1821FBA}"/>
              </a:ext>
            </a:extLst>
          </p:cNvPr>
          <p:cNvSpPr>
            <a:spLocks noGrp="1"/>
          </p:cNvSpPr>
          <p:nvPr>
            <p:ph type="title"/>
          </p:nvPr>
        </p:nvSpPr>
        <p:spPr>
          <a:xfrm>
            <a:off x="0" y="1"/>
            <a:ext cx="12268200" cy="879894"/>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Solid waste management</a:t>
            </a:r>
            <a:endParaRPr lang="en-US" sz="4000" b="1" dirty="0">
              <a:solidFill>
                <a:schemeClr val="bg1"/>
              </a:solidFill>
              <a:latin typeface="Times New Roman" pitchFamily="18" charset="0"/>
              <a:cs typeface="Times New Roman" pitchFamily="18" charset="0"/>
            </a:endParaRPr>
          </a:p>
        </p:txBody>
      </p:sp>
      <p:sp>
        <p:nvSpPr>
          <p:cNvPr id="5" name="Rectangle 4">
            <a:extLst>
              <a:ext uri="{FF2B5EF4-FFF2-40B4-BE49-F238E27FC236}">
                <a16:creationId xmlns="" xmlns:a16="http://schemas.microsoft.com/office/drawing/2014/main" id="{551C087C-115A-4477-951D-1FD6FF2EAA0E}"/>
              </a:ext>
            </a:extLst>
          </p:cNvPr>
          <p:cNvSpPr/>
          <p:nvPr/>
        </p:nvSpPr>
        <p:spPr>
          <a:xfrm>
            <a:off x="172053" y="936505"/>
            <a:ext cx="11830639" cy="2308324"/>
          </a:xfrm>
          <a:prstGeom prst="rect">
            <a:avLst/>
          </a:prstGeom>
        </p:spPr>
        <p:txBody>
          <a:bodyPr wrap="square">
            <a:spAutoFit/>
          </a:bodyPr>
          <a:lstStyle/>
          <a:p>
            <a:pPr marL="457200" indent="-457200">
              <a:buFont typeface="Wingdings" panose="05000000000000000000" pitchFamily="2" charset="2"/>
              <a:buChar char="v"/>
            </a:pPr>
            <a:r>
              <a:rPr lang="en-US" sz="2800" b="1" dirty="0">
                <a:latin typeface="Bookman Old Style,Bold"/>
              </a:rPr>
              <a:t>Pyrolysis or destructive distillation</a:t>
            </a:r>
          </a:p>
          <a:p>
            <a:pPr algn="just"/>
            <a:r>
              <a:rPr lang="en-US" sz="2800" dirty="0">
                <a:latin typeface="Times New Roman" panose="02020603050405020304" pitchFamily="18" charset="0"/>
                <a:cs typeface="Times New Roman" panose="02020603050405020304" pitchFamily="18" charset="0"/>
              </a:rPr>
              <a:t>In this method waste is heated at high temperature (700</a:t>
            </a:r>
            <a:r>
              <a:rPr lang="en-US" sz="2800" baseline="30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-1000</a:t>
            </a:r>
            <a:r>
              <a:rPr lang="en-US" sz="2800" baseline="30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C), but in anaerobic conditions (</a:t>
            </a:r>
            <a:r>
              <a:rPr lang="en-US" sz="2800" dirty="0">
                <a:solidFill>
                  <a:srgbClr val="0000CC"/>
                </a:solidFill>
                <a:latin typeface="Times New Roman" panose="02020603050405020304" pitchFamily="18" charset="0"/>
                <a:cs typeface="Times New Roman" panose="02020603050405020304" pitchFamily="18" charset="0"/>
              </a:rPr>
              <a:t>low or no O</a:t>
            </a:r>
            <a:r>
              <a:rPr lang="en-US" sz="2800" baseline="-25000" dirty="0">
                <a:solidFill>
                  <a:srgbClr val="0000CC"/>
                </a:solidFill>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Unlike incineration, Pyrolysis is </a:t>
            </a:r>
            <a:r>
              <a:rPr lang="en-US" sz="2800" dirty="0">
                <a:solidFill>
                  <a:srgbClr val="0000CC"/>
                </a:solidFill>
                <a:latin typeface="Times New Roman" panose="02020603050405020304" pitchFamily="18" charset="0"/>
                <a:cs typeface="Times New Roman" panose="02020603050405020304" pitchFamily="18" charset="0"/>
              </a:rPr>
              <a:t>exothermic process</a:t>
            </a:r>
            <a:r>
              <a:rPr lang="en-US" sz="2800" dirty="0">
                <a:latin typeface="Times New Roman" panose="02020603050405020304" pitchFamily="18" charset="0"/>
                <a:cs typeface="Times New Roman" panose="02020603050405020304" pitchFamily="18" charset="0"/>
              </a:rPr>
              <a:t> which is meant to recover chemical energy of organic wastes. The process converts organic wastes into CO, CO</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CH</a:t>
            </a:r>
            <a:r>
              <a:rPr lang="en-US" sz="2800" baseline="-25000" dirty="0">
                <a:latin typeface="Times New Roman" panose="02020603050405020304" pitchFamily="18" charset="0"/>
                <a:cs typeface="Times New Roman" panose="02020603050405020304" pitchFamily="18" charset="0"/>
              </a:rPr>
              <a:t>4</a:t>
            </a:r>
            <a:r>
              <a:rPr lang="en-US" sz="280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tar etc.</a:t>
            </a:r>
          </a:p>
        </p:txBody>
      </p:sp>
      <p:sp>
        <p:nvSpPr>
          <p:cNvPr id="6" name="TextBox 5">
            <a:extLst>
              <a:ext uri="{FF2B5EF4-FFF2-40B4-BE49-F238E27FC236}">
                <a16:creationId xmlns="" xmlns:a16="http://schemas.microsoft.com/office/drawing/2014/main" id="{958D1986-5F24-4DF4-8B5B-752076B3A5B0}"/>
              </a:ext>
            </a:extLst>
          </p:cNvPr>
          <p:cNvSpPr txBox="1"/>
          <p:nvPr/>
        </p:nvSpPr>
        <p:spPr>
          <a:xfrm>
            <a:off x="180680" y="3256734"/>
            <a:ext cx="11830639" cy="954107"/>
          </a:xfrm>
          <a:prstGeom prst="rect">
            <a:avLst/>
          </a:prstGeom>
          <a:noFill/>
        </p:spPr>
        <p:txBody>
          <a:bodyPr wrap="square" rtlCol="0">
            <a:spAutoFit/>
          </a:bodyPr>
          <a:lstStyle/>
          <a:p>
            <a:pPr marL="285750" indent="-28575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It is less frequently applied method in India. Its merits and demerits resembles </a:t>
            </a:r>
            <a:r>
              <a:rPr lang="en-IN" sz="2800" dirty="0">
                <a:latin typeface="Times New Roman" panose="02020603050405020304" pitchFamily="18" charset="0"/>
                <a:cs typeface="Times New Roman" panose="02020603050405020304" pitchFamily="18" charset="0"/>
              </a:rPr>
              <a:t>to that of incineration.</a:t>
            </a:r>
          </a:p>
        </p:txBody>
      </p:sp>
      <p:sp>
        <p:nvSpPr>
          <p:cNvPr id="7" name="Rectangle 6">
            <a:extLst>
              <a:ext uri="{FF2B5EF4-FFF2-40B4-BE49-F238E27FC236}">
                <a16:creationId xmlns="" xmlns:a16="http://schemas.microsoft.com/office/drawing/2014/main" id="{E8B77343-1383-4618-8F70-78859D7BCB8D}"/>
              </a:ext>
            </a:extLst>
          </p:cNvPr>
          <p:cNvSpPr/>
          <p:nvPr/>
        </p:nvSpPr>
        <p:spPr>
          <a:xfrm>
            <a:off x="0" y="4183167"/>
            <a:ext cx="11907624" cy="2246769"/>
          </a:xfrm>
          <a:prstGeom prst="rect">
            <a:avLst/>
          </a:prstGeom>
        </p:spPr>
        <p:txBody>
          <a:bodyPr wrap="square">
            <a:spAutoFit/>
          </a:bodyPr>
          <a:lstStyle/>
          <a:p>
            <a:pPr marL="457200" indent="-457200">
              <a:buFont typeface="Wingdings" panose="05000000000000000000" pitchFamily="2" charset="2"/>
              <a:buChar char="v"/>
            </a:pPr>
            <a:r>
              <a:rPr lang="en-US" sz="2800" b="1" dirty="0">
                <a:latin typeface="Bookman Old Style,Bold"/>
              </a:rPr>
              <a:t>Pulverization</a:t>
            </a:r>
          </a:p>
          <a:p>
            <a:pPr algn="just"/>
            <a:r>
              <a:rPr lang="en-US" sz="2800" dirty="0">
                <a:latin typeface="Times New Roman" panose="02020603050405020304" pitchFamily="18" charset="0"/>
                <a:cs typeface="Times New Roman" panose="02020603050405020304" pitchFamily="18" charset="0"/>
              </a:rPr>
              <a:t>In this method waste in converted into powder by mechanical grinding. This reduces volume of the waste and changes its physical character. This is further disposed of by land-filling.</a:t>
            </a:r>
          </a:p>
          <a:p>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7AC524CF-2231-473A-AA92-65900750F23F}"/>
              </a:ext>
            </a:extLst>
          </p:cNvPr>
          <p:cNvSpPr txBox="1"/>
          <p:nvPr/>
        </p:nvSpPr>
        <p:spPr>
          <a:xfrm>
            <a:off x="571033" y="5991185"/>
            <a:ext cx="9751387" cy="523220"/>
          </a:xfrm>
          <a:prstGeom prst="rect">
            <a:avLst/>
          </a:prstGeom>
          <a:noFill/>
        </p:spPr>
        <p:txBody>
          <a:bodyPr wrap="none" rtlCol="0">
            <a:spAutoFit/>
          </a:bodyPr>
          <a:lstStyle/>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Due to high capital and running cost, it is not common in India.</a:t>
            </a:r>
            <a:endParaRPr lang="en-IN" sz="2800" dirty="0"/>
          </a:p>
        </p:txBody>
      </p:sp>
    </p:spTree>
    <p:extLst>
      <p:ext uri="{BB962C8B-B14F-4D97-AF65-F5344CB8AC3E}">
        <p14:creationId xmlns:p14="http://schemas.microsoft.com/office/powerpoint/2010/main" xmlns="" val="3616519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B7C7A38A-6F26-465C-8948-257850BE6D74}"/>
              </a:ext>
            </a:extLst>
          </p:cNvPr>
          <p:cNvSpPr>
            <a:spLocks noGrp="1"/>
          </p:cNvSpPr>
          <p:nvPr>
            <p:ph type="title"/>
          </p:nvPr>
        </p:nvSpPr>
        <p:spPr>
          <a:xfrm>
            <a:off x="0" y="0"/>
            <a:ext cx="12268200" cy="1057275"/>
          </a:xfrm>
          <a:solidFill>
            <a:srgbClr val="C00000"/>
          </a:solidFill>
        </p:spPr>
        <p:txBody>
          <a:bodyPr>
            <a:normAutofit/>
          </a:bodyPr>
          <a:lstStyle/>
          <a:p>
            <a:pPr algn="ctr"/>
            <a:r>
              <a:rPr lang="en-US" sz="3600" b="1" dirty="0">
                <a:solidFill>
                  <a:schemeClr val="bg1"/>
                </a:solidFill>
                <a:latin typeface="Times New Roman" pitchFamily="18" charset="0"/>
                <a:cs typeface="Times New Roman" pitchFamily="18" charset="0"/>
              </a:rPr>
              <a:t>  Solid waste management</a:t>
            </a:r>
            <a:endParaRPr lang="en-US" sz="4000" b="1" dirty="0">
              <a:solidFill>
                <a:schemeClr val="bg1"/>
              </a:solidFill>
              <a:latin typeface="Times New Roman" pitchFamily="18" charset="0"/>
              <a:cs typeface="Times New Roman" pitchFamily="18" charset="0"/>
            </a:endParaRPr>
          </a:p>
        </p:txBody>
      </p:sp>
      <p:sp>
        <p:nvSpPr>
          <p:cNvPr id="5" name="Rectangle 4">
            <a:extLst>
              <a:ext uri="{FF2B5EF4-FFF2-40B4-BE49-F238E27FC236}">
                <a16:creationId xmlns="" xmlns:a16="http://schemas.microsoft.com/office/drawing/2014/main" id="{4A344E62-6267-43E5-BC57-145225B43543}"/>
              </a:ext>
            </a:extLst>
          </p:cNvPr>
          <p:cNvSpPr/>
          <p:nvPr/>
        </p:nvSpPr>
        <p:spPr>
          <a:xfrm>
            <a:off x="148079" y="1057275"/>
            <a:ext cx="11889950" cy="2492990"/>
          </a:xfrm>
          <a:prstGeom prst="rect">
            <a:avLst/>
          </a:prstGeom>
        </p:spPr>
        <p:txBody>
          <a:bodyPr wrap="square">
            <a:spAutoFit/>
          </a:bodyPr>
          <a:lstStyle/>
          <a:p>
            <a:pPr marL="457200" indent="-457200">
              <a:buFont typeface="Wingdings" panose="05000000000000000000" pitchFamily="2" charset="2"/>
              <a:buChar char="v"/>
            </a:pPr>
            <a:r>
              <a:rPr lang="en-US" sz="3200" b="1" dirty="0">
                <a:latin typeface="Times New Roman" panose="02020603050405020304" pitchFamily="18" charset="0"/>
                <a:cs typeface="Times New Roman" panose="02020603050405020304" pitchFamily="18" charset="0"/>
              </a:rPr>
              <a:t>Disposal into sea</a:t>
            </a:r>
          </a:p>
          <a:p>
            <a:pPr algn="just"/>
            <a:r>
              <a:rPr lang="en-US" sz="3200" dirty="0">
                <a:latin typeface="Times New Roman" panose="02020603050405020304" pitchFamily="18" charset="0"/>
                <a:cs typeface="Times New Roman" panose="02020603050405020304" pitchFamily="18" charset="0"/>
              </a:rPr>
              <a:t>This method is adopted in coastal areas which have deep sea water (&gt;30 m) at a moderate distance (&lt;16-20 km) with strong forward current</a:t>
            </a:r>
            <a:r>
              <a:rPr lang="en-US" sz="3200" dirty="0" smtClean="0">
                <a:latin typeface="Times New Roman" panose="02020603050405020304" pitchFamily="18" charset="0"/>
                <a:cs typeface="Times New Roman" panose="02020603050405020304" pitchFamily="18" charset="0"/>
              </a:rPr>
              <a:t>. (Nuclear waste)</a:t>
            </a:r>
            <a:endParaRPr lang="en-US" sz="32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B91F3F60-A1F8-41F4-9442-51352B0ACDC1}"/>
              </a:ext>
            </a:extLst>
          </p:cNvPr>
          <p:cNvSpPr txBox="1"/>
          <p:nvPr/>
        </p:nvSpPr>
        <p:spPr>
          <a:xfrm>
            <a:off x="386500" y="3252248"/>
            <a:ext cx="11651529" cy="2062103"/>
          </a:xfrm>
          <a:prstGeom prst="rect">
            <a:avLst/>
          </a:prstGeom>
          <a:noFill/>
        </p:spPr>
        <p:txBody>
          <a:bodyPr wrap="square" rtlCol="0">
            <a:spAutoFit/>
          </a:bodyPr>
          <a:lstStyle/>
          <a:p>
            <a:pPr marL="457200" indent="-457200" algn="just">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This is cheap method that can be adopted in coastal areas.</a:t>
            </a:r>
          </a:p>
          <a:p>
            <a:pPr marL="457200" indent="-457200" algn="just">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Negative aspects include limited applicability for coastal areas, spoiling of sea beaches due to return of wastes to coasts, and difficulties during monsoon and </a:t>
            </a:r>
            <a:r>
              <a:rPr lang="en-IN" sz="3200" dirty="0">
                <a:latin typeface="Times New Roman" panose="02020603050405020304" pitchFamily="18" charset="0"/>
                <a:cs typeface="Times New Roman" panose="02020603050405020304" pitchFamily="18" charset="0"/>
              </a:rPr>
              <a:t>storm</a:t>
            </a: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xmlns="" val="45374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443" y="2"/>
            <a:ext cx="10515600" cy="1325563"/>
          </a:xfrm>
        </p:spPr>
        <p:txBody>
          <a:bodyPr>
            <a:normAutofit/>
          </a:bodyPr>
          <a:lstStyle/>
          <a:p>
            <a:r>
              <a:rPr lang="en-US" b="1" dirty="0" smtClean="0">
                <a:solidFill>
                  <a:srgbClr val="FF0000"/>
                </a:solidFill>
              </a:rPr>
              <a:t>Numerical Solid waste Management </a:t>
            </a:r>
            <a:endParaRPr lang="en-US" b="1" dirty="0">
              <a:solidFill>
                <a:srgbClr val="FF0000"/>
              </a:solidFill>
            </a:endParaRPr>
          </a:p>
        </p:txBody>
      </p:sp>
      <p:sp>
        <p:nvSpPr>
          <p:cNvPr id="3" name="Content Placeholder 2"/>
          <p:cNvSpPr>
            <a:spLocks noGrp="1"/>
          </p:cNvSpPr>
          <p:nvPr>
            <p:ph idx="1"/>
          </p:nvPr>
        </p:nvSpPr>
        <p:spPr>
          <a:xfrm>
            <a:off x="674299" y="997489"/>
            <a:ext cx="10515600" cy="4351338"/>
          </a:xfrm>
        </p:spPr>
        <p:txBody>
          <a:bodyPr>
            <a:noAutofit/>
          </a:bodyPr>
          <a:lstStyle/>
          <a:p>
            <a:r>
              <a:rPr lang="en-US" sz="1800" dirty="0" smtClean="0"/>
              <a:t>Compute the landfill area requirement for 20 years of a city with population of 10 </a:t>
            </a:r>
            <a:r>
              <a:rPr lang="en-US" sz="1800" dirty="0" err="1" smtClean="0"/>
              <a:t>lakh</a:t>
            </a:r>
            <a:r>
              <a:rPr lang="en-US" sz="1800" dirty="0" smtClean="0"/>
              <a:t>. (</a:t>
            </a:r>
            <a:r>
              <a:rPr lang="en-US" sz="1800" i="1" dirty="0" smtClean="0"/>
              <a:t>Given: MSW generation = 500 gm per capita per day; MSW density = 500 kg/m3).</a:t>
            </a:r>
          </a:p>
          <a:p>
            <a:r>
              <a:rPr lang="en-US" sz="1800" dirty="0" smtClean="0">
                <a:solidFill>
                  <a:srgbClr val="FF0000"/>
                </a:solidFill>
              </a:rPr>
              <a:t>Solution: </a:t>
            </a:r>
            <a:r>
              <a:rPr lang="en-US" sz="1800" dirty="0" smtClean="0">
                <a:solidFill>
                  <a:srgbClr val="0000CC"/>
                </a:solidFill>
              </a:rPr>
              <a:t>total time = 20 year= 20x365 day</a:t>
            </a:r>
          </a:p>
          <a:p>
            <a:pPr>
              <a:buNone/>
            </a:pPr>
            <a:r>
              <a:rPr lang="en-US" sz="1800" dirty="0" smtClean="0">
                <a:solidFill>
                  <a:srgbClr val="0000CC"/>
                </a:solidFill>
              </a:rPr>
              <a:t> Total population = 10 </a:t>
            </a:r>
            <a:r>
              <a:rPr lang="en-US" sz="1800" dirty="0" err="1" smtClean="0">
                <a:solidFill>
                  <a:srgbClr val="0000CC"/>
                </a:solidFill>
              </a:rPr>
              <a:t>lakh</a:t>
            </a:r>
            <a:endParaRPr lang="en-US" sz="1800" dirty="0" smtClean="0">
              <a:solidFill>
                <a:srgbClr val="0000CC"/>
              </a:solidFill>
            </a:endParaRPr>
          </a:p>
          <a:p>
            <a:pPr>
              <a:buNone/>
            </a:pPr>
            <a:r>
              <a:rPr lang="en-US" sz="1800" i="1" dirty="0" smtClean="0">
                <a:solidFill>
                  <a:srgbClr val="0000CC"/>
                </a:solidFill>
              </a:rPr>
              <a:t> MSW generation = 500 gm per capita per day;</a:t>
            </a:r>
            <a:r>
              <a:rPr lang="en-US" sz="1800" i="1" dirty="0" smtClean="0"/>
              <a:t>= 0.5 kg</a:t>
            </a:r>
            <a:endParaRPr lang="en-US" sz="1800" dirty="0" smtClean="0">
              <a:solidFill>
                <a:srgbClr val="0000CC"/>
              </a:solidFill>
            </a:endParaRPr>
          </a:p>
          <a:p>
            <a:pPr>
              <a:buNone/>
            </a:pPr>
            <a:r>
              <a:rPr lang="en-US" sz="1800" dirty="0" smtClean="0">
                <a:solidFill>
                  <a:srgbClr val="00B050"/>
                </a:solidFill>
              </a:rPr>
              <a:t>Thus total  mass of MSW generation </a:t>
            </a:r>
            <a:r>
              <a:rPr lang="en-US" sz="1800" dirty="0" smtClean="0"/>
              <a:t>in year by 10 </a:t>
            </a:r>
            <a:r>
              <a:rPr lang="en-US" sz="1800" dirty="0" err="1" smtClean="0"/>
              <a:t>lakh</a:t>
            </a:r>
            <a:r>
              <a:rPr lang="en-US" sz="1800" dirty="0" smtClean="0"/>
              <a:t> peoples  = 0.5kg/daypx10,00000px20x365day=3650000000kg = 36.5x10</a:t>
            </a:r>
            <a:r>
              <a:rPr lang="en-US" sz="1800" baseline="30000" dirty="0" smtClean="0"/>
              <a:t>8</a:t>
            </a:r>
            <a:r>
              <a:rPr lang="en-US" sz="1800" dirty="0" smtClean="0"/>
              <a:t>kg</a:t>
            </a:r>
          </a:p>
          <a:p>
            <a:pPr>
              <a:buNone/>
            </a:pPr>
            <a:r>
              <a:rPr lang="en-US" sz="1800" dirty="0" smtClean="0"/>
              <a:t>Given MSW Density = </a:t>
            </a:r>
            <a:r>
              <a:rPr lang="en-US" sz="1800" dirty="0" smtClean="0">
                <a:solidFill>
                  <a:srgbClr val="00B050"/>
                </a:solidFill>
              </a:rPr>
              <a:t>Mass/volume = 500kg/m</a:t>
            </a:r>
            <a:r>
              <a:rPr lang="en-US" sz="1800" baseline="30000" dirty="0" smtClean="0">
                <a:solidFill>
                  <a:srgbClr val="00B050"/>
                </a:solidFill>
              </a:rPr>
              <a:t>3   </a:t>
            </a:r>
            <a:r>
              <a:rPr lang="en-US" sz="1800" dirty="0" smtClean="0">
                <a:solidFill>
                  <a:srgbClr val="00B050"/>
                </a:solidFill>
              </a:rPr>
              <a:t>(1)</a:t>
            </a:r>
          </a:p>
          <a:p>
            <a:pPr>
              <a:buNone/>
            </a:pPr>
            <a:r>
              <a:rPr lang="en-US" sz="1800" baseline="30000" dirty="0" smtClean="0"/>
              <a:t> </a:t>
            </a:r>
            <a:r>
              <a:rPr lang="en-US" sz="1800" dirty="0" smtClean="0"/>
              <a:t>Putting earlier calculated mass  in equation 1</a:t>
            </a:r>
          </a:p>
          <a:p>
            <a:pPr>
              <a:buNone/>
            </a:pPr>
            <a:r>
              <a:rPr lang="en-US" sz="1800" dirty="0" smtClean="0"/>
              <a:t>                                             36.5 x10</a:t>
            </a:r>
            <a:r>
              <a:rPr lang="en-US" sz="1800" baseline="30000" dirty="0" smtClean="0"/>
              <a:t>8 </a:t>
            </a:r>
            <a:r>
              <a:rPr lang="en-US" sz="1800" dirty="0" smtClean="0"/>
              <a:t>kg/volume= 500kg/m</a:t>
            </a:r>
            <a:r>
              <a:rPr lang="en-US" sz="1800" baseline="30000" dirty="0" smtClean="0"/>
              <a:t>3</a:t>
            </a:r>
          </a:p>
          <a:p>
            <a:pPr>
              <a:buNone/>
            </a:pPr>
            <a:r>
              <a:rPr lang="en-US" sz="1800" dirty="0" smtClean="0"/>
              <a:t>                Volume of landfill required = 36.5 x10</a:t>
            </a:r>
            <a:r>
              <a:rPr lang="en-US" sz="1800" baseline="30000" dirty="0" smtClean="0"/>
              <a:t>8 </a:t>
            </a:r>
            <a:r>
              <a:rPr lang="en-US" sz="1800" dirty="0" smtClean="0"/>
              <a:t>kg/500kgm</a:t>
            </a:r>
            <a:r>
              <a:rPr lang="en-US" sz="1800" baseline="30000" dirty="0" smtClean="0"/>
              <a:t>-3 </a:t>
            </a:r>
            <a:r>
              <a:rPr lang="en-US" sz="1800" dirty="0" smtClean="0"/>
              <a:t>= 73,00000 m</a:t>
            </a:r>
            <a:r>
              <a:rPr lang="en-US" sz="1800" baseline="30000" dirty="0" smtClean="0"/>
              <a:t>3</a:t>
            </a:r>
          </a:p>
          <a:p>
            <a:pPr>
              <a:buNone/>
            </a:pPr>
            <a:r>
              <a:rPr lang="en-US" sz="1800" dirty="0" smtClean="0">
                <a:solidFill>
                  <a:srgbClr val="7030A0"/>
                </a:solidFill>
              </a:rPr>
              <a:t>Assume height of land fill is 10 m</a:t>
            </a:r>
          </a:p>
          <a:p>
            <a:pPr>
              <a:buNone/>
            </a:pPr>
            <a:r>
              <a:rPr lang="en-US" sz="1800" dirty="0" smtClean="0"/>
              <a:t>Thus area of land fill = total volume of land fill/  height</a:t>
            </a:r>
            <a:r>
              <a:rPr lang="en-US" sz="1800" dirty="0" smtClean="0">
                <a:solidFill>
                  <a:srgbClr val="7030A0"/>
                </a:solidFill>
              </a:rPr>
              <a:t>= </a:t>
            </a:r>
            <a:r>
              <a:rPr lang="en-US" sz="1800" dirty="0" smtClean="0"/>
              <a:t>73,00000 m</a:t>
            </a:r>
            <a:r>
              <a:rPr lang="en-US" sz="1800" baseline="30000" dirty="0" smtClean="0"/>
              <a:t>3</a:t>
            </a:r>
            <a:r>
              <a:rPr lang="en-US" sz="1800" dirty="0" smtClean="0"/>
              <a:t>/ 10m</a:t>
            </a:r>
            <a:r>
              <a:rPr lang="en-US" sz="1800" dirty="0" smtClean="0">
                <a:solidFill>
                  <a:srgbClr val="7030A0"/>
                </a:solidFill>
              </a:rPr>
              <a:t> = 73,0000 m</a:t>
            </a:r>
            <a:r>
              <a:rPr lang="en-US" sz="1800" baseline="30000" dirty="0" smtClean="0">
                <a:solidFill>
                  <a:srgbClr val="7030A0"/>
                </a:solidFill>
              </a:rPr>
              <a:t>2</a:t>
            </a:r>
          </a:p>
          <a:p>
            <a:pPr>
              <a:buNone/>
            </a:pPr>
            <a:r>
              <a:rPr lang="en-US" sz="1800" dirty="0" smtClean="0"/>
              <a:t>Since in a land fill  total land requirement = land required to dump solid waste+ same amount of land required to construct  road for vehicle movement </a:t>
            </a:r>
          </a:p>
          <a:p>
            <a:pPr>
              <a:buNone/>
            </a:pPr>
            <a:r>
              <a:rPr lang="en-US" sz="1800" dirty="0" smtClean="0">
                <a:solidFill>
                  <a:srgbClr val="7030A0"/>
                </a:solidFill>
              </a:rPr>
              <a:t>Thus total land requirement = 73,0000x2 = 1,460,000 m</a:t>
            </a:r>
            <a:r>
              <a:rPr lang="en-US" sz="1800" baseline="30000" dirty="0" smtClean="0">
                <a:solidFill>
                  <a:srgbClr val="7030A0"/>
                </a:solidFill>
              </a:rPr>
              <a:t>2</a:t>
            </a:r>
          </a:p>
          <a:p>
            <a:pPr>
              <a:buNone/>
            </a:pPr>
            <a:endParaRPr lang="en-US" sz="1800" baseline="30000" dirty="0" smtClean="0"/>
          </a:p>
          <a:p>
            <a:pPr>
              <a:buNone/>
            </a:pPr>
            <a:endParaRPr lang="en-US" sz="1800" baseline="30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C:\Users\NARESH\Desktop\gw cc\global-warning-and-climate-change-43-638.jpg"/>
          <p:cNvPicPr>
            <a:picLocks noChangeAspect="1" noChangeArrowheads="1"/>
          </p:cNvPicPr>
          <p:nvPr/>
        </p:nvPicPr>
        <p:blipFill>
          <a:blip r:embed="rId2"/>
          <a:srcRect/>
          <a:stretch>
            <a:fillRect/>
          </a:stretch>
        </p:blipFill>
        <p:spPr bwMode="auto">
          <a:xfrm>
            <a:off x="812800" y="454026"/>
            <a:ext cx="10695517" cy="6022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1602</Words>
  <Application>Microsoft Office PowerPoint</Application>
  <PresentationFormat>Custom</PresentationFormat>
  <Paragraphs>120</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Slide 1</vt:lpstr>
      <vt:lpstr>Contents</vt:lpstr>
      <vt:lpstr>     Solid waste </vt:lpstr>
      <vt:lpstr>Slide 4</vt:lpstr>
      <vt:lpstr>Sources of solid waste </vt:lpstr>
      <vt:lpstr>Types and Sources</vt:lpstr>
      <vt:lpstr>Solid waste generation in India</vt:lpstr>
      <vt:lpstr>Cause of increasing solid waste generation</vt:lpstr>
      <vt:lpstr>  Effects of solid waste pollution</vt:lpstr>
      <vt:lpstr>Technique for solid waste disposal</vt:lpstr>
      <vt:lpstr>  Solid waste management</vt:lpstr>
      <vt:lpstr>Municipal Solid waste management</vt:lpstr>
      <vt:lpstr>  Solid waste management</vt:lpstr>
      <vt:lpstr>  Solid waste management</vt:lpstr>
      <vt:lpstr>Types of Land fill</vt:lpstr>
      <vt:lpstr>  Solid waste management</vt:lpstr>
      <vt:lpstr>Slide 17</vt:lpstr>
      <vt:lpstr>  Solid waste management</vt:lpstr>
      <vt:lpstr>  Solid waste management</vt:lpstr>
      <vt:lpstr>  Solid waste management</vt:lpstr>
      <vt:lpstr>  Solid waste management</vt:lpstr>
      <vt:lpstr>Numerical Solid waste Management </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Supercapacitor</dc:title>
  <dc:creator>prasanta kumar sahoo</dc:creator>
  <cp:lastModifiedBy>NARESH</cp:lastModifiedBy>
  <cp:revision>211</cp:revision>
  <dcterms:created xsi:type="dcterms:W3CDTF">2020-03-09T10:51:45Z</dcterms:created>
  <dcterms:modified xsi:type="dcterms:W3CDTF">2021-05-20T08:34:32Z</dcterms:modified>
</cp:coreProperties>
</file>