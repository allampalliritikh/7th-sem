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4"/>
  </p:notesMasterIdLst>
  <p:sldIdLst>
    <p:sldId id="312" r:id="rId2"/>
    <p:sldId id="290" r:id="rId3"/>
    <p:sldId id="292" r:id="rId4"/>
    <p:sldId id="294" r:id="rId5"/>
    <p:sldId id="306" r:id="rId6"/>
    <p:sldId id="305" r:id="rId7"/>
    <p:sldId id="263" r:id="rId8"/>
    <p:sldId id="308" r:id="rId9"/>
    <p:sldId id="267" r:id="rId10"/>
    <p:sldId id="287" r:id="rId11"/>
    <p:sldId id="269" r:id="rId12"/>
    <p:sldId id="278" r:id="rId13"/>
    <p:sldId id="310" r:id="rId14"/>
    <p:sldId id="276" r:id="rId15"/>
    <p:sldId id="277" r:id="rId16"/>
    <p:sldId id="268" r:id="rId17"/>
    <p:sldId id="272" r:id="rId18"/>
    <p:sldId id="280" r:id="rId19"/>
    <p:sldId id="281" r:id="rId20"/>
    <p:sldId id="283" r:id="rId21"/>
    <p:sldId id="284" r:id="rId22"/>
    <p:sldId id="31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169A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5997C-F0DC-454E-87B3-2463CBF262AD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405109-5F50-42D0-97D7-7A0999BC82B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396454C-B872-4229-8943-2BEDA8B09EF6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96A6-4788-4F6D-BD2C-331995513987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F4AD0-5466-41D8-B5B7-32B86810B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96A6-4788-4F6D-BD2C-331995513987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F4AD0-5466-41D8-B5B7-32B86810B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96A6-4788-4F6D-BD2C-331995513987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F4AD0-5466-41D8-B5B7-32B86810B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96A6-4788-4F6D-BD2C-331995513987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F4AD0-5466-41D8-B5B7-32B86810B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1859760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96A6-4788-4F6D-BD2C-331995513987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F4AD0-5466-41D8-B5B7-32B86810B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96A6-4788-4F6D-BD2C-331995513987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F4AD0-5466-41D8-B5B7-32B86810B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96A6-4788-4F6D-BD2C-331995513987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F4AD0-5466-41D8-B5B7-32B86810B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96A6-4788-4F6D-BD2C-331995513987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F4AD0-5466-41D8-B5B7-32B86810B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9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96A6-4788-4F6D-BD2C-331995513987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3"/>
            <a:ext cx="812800" cy="365125"/>
          </a:xfrm>
        </p:spPr>
        <p:txBody>
          <a:bodyPr/>
          <a:lstStyle/>
          <a:p>
            <a:fld id="{C88F4AD0-5466-41D8-B5B7-32B86810B8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5842000" y="6219828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96A6-4788-4F6D-BD2C-331995513987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F4AD0-5466-41D8-B5B7-32B86810B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96A6-4788-4F6D-BD2C-331995513987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F4AD0-5466-41D8-B5B7-32B86810B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769806-2A2A-41BB-8BD4-9294A51F9F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12700" y="-7144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842000" y="-7144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08796A6-4788-4F6D-BD2C-331995513987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3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3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88F4AD0-5466-41D8-B5B7-32B86810B8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25356" y="202408"/>
            <a:ext cx="12240731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http://www.epa.gov/air/oaqps/eog/course422/images/3fig-3.jpg" TargetMode="Externa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416" y="2124456"/>
            <a:ext cx="10769600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dirty="0"/>
              <a:t>AIR POLLUTION</a:t>
            </a:r>
            <a:r>
              <a:rPr lang="en-US" sz="3200" b="1" dirty="0"/>
              <a:t> </a:t>
            </a:r>
          </a:p>
          <a:p>
            <a:pPr algn="ctr">
              <a:defRPr/>
            </a:pPr>
            <a:r>
              <a:rPr lang="en-US" sz="3200" b="1" dirty="0"/>
              <a:t>	</a:t>
            </a:r>
          </a:p>
          <a:p>
            <a:pPr algn="ctr">
              <a:defRPr/>
            </a:pPr>
            <a:r>
              <a:rPr lang="en-US" sz="3200" b="1" dirty="0"/>
              <a:t>Unit 5 </a:t>
            </a:r>
          </a:p>
          <a:p>
            <a:pPr algn="ctr">
              <a:defRPr/>
            </a:pPr>
            <a:r>
              <a:rPr lang="en-US" sz="3200" b="1" dirty="0"/>
              <a:t>Environmental Pollution</a:t>
            </a:r>
          </a:p>
          <a:p>
            <a:pPr algn="ctr">
              <a:defRPr/>
            </a:pPr>
            <a:r>
              <a:rPr lang="en-US" dirty="0"/>
              <a:t>	</a:t>
            </a:r>
          </a:p>
        </p:txBody>
      </p:sp>
      <p:sp>
        <p:nvSpPr>
          <p:cNvPr id="5" name="Rectangle 4"/>
          <p:cNvSpPr/>
          <p:nvPr/>
        </p:nvSpPr>
        <p:spPr>
          <a:xfrm>
            <a:off x="203200" y="525780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altLang="en-US" b="1" dirty="0">
                <a:latin typeface="Comic Sans MS" pitchFamily="66" charset="0"/>
              </a:rPr>
              <a:t>Department: Chemistry</a:t>
            </a:r>
          </a:p>
          <a:p>
            <a:pPr algn="just"/>
            <a:r>
              <a:rPr lang="en-US" altLang="en-US" b="1" dirty="0">
                <a:latin typeface="Comic Sans MS" pitchFamily="66" charset="0"/>
              </a:rPr>
              <a:t>Subject: Environmental Studies (CHM1002)</a:t>
            </a:r>
          </a:p>
        </p:txBody>
      </p:sp>
      <p:pic>
        <p:nvPicPr>
          <p:cNvPr id="6" name="image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53601" y="76200"/>
            <a:ext cx="2019300" cy="2026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2438400" y="762000"/>
            <a:ext cx="6096000" cy="89255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FF0000"/>
                </a:solidFill>
              </a:rPr>
              <a:t>B. Tech (Environmental Studies)</a:t>
            </a:r>
            <a:br>
              <a:rPr lang="en-US" sz="2800" dirty="0">
                <a:solidFill>
                  <a:srgbClr val="FF0000"/>
                </a:solidFill>
              </a:rPr>
            </a:b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Definition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 eaLnBrk="1" hangingPunct="1">
              <a:lnSpc>
                <a:spcPct val="200000"/>
              </a:lnSpc>
              <a:buFontTx/>
              <a:buNone/>
            </a:pPr>
            <a:r>
              <a:rPr lang="en-US" dirty="0">
                <a:solidFill>
                  <a:srgbClr val="FF00FF"/>
                </a:solidFill>
              </a:rPr>
              <a:t>Air pollution: </a:t>
            </a:r>
            <a:r>
              <a:rPr lang="en-US" dirty="0"/>
              <a:t>presence of </a:t>
            </a:r>
            <a:r>
              <a:rPr lang="en-US" i="1" u="sng" dirty="0"/>
              <a:t>one or more contaminants</a:t>
            </a:r>
            <a:r>
              <a:rPr lang="en-US" dirty="0"/>
              <a:t> in such quantities and of such durations  which tend to be </a:t>
            </a:r>
            <a:r>
              <a:rPr lang="en-US" b="1" i="1" dirty="0"/>
              <a:t>injurious to human, animal or plant life, or property, or which unreasonably interferes with the comfortable enjoyment of life or property or conduct of business</a:t>
            </a:r>
            <a:r>
              <a:rPr lang="en-US" dirty="0"/>
              <a:t>.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573024" y="0"/>
            <a:ext cx="7967472" cy="914400"/>
          </a:xfrm>
        </p:spPr>
        <p:txBody>
          <a:bodyPr/>
          <a:lstStyle/>
          <a:p>
            <a:pPr>
              <a:defRPr/>
            </a:pPr>
            <a:r>
              <a:rPr lang="en-US" sz="4400" u="sng" dirty="0">
                <a:solidFill>
                  <a:srgbClr val="FF00FF"/>
                </a:solidFill>
              </a:rPr>
              <a:t>Major Classes </a:t>
            </a:r>
            <a:r>
              <a:rPr lang="en-US" altLang="en-US" sz="4400" dirty="0">
                <a:solidFill>
                  <a:srgbClr val="FF00FF"/>
                </a:solidFill>
              </a:rPr>
              <a:t>of air pollutants </a:t>
            </a:r>
          </a:p>
        </p:txBody>
      </p:sp>
      <p:sp>
        <p:nvSpPr>
          <p:cNvPr id="8195" name="Line 3"/>
          <p:cNvSpPr>
            <a:spLocks noChangeShapeType="1"/>
          </p:cNvSpPr>
          <p:nvPr/>
        </p:nvSpPr>
        <p:spPr bwMode="auto">
          <a:xfrm>
            <a:off x="0" y="1143000"/>
            <a:ext cx="121920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1" y="978409"/>
            <a:ext cx="12305004" cy="5707874"/>
            <a:chOff x="0" y="978408"/>
            <a:chExt cx="12305004" cy="5707874"/>
          </a:xfrm>
        </p:grpSpPr>
        <p:pic>
          <p:nvPicPr>
            <p:cNvPr id="8198" name="Picture 15"/>
            <p:cNvPicPr>
              <a:picLocks noChangeAspect="1" noChangeArrowheads="1"/>
            </p:cNvPicPr>
            <p:nvPr/>
          </p:nvPicPr>
          <p:blipFill>
            <a:blip r:embed="rId3"/>
            <a:srcRect b="11707"/>
            <a:stretch>
              <a:fillRect/>
            </a:stretch>
          </p:blipFill>
          <p:spPr bwMode="auto">
            <a:xfrm>
              <a:off x="0" y="978408"/>
              <a:ext cx="12305004" cy="56784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 Box 9"/>
            <p:cNvSpPr txBox="1">
              <a:spLocks noChangeArrowheads="1"/>
            </p:cNvSpPr>
            <p:nvPr/>
          </p:nvSpPr>
          <p:spPr bwMode="auto">
            <a:xfrm>
              <a:off x="537043" y="1705548"/>
              <a:ext cx="4370042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>
              <a:spAutoFit/>
            </a:bodyPr>
            <a:lstStyle/>
            <a:p>
              <a:pPr marL="449263" indent="-449263">
                <a:buClr>
                  <a:srgbClr val="EAEAEA"/>
                </a:buClr>
                <a:buFont typeface="Wingdings" pitchFamily="2" charset="2"/>
                <a:buChar char="Ø"/>
                <a:defRPr/>
              </a:pPr>
              <a:r>
                <a:rPr lang="en-US" altLang="en-US" sz="3200" dirty="0"/>
                <a:t>Secondary pollutants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0" y="4931956"/>
              <a:ext cx="3078480" cy="1754326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/>
                <a:t>Primary air pollutant</a:t>
              </a:r>
            </a:p>
            <a:p>
              <a:pPr algn="just"/>
              <a:r>
                <a:rPr lang="en-US" dirty="0">
                  <a:solidFill>
                    <a:srgbClr val="231F20"/>
                  </a:solidFill>
                  <a:latin typeface="FrutigerLight"/>
                </a:rPr>
                <a:t>Pollutants that are emitted directly from identifiable sources are produced both by natural and anthropogenic events. </a:t>
              </a:r>
            </a:p>
          </p:txBody>
        </p:sp>
        <p:sp>
          <p:nvSpPr>
            <p:cNvPr id="12" name="Curved Up Arrow 11"/>
            <p:cNvSpPr/>
            <p:nvPr/>
          </p:nvSpPr>
          <p:spPr>
            <a:xfrm rot="18439997">
              <a:off x="2561191" y="3917430"/>
              <a:ext cx="2472054" cy="641904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936992" y="5567124"/>
              <a:ext cx="4255008" cy="1107996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rgbClr val="231F20"/>
                  </a:solidFill>
                  <a:latin typeface="FrutigerLight"/>
                </a:rPr>
                <a:t>Secondary pollutants</a:t>
              </a:r>
            </a:p>
            <a:p>
              <a:pPr algn="just"/>
              <a:r>
                <a:rPr lang="en-US" sz="1600" dirty="0">
                  <a:solidFill>
                    <a:srgbClr val="231F20"/>
                  </a:solidFill>
                  <a:latin typeface="FrutigerLight"/>
                </a:rPr>
                <a:t>Pollutants that are formed by atmospheric chemical combination among the primary pollutants and others</a:t>
              </a:r>
            </a:p>
          </p:txBody>
        </p:sp>
        <p:sp>
          <p:nvSpPr>
            <p:cNvPr id="16" name="Text Box 4"/>
            <p:cNvSpPr txBox="1">
              <a:spLocks noChangeArrowheads="1"/>
            </p:cNvSpPr>
            <p:nvPr/>
          </p:nvSpPr>
          <p:spPr bwMode="auto">
            <a:xfrm>
              <a:off x="481671" y="1102044"/>
              <a:ext cx="3958071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>
              <a:spAutoFit/>
            </a:bodyPr>
            <a:lstStyle/>
            <a:p>
              <a:pPr marL="449263" indent="-449263">
                <a:buClr>
                  <a:srgbClr val="EAEAEA"/>
                </a:buClr>
                <a:buFont typeface="Wingdings" pitchFamily="2" charset="2"/>
                <a:buChar char="Ø"/>
                <a:defRPr/>
              </a:pPr>
              <a:r>
                <a:rPr lang="en-US" altLang="en-US" sz="3200" dirty="0"/>
                <a:t>Primary pollutants</a:t>
              </a:r>
            </a:p>
          </p:txBody>
        </p:sp>
        <p:sp>
          <p:nvSpPr>
            <p:cNvPr id="17" name="Curved Up Arrow 16"/>
            <p:cNvSpPr/>
            <p:nvPr/>
          </p:nvSpPr>
          <p:spPr>
            <a:xfrm rot="18702248">
              <a:off x="9434170" y="4508250"/>
              <a:ext cx="2658503" cy="600214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7569740" y="1436450"/>
            <a:ext cx="3128963" cy="369888"/>
          </a:xfrm>
          <a:prstGeom prst="rect">
            <a:avLst/>
          </a:prstGeom>
          <a:solidFill>
            <a:srgbClr val="FFC0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dirty="0"/>
              <a:t>CO</a:t>
            </a:r>
            <a:r>
              <a:rPr lang="en-US" altLang="en-US" baseline="-25000" dirty="0"/>
              <a:t>2</a:t>
            </a:r>
            <a:r>
              <a:rPr lang="en-US" altLang="en-US" dirty="0"/>
              <a:t> (g)+H</a:t>
            </a:r>
            <a:r>
              <a:rPr lang="en-US" altLang="en-US" baseline="-25000" dirty="0"/>
              <a:t>2</a:t>
            </a:r>
            <a:r>
              <a:rPr lang="en-US" altLang="en-US" dirty="0"/>
              <a:t>O(l)-</a:t>
            </a:r>
            <a:r>
              <a:rPr lang="en-US" altLang="en-US" dirty="0">
                <a:sym typeface="Wingdings" pitchFamily="2" charset="2"/>
              </a:rPr>
              <a:t></a:t>
            </a:r>
            <a:r>
              <a:rPr lang="en-US" altLang="en-US" dirty="0"/>
              <a:t>H</a:t>
            </a:r>
            <a:r>
              <a:rPr lang="en-US" altLang="en-US" baseline="-25000" dirty="0"/>
              <a:t>2</a:t>
            </a:r>
            <a:r>
              <a:rPr lang="en-US" altLang="en-US" dirty="0"/>
              <a:t>CO</a:t>
            </a:r>
            <a:r>
              <a:rPr lang="en-US" altLang="en-US" baseline="-25000" dirty="0"/>
              <a:t>3</a:t>
            </a:r>
            <a:r>
              <a:rPr lang="en-US" altLang="en-US" dirty="0"/>
              <a:t>(</a:t>
            </a:r>
            <a:r>
              <a:rPr lang="en-US" altLang="en-US" dirty="0" err="1"/>
              <a:t>aq</a:t>
            </a:r>
            <a:r>
              <a:rPr lang="en-US" altLang="en-US" dirty="0"/>
              <a:t>)</a:t>
            </a:r>
            <a:endParaRPr lang="en-US" dirty="0"/>
          </a:p>
        </p:txBody>
      </p:sp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7010400" y="950069"/>
            <a:ext cx="5181600" cy="369888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dirty="0"/>
              <a:t>2SO</a:t>
            </a:r>
            <a:r>
              <a:rPr lang="pt-BR" baseline="-25000" dirty="0"/>
              <a:t>2</a:t>
            </a:r>
            <a:r>
              <a:rPr lang="pt-BR" dirty="0"/>
              <a:t> (g) + O</a:t>
            </a:r>
            <a:r>
              <a:rPr lang="pt-BR" baseline="-25000" dirty="0"/>
              <a:t>2</a:t>
            </a:r>
            <a:r>
              <a:rPr lang="pt-BR" dirty="0"/>
              <a:t> (g) + 2H</a:t>
            </a:r>
            <a:r>
              <a:rPr lang="pt-BR" baseline="-25000" dirty="0"/>
              <a:t>2</a:t>
            </a:r>
            <a:r>
              <a:rPr lang="pt-BR" dirty="0"/>
              <a:t>O (l) → 2H</a:t>
            </a:r>
            <a:r>
              <a:rPr lang="pt-BR" baseline="-25000" dirty="0"/>
              <a:t>2</a:t>
            </a:r>
            <a:r>
              <a:rPr lang="pt-BR" dirty="0"/>
              <a:t>SO</a:t>
            </a:r>
            <a:r>
              <a:rPr lang="pt-BR" baseline="-25000" dirty="0"/>
              <a:t>4</a:t>
            </a:r>
            <a:r>
              <a:rPr lang="pt-BR" dirty="0"/>
              <a:t> (aq)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7598789" y="1843459"/>
            <a:ext cx="3346450" cy="3079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1400" dirty="0"/>
              <a:t>2NO</a:t>
            </a:r>
            <a:r>
              <a:rPr lang="en-US" altLang="en-US" sz="1400" baseline="-25000" dirty="0"/>
              <a:t>2</a:t>
            </a:r>
            <a:r>
              <a:rPr lang="en-US" altLang="en-US" sz="1400" dirty="0"/>
              <a:t>(g)+H</a:t>
            </a:r>
            <a:r>
              <a:rPr lang="en-US" altLang="en-US" sz="1400" baseline="-25000" dirty="0"/>
              <a:t>2</a:t>
            </a:r>
            <a:r>
              <a:rPr lang="en-US" altLang="en-US" sz="1400" dirty="0"/>
              <a:t>O(l)-</a:t>
            </a:r>
            <a:r>
              <a:rPr lang="en-US" altLang="en-US" sz="1400" dirty="0">
                <a:sym typeface="Wingdings" pitchFamily="2" charset="2"/>
              </a:rPr>
              <a:t></a:t>
            </a:r>
            <a:r>
              <a:rPr lang="en-US" altLang="en-US" sz="1400" dirty="0"/>
              <a:t>HNO</a:t>
            </a:r>
            <a:r>
              <a:rPr lang="en-US" altLang="en-US" sz="1400" baseline="-25000" dirty="0"/>
              <a:t>2</a:t>
            </a:r>
            <a:r>
              <a:rPr lang="en-US" altLang="en-US" sz="1400" dirty="0"/>
              <a:t>(</a:t>
            </a:r>
            <a:r>
              <a:rPr lang="en-US" altLang="en-US" sz="1400" dirty="0" err="1"/>
              <a:t>aq</a:t>
            </a:r>
            <a:r>
              <a:rPr lang="en-US" altLang="en-US" sz="1400" dirty="0"/>
              <a:t>)+HNO</a:t>
            </a:r>
            <a:r>
              <a:rPr lang="en-US" altLang="en-US" sz="1400" baseline="-25000" dirty="0"/>
              <a:t>3</a:t>
            </a:r>
            <a:r>
              <a:rPr lang="en-US" altLang="en-US" sz="1400" dirty="0"/>
              <a:t>(</a:t>
            </a:r>
            <a:r>
              <a:rPr lang="en-US" altLang="en-US" sz="1400" dirty="0" err="1"/>
              <a:t>aq</a:t>
            </a:r>
            <a:r>
              <a:rPr lang="en-US" altLang="en-US" sz="1400" dirty="0"/>
              <a:t>)</a:t>
            </a:r>
            <a:endParaRPr lang="en-US" sz="1400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E:\IMAGES\CH13\FIG13_002.JPG"/>
          <p:cNvPicPr>
            <a:picLocks noChangeAspect="1" noChangeArrowheads="1"/>
          </p:cNvPicPr>
          <p:nvPr/>
        </p:nvPicPr>
        <p:blipFill>
          <a:blip r:embed="rId2"/>
          <a:srcRect l="2969" t="7320" r="1981" b="7320"/>
          <a:stretch>
            <a:fillRect/>
          </a:stretch>
        </p:blipFill>
        <p:spPr bwMode="auto">
          <a:xfrm>
            <a:off x="812800" y="609603"/>
            <a:ext cx="10871200" cy="5491163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1051000" y="1735574"/>
            <a:ext cx="47316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SO</a:t>
            </a:r>
            <a:r>
              <a:rPr lang="en-US" baseline="-25000" dirty="0"/>
              <a:t>2</a:t>
            </a:r>
            <a:r>
              <a:rPr lang="en-US" dirty="0"/>
              <a:t>, </a:t>
            </a:r>
            <a:r>
              <a:rPr lang="en-US" dirty="0" err="1"/>
              <a:t>NO</a:t>
            </a:r>
            <a:r>
              <a:rPr lang="en-US" baseline="-25000" dirty="0" err="1"/>
              <a:t>x</a:t>
            </a:r>
            <a:r>
              <a:rPr lang="en-US" dirty="0"/>
              <a:t> , CO, CO</a:t>
            </a:r>
            <a:r>
              <a:rPr lang="en-US" baseline="-25000" dirty="0"/>
              <a:t>2</a:t>
            </a:r>
            <a:r>
              <a:rPr lang="en-US" dirty="0"/>
              <a:t> and other toxic pollutants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937753" y="3988340"/>
            <a:ext cx="1303507" cy="612843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ChangeArrowheads="1"/>
          </p:cNvSpPr>
          <p:nvPr/>
        </p:nvSpPr>
        <p:spPr bwMode="auto">
          <a:xfrm>
            <a:off x="2667002" y="-2724150"/>
            <a:ext cx="184731" cy="369332"/>
          </a:xfrm>
          <a:prstGeom prst="rect">
            <a:avLst/>
          </a:prstGeom>
          <a:solidFill>
            <a:srgbClr val="000066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4608" name="Group 272"/>
          <p:cNvGraphicFramePr>
            <a:graphicFrameLocks noGrp="1"/>
          </p:cNvGraphicFramePr>
          <p:nvPr/>
        </p:nvGraphicFramePr>
        <p:xfrm>
          <a:off x="203200" y="327028"/>
          <a:ext cx="11684000" cy="6149977"/>
        </p:xfrm>
        <a:graphic>
          <a:graphicData uri="http://schemas.openxmlformats.org/drawingml/2006/table">
            <a:tbl>
              <a:tblPr/>
              <a:tblGrid>
                <a:gridCol w="14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938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Table 1:  Sources, Health and Welfare Effects for Criteria Pollutants</a:t>
                      </a: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.</a:t>
                      </a: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</a:t>
                      </a:r>
                    </a:p>
                  </a:txBody>
                  <a:tcPr marL="121920" marR="12192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Pollutant</a:t>
                      </a: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</a:t>
                      </a:r>
                    </a:p>
                  </a:txBody>
                  <a:tcPr marL="121920" marR="12192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Description</a:t>
                      </a: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</a:t>
                      </a:r>
                    </a:p>
                  </a:txBody>
                  <a:tcPr marL="121920" marR="12192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Sources</a:t>
                      </a: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</a:t>
                      </a:r>
                    </a:p>
                  </a:txBody>
                  <a:tcPr marL="121920" marR="12192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Health Effects</a:t>
                      </a: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</a:t>
                      </a:r>
                    </a:p>
                  </a:txBody>
                  <a:tcPr marL="121920" marR="12192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Welfare Effects 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121920" marR="12192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7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Carbon Monoxide (CO)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Colorless, odorless gas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Motor vehicle exhaust, indoor sources include kerosene or wood burning stoves.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Headaches, reduced mental alertness, heart attack, cardiovascular diseases, impaired fetal development, death.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Contribute to the formation of smog.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18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Sulfur Dioxide (SO</a:t>
                      </a:r>
                      <a:r>
                        <a:rPr kumimoji="0" lang="en-US" sz="11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</a:t>
                      </a: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)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Colorless gas that dissolves in water vapor to form acid, and interact with other gases and particles in the air.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Coal-fired power plants, petroleum refineries, manufacture of sulfuric acid and smelting of ores containing sulfur.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Eye irritation, wheezing, chest tightness, shortness of breath, lung damage.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Contribute to the formation of acid rain, visibility impairment, plant and water damage, aesthetic damage.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7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Nitrogen Dioxide (NO</a:t>
                      </a:r>
                      <a:r>
                        <a:rPr kumimoji="0" lang="en-US" sz="11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</a:t>
                      </a: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)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Reddish brown, highly reactive gas.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Motor vehicles, electric utilities, and other industrial, commercial, and residential sources that burn fuels.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Susceptibility to respiratory infections, irritation of the lung and respiratory symptoms (e.g., cough, chest pain, difficulty breathing).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Contribute to the formation of smog, acid rain, water quality deterioration, global warming, and visibility impairment.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1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Ozone (O</a:t>
                      </a:r>
                      <a:r>
                        <a:rPr kumimoji="0" lang="en-US" sz="11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</a:t>
                      </a: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)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Gaseous pollutant when it is formed in the troposphere.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Vehicle exhaust and certain other fumes.  Formed from other air pollutants in the presence of sunlight.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Eye and throat irritation, coughing, respiratory tract problems, asthma, lung damage.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Plant and ecosystem damage.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1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Lead (Pb)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Metallic element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Metal refineries, lead smelters, battery manufacturers, iron and steel producers.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Anemia, high blood pressure, brain and kidney damage, neurological disorders, cancer, lowered IQ.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Affects animals and plants, affects aquatic ecosystems.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57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Particulate Matter (PM)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Very small particles of soot, dust, or other matter, including tiny droplets of liquids.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Diesel engines, power plants, industries, windblown dust, wood stoves.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Eye irritation, asthma, bronchitis, lung damage, cancer, heavy metal poisoning, cardiovascular effects.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Visibility impairment, atmospheric deposition, aesthetic damage.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E:\IMAGES\CH13\FIG13_005.JPG"/>
          <p:cNvPicPr>
            <a:picLocks noChangeAspect="1" noChangeArrowheads="1"/>
          </p:cNvPicPr>
          <p:nvPr/>
        </p:nvPicPr>
        <p:blipFill>
          <a:blip r:embed="rId2"/>
          <a:srcRect l="2969" t="18933" r="1981" b="16679"/>
          <a:stretch>
            <a:fillRect/>
          </a:stretch>
        </p:blipFill>
        <p:spPr bwMode="auto">
          <a:xfrm>
            <a:off x="2" y="713235"/>
            <a:ext cx="11283951" cy="56372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173738" y="731520"/>
            <a:ext cx="3776675" cy="89255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2800" dirty="0" err="1"/>
              <a:t>i</a:t>
            </a:r>
            <a:r>
              <a:rPr lang="en-US" sz="2400" dirty="0"/>
              <a:t>) </a:t>
            </a:r>
            <a:r>
              <a:rPr lang="en-US" sz="2400" dirty="0">
                <a:solidFill>
                  <a:srgbClr val="FF0000"/>
                </a:solidFill>
              </a:rPr>
              <a:t>Gaseous air pollutant</a:t>
            </a:r>
          </a:p>
          <a:p>
            <a:r>
              <a:rPr lang="en-US" sz="2400" dirty="0"/>
              <a:t>ii) </a:t>
            </a:r>
            <a:r>
              <a:rPr lang="en-US" sz="2400" dirty="0">
                <a:solidFill>
                  <a:srgbClr val="FF0000"/>
                </a:solidFill>
              </a:rPr>
              <a:t>Particulate mater (Dust)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3" y="1270802"/>
            <a:ext cx="673912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31F20"/>
                </a:solidFill>
                <a:latin typeface="FrutigerBold"/>
              </a:rPr>
              <a:t>Besides technical names PM10 and PM2.5, the popular names of particulate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  <a:latin typeface="FrutigerLight"/>
              </a:rPr>
              <a:t>Mist:  </a:t>
            </a:r>
            <a:r>
              <a:rPr lang="en-US" dirty="0">
                <a:solidFill>
                  <a:srgbClr val="231F20"/>
                </a:solidFill>
                <a:latin typeface="FrutigerLight"/>
              </a:rPr>
              <a:t>Aerosol consisting of liquid droplets Sulfuric acid mist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  <a:latin typeface="FrutigerLight"/>
              </a:rPr>
              <a:t>Dust: </a:t>
            </a:r>
            <a:r>
              <a:rPr lang="en-US" dirty="0">
                <a:solidFill>
                  <a:srgbClr val="231F20"/>
                </a:solidFill>
                <a:latin typeface="FrutigerLight"/>
              </a:rPr>
              <a:t>solid particles produced from larger particles by grinding them down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  <a:latin typeface="FrutigerLight"/>
              </a:rPr>
              <a:t>Smoke: </a:t>
            </a:r>
            <a:r>
              <a:rPr lang="en-US" dirty="0">
                <a:solidFill>
                  <a:srgbClr val="231F20"/>
                </a:solidFill>
                <a:latin typeface="FrutigerLight"/>
              </a:rPr>
              <a:t>solid particles or a mixture of solid, Cigarette smoke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  <a:latin typeface="FrutigerLight"/>
              </a:rPr>
              <a:t>Fume:  </a:t>
            </a:r>
            <a:r>
              <a:rPr lang="en-US" dirty="0">
                <a:solidFill>
                  <a:srgbClr val="231F20"/>
                </a:solidFill>
                <a:latin typeface="FrutigerLight"/>
              </a:rPr>
              <a:t>Generally means the same as smoke but often applies Zinc/lead fumes specifically to aerosols produced by condensation of hot vapors of metals.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  <a:latin typeface="FrutigerLight"/>
              </a:rPr>
              <a:t>Fog: </a:t>
            </a:r>
            <a:r>
              <a:rPr lang="en-US" dirty="0">
                <a:solidFill>
                  <a:srgbClr val="231F20"/>
                </a:solidFill>
                <a:latin typeface="FrutigerLight"/>
              </a:rPr>
              <a:t>Aerosol consisting of water droplets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33943" y="230405"/>
            <a:ext cx="7534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Particulate mater</a:t>
            </a:r>
            <a:endParaRPr lang="en-US" sz="3600" b="1" dirty="0"/>
          </a:p>
        </p:txBody>
      </p:sp>
      <p:pic>
        <p:nvPicPr>
          <p:cNvPr id="4" name="Picture 12" descr="Slide8"/>
          <p:cNvPicPr>
            <a:picLocks noChangeAspect="1" noChangeArrowheads="1"/>
          </p:cNvPicPr>
          <p:nvPr/>
        </p:nvPicPr>
        <p:blipFill>
          <a:blip r:embed="rId2"/>
          <a:srcRect l="9421" r="26921"/>
          <a:stretch>
            <a:fillRect/>
          </a:stretch>
        </p:blipFill>
        <p:spPr bwMode="auto">
          <a:xfrm>
            <a:off x="7057710" y="1446022"/>
            <a:ext cx="4365625" cy="5143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52667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320" y="228600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Air Quality Index (AQI) Values</a:t>
            </a:r>
            <a:br>
              <a:rPr lang="en-US" b="1" dirty="0">
                <a:solidFill>
                  <a:srgbClr val="FF0000"/>
                </a:solidFill>
              </a:rPr>
            </a:br>
            <a:endParaRPr lang="en-US" dirty="0"/>
          </a:p>
        </p:txBody>
      </p:sp>
      <p:pic>
        <p:nvPicPr>
          <p:cNvPr id="4" name="Picture 5" descr="psi_values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953511" y="612648"/>
            <a:ext cx="7030323" cy="6189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4061"/>
              </p:ext>
            </p:extLst>
          </p:nvPr>
        </p:nvGraphicFramePr>
        <p:xfrm>
          <a:off x="1337469" y="2525455"/>
          <a:ext cx="6589473" cy="3607929"/>
        </p:xfrm>
        <a:graphic>
          <a:graphicData uri="http://schemas.openxmlformats.org/drawingml/2006/table">
            <a:tbl>
              <a:tblPr firstRow="1" firstCol="1" bandRow="1"/>
              <a:tblGrid>
                <a:gridCol w="2363384">
                  <a:extLst>
                    <a:ext uri="{9D8B030D-6E8A-4147-A177-3AD203B41FA5}">
                      <a16:colId xmlns:a16="http://schemas.microsoft.com/office/drawing/2014/main" val="1331664451"/>
                    </a:ext>
                  </a:extLst>
                </a:gridCol>
                <a:gridCol w="753798">
                  <a:extLst>
                    <a:ext uri="{9D8B030D-6E8A-4147-A177-3AD203B41FA5}">
                      <a16:colId xmlns:a16="http://schemas.microsoft.com/office/drawing/2014/main" val="2808592918"/>
                    </a:ext>
                  </a:extLst>
                </a:gridCol>
                <a:gridCol w="1084802">
                  <a:extLst>
                    <a:ext uri="{9D8B030D-6E8A-4147-A177-3AD203B41FA5}">
                      <a16:colId xmlns:a16="http://schemas.microsoft.com/office/drawing/2014/main" val="2568335615"/>
                    </a:ext>
                  </a:extLst>
                </a:gridCol>
                <a:gridCol w="2387489">
                  <a:extLst>
                    <a:ext uri="{9D8B030D-6E8A-4147-A177-3AD203B41FA5}">
                      <a16:colId xmlns:a16="http://schemas.microsoft.com/office/drawing/2014/main" val="1412442143"/>
                    </a:ext>
                  </a:extLst>
                </a:gridCol>
              </a:tblGrid>
              <a:tr h="375444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Pollutant parameter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unit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Averaging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Concentration in ambient air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018315"/>
                  </a:ext>
                </a:extLst>
              </a:tr>
              <a:tr h="7682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Industrial/residential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area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443364"/>
                  </a:ext>
                </a:extLst>
              </a:tr>
              <a:tr h="37544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Sulfur dioxide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µ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g/m</a:t>
                      </a:r>
                      <a:r>
                        <a:rPr lang="en-US" sz="1800" baseline="30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 hourly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716942"/>
                  </a:ext>
                </a:extLst>
              </a:tr>
              <a:tr h="37544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Nitrogen dioxide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µ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g/m</a:t>
                      </a:r>
                      <a:r>
                        <a:rPr kumimoji="0" lang="en-US" sz="1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 hourly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258790"/>
                  </a:ext>
                </a:extLst>
              </a:tr>
              <a:tr h="37544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Particulate PM10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µ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g/m</a:t>
                      </a:r>
                      <a:r>
                        <a:rPr kumimoji="0" lang="en-US" sz="1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 hourly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356135"/>
                  </a:ext>
                </a:extLst>
              </a:tr>
              <a:tr h="37544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Particulate PM2.5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µ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g/m</a:t>
                      </a:r>
                      <a:r>
                        <a:rPr kumimoji="0" lang="en-US" sz="1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 hourly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393277"/>
                  </a:ext>
                </a:extLst>
              </a:tr>
              <a:tr h="37544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Carbon monoxide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µ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g/m</a:t>
                      </a:r>
                      <a:r>
                        <a:rPr kumimoji="0" lang="en-US" sz="1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 hourly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824410"/>
                  </a:ext>
                </a:extLst>
              </a:tr>
              <a:tr h="37544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ozone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µ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g/m</a:t>
                      </a:r>
                      <a:r>
                        <a:rPr kumimoji="0" lang="en-US" sz="1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 hourly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423171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429555" y="470369"/>
            <a:ext cx="8319752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National Ambient Air Quality Standard (NAAQS)-2009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was notified on 16-11-2009 by government of India. Some of the important air quality parameters are mentioned in the table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0910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1930400" y="2286001"/>
            <a:ext cx="7823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600" b="1" dirty="0">
                <a:solidFill>
                  <a:srgbClr val="FF00FF"/>
                </a:solidFill>
                <a:latin typeface="Arial" charset="0"/>
              </a:rPr>
              <a:t>Air pollution control: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909691"/>
              </p:ext>
            </p:extLst>
          </p:nvPr>
        </p:nvGraphicFramePr>
        <p:xfrm>
          <a:off x="575429" y="1159231"/>
          <a:ext cx="7572777" cy="4108958"/>
        </p:xfrm>
        <a:graphic>
          <a:graphicData uri="http://schemas.openxmlformats.org/drawingml/2006/table">
            <a:tbl>
              <a:tblPr firstRow="1" firstCol="1" bandRow="1"/>
              <a:tblGrid>
                <a:gridCol w="1425475">
                  <a:extLst>
                    <a:ext uri="{9D8B030D-6E8A-4147-A177-3AD203B41FA5}">
                      <a16:colId xmlns:a16="http://schemas.microsoft.com/office/drawing/2014/main" val="3143534423"/>
                    </a:ext>
                  </a:extLst>
                </a:gridCol>
                <a:gridCol w="2010137">
                  <a:extLst>
                    <a:ext uri="{9D8B030D-6E8A-4147-A177-3AD203B41FA5}">
                      <a16:colId xmlns:a16="http://schemas.microsoft.com/office/drawing/2014/main" val="3361203200"/>
                    </a:ext>
                  </a:extLst>
                </a:gridCol>
                <a:gridCol w="1045727">
                  <a:extLst>
                    <a:ext uri="{9D8B030D-6E8A-4147-A177-3AD203B41FA5}">
                      <a16:colId xmlns:a16="http://schemas.microsoft.com/office/drawing/2014/main" val="3865342715"/>
                    </a:ext>
                  </a:extLst>
                </a:gridCol>
                <a:gridCol w="871711">
                  <a:extLst>
                    <a:ext uri="{9D8B030D-6E8A-4147-A177-3AD203B41FA5}">
                      <a16:colId xmlns:a16="http://schemas.microsoft.com/office/drawing/2014/main" val="3843255707"/>
                    </a:ext>
                  </a:extLst>
                </a:gridCol>
                <a:gridCol w="2219727">
                  <a:extLst>
                    <a:ext uri="{9D8B030D-6E8A-4147-A177-3AD203B41FA5}">
                      <a16:colId xmlns:a16="http://schemas.microsoft.com/office/drawing/2014/main" val="729106800"/>
                    </a:ext>
                  </a:extLst>
                </a:gridCol>
              </a:tblGrid>
              <a:tr h="8182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Pollution control methods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Removal mechanism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Particle size removal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efficiency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Design parameters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173813"/>
                  </a:ext>
                </a:extLst>
              </a:tr>
              <a:tr h="8055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Gravity settling chamber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Gravity 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&gt;50 µ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&gt;50%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051497"/>
                  </a:ext>
                </a:extLst>
              </a:tr>
              <a:tr h="5608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Cyclone separator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Centrifugal forces and gravity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&gt;5 µ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&gt;85%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126536"/>
                  </a:ext>
                </a:extLst>
              </a:tr>
              <a:tr h="8055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Bag filter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Interception, impaction and diffusion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 0.1 µ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&gt;99%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Air to cloth or filtering ratio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 to 5 m/minute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300561"/>
                  </a:ext>
                </a:extLst>
              </a:tr>
              <a:tr h="84768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Electrostatic precipitator (ESP)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Electrostatic forces of attraction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&lt; 0.1 µ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&gt;99%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463239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318197" y="51517"/>
            <a:ext cx="7585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FF"/>
                </a:solidFill>
              </a:rPr>
              <a:t>Control of Particulate matter</a:t>
            </a:r>
          </a:p>
        </p:txBody>
      </p:sp>
    </p:spTree>
    <p:extLst>
      <p:ext uri="{BB962C8B-B14F-4D97-AF65-F5344CB8AC3E}">
        <p14:creationId xmlns:p14="http://schemas.microsoft.com/office/powerpoint/2010/main" val="1168987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54704" y="0"/>
            <a:ext cx="4420616" cy="762000"/>
          </a:xfrm>
        </p:spPr>
        <p:txBody>
          <a:bodyPr/>
          <a:lstStyle/>
          <a:p>
            <a:pPr algn="l" eaLnBrk="1" hangingPunct="1"/>
            <a:r>
              <a:rPr lang="en-US" sz="3500" dirty="0">
                <a:solidFill>
                  <a:srgbClr val="FF00FF"/>
                </a:solidFill>
                <a:latin typeface="Arial" charset="0"/>
              </a:rPr>
              <a:t>Settling Chambers </a:t>
            </a:r>
          </a:p>
        </p:txBody>
      </p:sp>
      <p:pic>
        <p:nvPicPr>
          <p:cNvPr id="11268" name="Picture 4" descr="Settling chambers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4622801" y="3547872"/>
            <a:ext cx="6915671" cy="2905316"/>
          </a:xfrm>
          <a:noFill/>
          <a:ln>
            <a:solidFill>
              <a:srgbClr val="FFCCFF"/>
            </a:solidFill>
          </a:ln>
        </p:spPr>
      </p:pic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4381794" y="6549656"/>
            <a:ext cx="29418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Arial" charset="0"/>
              </a:rPr>
              <a:t>Figure:</a:t>
            </a:r>
            <a:r>
              <a:rPr lang="en-US" sz="1800" dirty="0">
                <a:solidFill>
                  <a:srgbClr val="FF0000"/>
                </a:solidFill>
                <a:latin typeface="Arial" charset="0"/>
              </a:rPr>
              <a:t> Settling chambers </a:t>
            </a:r>
          </a:p>
        </p:txBody>
      </p:sp>
      <p:pic>
        <p:nvPicPr>
          <p:cNvPr id="3075" name="Picture 3" descr="C:\Users\NARESH\Desktop\Air pollution islanous\l-23-and-24-final-14-638.jpg"/>
          <p:cNvPicPr>
            <a:picLocks noChangeAspect="1" noChangeArrowheads="1"/>
          </p:cNvPicPr>
          <p:nvPr/>
        </p:nvPicPr>
        <p:blipFill>
          <a:blip r:embed="rId3"/>
          <a:srcRect l="7524" t="7516" r="7524"/>
          <a:stretch>
            <a:fillRect/>
          </a:stretch>
        </p:blipFill>
        <p:spPr bwMode="auto">
          <a:xfrm>
            <a:off x="192024" y="3264654"/>
            <a:ext cx="4142232" cy="3385556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251209" y="813916"/>
            <a:ext cx="11129218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00B050"/>
                </a:solidFill>
              </a:rPr>
              <a:t>Principle: </a:t>
            </a:r>
            <a:r>
              <a:rPr lang="en-US" dirty="0"/>
              <a:t>Suddenly  increase in flow cross sectional area of the influent dust laden air  from a to A at constant flow rate, the horizontal velocity of the particulate  matter drop down from V to v when it enter in to the settling chamber  (with high cross sectional area) from a pipe (small cross sectional area)  thus the horizontal momentum of the  Particulate matter floating in the air decreases  and  the gravitational force   over come the horizontal momentum, as a result  the particulate matter move down ward due to gravity and settled in the bottom,  and clean air exhausted  in the out pipe of the settling chamber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918" y="2552282"/>
            <a:ext cx="10249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Application many tray in settling chamber increases the settling area also reduces the vertical distance</a:t>
            </a:r>
          </a:p>
          <a:p>
            <a:r>
              <a:rPr lang="en-US" dirty="0"/>
              <a:t> facilitate settling efficiently and quickly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37106" y="5683666"/>
            <a:ext cx="33333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charset="0"/>
              </a:rPr>
              <a:t>Large particles drop out of the gas and are recollected in hoppers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NARESH\Desktop\Air pollution islanous\cyclonehydrocyclone-separator-5-638.jpg"/>
          <p:cNvPicPr>
            <a:picLocks noChangeAspect="1" noChangeArrowheads="1"/>
          </p:cNvPicPr>
          <p:nvPr/>
        </p:nvPicPr>
        <p:blipFill>
          <a:blip r:embed="rId2"/>
          <a:srcRect l="7524" t="12526" r="7524"/>
          <a:stretch>
            <a:fillRect/>
          </a:stretch>
        </p:blipFill>
        <p:spPr bwMode="auto">
          <a:xfrm>
            <a:off x="1289306" y="0"/>
            <a:ext cx="8494775" cy="6858000"/>
          </a:xfrm>
          <a:prstGeom prst="rect">
            <a:avLst/>
          </a:prstGeom>
          <a:noFill/>
        </p:spPr>
      </p:pic>
      <p:pic>
        <p:nvPicPr>
          <p:cNvPr id="4099" name="Picture 3" descr="C:\Users\NARESH\Desktop\Air pollution islanous\download.png"/>
          <p:cNvPicPr>
            <a:picLocks noChangeAspect="1" noChangeArrowheads="1"/>
          </p:cNvPicPr>
          <p:nvPr/>
        </p:nvPicPr>
        <p:blipFill>
          <a:blip r:embed="rId3"/>
          <a:srcRect r="27429"/>
          <a:stretch>
            <a:fillRect/>
          </a:stretch>
        </p:blipFill>
        <p:spPr bwMode="auto">
          <a:xfrm>
            <a:off x="9562224" y="612508"/>
            <a:ext cx="2483320" cy="5651133"/>
          </a:xfrm>
          <a:prstGeom prst="rect">
            <a:avLst/>
          </a:prstGeom>
          <a:noFill/>
        </p:spPr>
      </p:pic>
      <p:pic>
        <p:nvPicPr>
          <p:cNvPr id="4100" name="Picture 4" descr="C:\Users\NARESH\Desktop\Air pollution islanous\cyclone-separator-n.jpg"/>
          <p:cNvPicPr>
            <a:picLocks noChangeAspect="1" noChangeArrowheads="1"/>
          </p:cNvPicPr>
          <p:nvPr/>
        </p:nvPicPr>
        <p:blipFill>
          <a:blip r:embed="rId4"/>
          <a:srcRect l="4000" t="26667" r="61333" b="8889"/>
          <a:stretch>
            <a:fillRect/>
          </a:stretch>
        </p:blipFill>
        <p:spPr bwMode="auto">
          <a:xfrm>
            <a:off x="155450" y="2137454"/>
            <a:ext cx="1726431" cy="2407114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1488333" y="0"/>
            <a:ext cx="7879403" cy="830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800" dirty="0"/>
              <a:t>Cyclone Separator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39"/>
          <a:stretch>
            <a:fillRect/>
          </a:stretch>
        </p:blipFill>
        <p:spPr>
          <a:xfrm>
            <a:off x="1674255" y="0"/>
            <a:ext cx="1012449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958328" y="3121444"/>
            <a:ext cx="3288792" cy="230832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Arial" charset="0"/>
              </a:rPr>
              <a:t>Fabric filters, or </a:t>
            </a:r>
            <a:r>
              <a:rPr lang="en-US" dirty="0" err="1">
                <a:latin typeface="Arial" charset="0"/>
              </a:rPr>
              <a:t>baghouses</a:t>
            </a:r>
            <a:r>
              <a:rPr lang="en-US" dirty="0">
                <a:latin typeface="Arial" charset="0"/>
              </a:rPr>
              <a:t>, remove dust from a gas stream by passing the stream through a porous fabric. The fabric filter is efficient at removing fine particles and can exceed efficiencies of 99 percent in most applications. </a:t>
            </a:r>
          </a:p>
        </p:txBody>
      </p:sp>
    </p:spTree>
    <p:extLst>
      <p:ext uri="{BB962C8B-B14F-4D97-AF65-F5344CB8AC3E}">
        <p14:creationId xmlns:p14="http://schemas.microsoft.com/office/powerpoint/2010/main" val="1665658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971" y="0"/>
            <a:ext cx="1026173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44878" y="4487834"/>
            <a:ext cx="3160776" cy="16450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Efficiency of ESP (ƞ)   =  1-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(- Aw/Q)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Ƞ = 0 to 1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= Collector plate area in m2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 = particulate velocity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 = Gas flow in m3/sec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716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flipH="1">
            <a:off x="2373448" y="618832"/>
            <a:ext cx="4950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FF"/>
                </a:solidFill>
              </a:rPr>
              <a:t>Numerical on bag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3645" y="1880316"/>
            <a:ext cx="9414456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Q- A bag house is to be constructed using bags of 0.25 m diameter and 6 m long. It is to receive 15 m</a:t>
            </a:r>
            <a:r>
              <a:rPr lang="en-US" sz="2400" baseline="30000" dirty="0"/>
              <a:t>3</a:t>
            </a:r>
            <a:r>
              <a:rPr lang="en-US" sz="2400" dirty="0"/>
              <a:t>/s of air. Assuming the filtration rate of 2.2 m/min. Determine the no bags required in the bag house.</a:t>
            </a:r>
          </a:p>
        </p:txBody>
      </p:sp>
      <p:sp>
        <p:nvSpPr>
          <p:cNvPr id="4" name="TextBox 3"/>
          <p:cNvSpPr txBox="1"/>
          <p:nvPr/>
        </p:nvSpPr>
        <p:spPr>
          <a:xfrm flipH="1">
            <a:off x="1313646" y="3348507"/>
            <a:ext cx="89765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FF00FF"/>
                </a:solidFill>
              </a:rPr>
              <a:t>Ans</a:t>
            </a:r>
            <a:r>
              <a:rPr lang="en-US" sz="2400" dirty="0">
                <a:solidFill>
                  <a:srgbClr val="FF00FF"/>
                </a:solidFill>
              </a:rPr>
              <a:t>:</a:t>
            </a:r>
            <a:r>
              <a:rPr lang="en-US" sz="2400" dirty="0"/>
              <a:t>-</a:t>
            </a:r>
            <a:r>
              <a:rPr lang="en-US" sz="2400" dirty="0">
                <a:solidFill>
                  <a:srgbClr val="FF0000"/>
                </a:solidFill>
              </a:rPr>
              <a:t>Total filtration area required</a:t>
            </a:r>
            <a:r>
              <a:rPr lang="en-US" sz="2400" dirty="0"/>
              <a:t>= </a:t>
            </a:r>
            <a:r>
              <a:rPr lang="en-US" sz="2400" dirty="0">
                <a:solidFill>
                  <a:srgbClr val="00B050"/>
                </a:solidFill>
              </a:rPr>
              <a:t>gas flow rate </a:t>
            </a:r>
            <a:r>
              <a:rPr lang="en-US" sz="2400" dirty="0"/>
              <a:t>/</a:t>
            </a:r>
            <a:r>
              <a:rPr lang="en-US" sz="2400" dirty="0">
                <a:solidFill>
                  <a:srgbClr val="26169A"/>
                </a:solidFill>
              </a:rPr>
              <a:t>filtration rate</a:t>
            </a:r>
            <a:r>
              <a:rPr lang="en-US" sz="2400" dirty="0"/>
              <a:t>= 15x60 m</a:t>
            </a:r>
            <a:r>
              <a:rPr lang="en-US" sz="2400" baseline="30000" dirty="0"/>
              <a:t>3</a:t>
            </a:r>
            <a:r>
              <a:rPr lang="en-US" sz="2400" dirty="0"/>
              <a:t>/min/2.2 m/min= 409.1 m2</a:t>
            </a:r>
          </a:p>
          <a:p>
            <a:endParaRPr lang="en-US" sz="2400" dirty="0"/>
          </a:p>
          <a:p>
            <a:r>
              <a:rPr lang="en-US" sz="2400" dirty="0"/>
              <a:t>Area of one bag = pi*D*H= 3.14*0.25*6 =4.71 m</a:t>
            </a:r>
            <a:r>
              <a:rPr lang="en-US" sz="2400" baseline="30000" dirty="0"/>
              <a:t>2</a:t>
            </a:r>
          </a:p>
          <a:p>
            <a:endParaRPr lang="en-US" sz="2400" dirty="0"/>
          </a:p>
          <a:p>
            <a:r>
              <a:rPr lang="en-US" sz="2400" dirty="0"/>
              <a:t>No of bags required in bag house= 409.1/4.71 =86.8 that  is 87 bags </a:t>
            </a:r>
          </a:p>
        </p:txBody>
      </p:sp>
    </p:spTree>
    <p:extLst>
      <p:ext uri="{BB962C8B-B14F-4D97-AF65-F5344CB8AC3E}">
        <p14:creationId xmlns:p14="http://schemas.microsoft.com/office/powerpoint/2010/main" val="3096697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75818" y="724696"/>
            <a:ext cx="6903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FF"/>
                </a:solidFill>
              </a:rPr>
              <a:t>Numerical on ESP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6375" y="3535526"/>
            <a:ext cx="9813703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Compute the plate area of ESP handling a flow of 3600 m</a:t>
            </a:r>
            <a:r>
              <a:rPr lang="en-US" sz="2400" baseline="30000" dirty="0"/>
              <a:t>3</a:t>
            </a:r>
            <a:r>
              <a:rPr lang="en-US" sz="2400" dirty="0"/>
              <a:t>/min. If the particulate velocity is taken as 0.15 m/s, and efficiency of ESP as 99 %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7735" y="3451538"/>
            <a:ext cx="878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1333924" y="4403307"/>
            <a:ext cx="4083297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ƞ)   =  1-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(- Aw/Q) </a:t>
            </a:r>
          </a:p>
          <a:p>
            <a:endParaRPr lang="en-US" sz="2400" dirty="0">
              <a:solidFill>
                <a:prstClr val="black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0.99 = 1-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exp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(0.15*A/3600/60)</a:t>
            </a:r>
          </a:p>
          <a:p>
            <a:endParaRPr lang="en-US" sz="2400" dirty="0">
              <a:solidFill>
                <a:prstClr val="black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A = Area of plate =1842.1 m</a:t>
            </a:r>
            <a:r>
              <a:rPr lang="en-US" sz="2400" baseline="30000" dirty="0">
                <a:solidFill>
                  <a:prstClr val="black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en-US" sz="2400" baseline="30000" dirty="0"/>
          </a:p>
        </p:txBody>
      </p:sp>
      <p:sp>
        <p:nvSpPr>
          <p:cNvPr id="8" name="Rectangle 7"/>
          <p:cNvSpPr/>
          <p:nvPr/>
        </p:nvSpPr>
        <p:spPr>
          <a:xfrm>
            <a:off x="6940231" y="625953"/>
            <a:ext cx="4577317" cy="19845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Efficiency of ESP (ƞ)   =  1-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(- Aw/Q)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Ƞ = 0 to 1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= Collector plate area in m</a:t>
            </a:r>
            <a:r>
              <a:rPr lang="en-US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 = particulate velocity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 = Gas flow in m</a:t>
            </a:r>
            <a:r>
              <a:rPr lang="en-US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/sec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877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3500" dirty="0">
                <a:solidFill>
                  <a:srgbClr val="FF00FF"/>
                </a:solidFill>
                <a:latin typeface="Arial" charset="0"/>
              </a:rPr>
              <a:t>Control of gaseous pollutants from stationary sources</a:t>
            </a:r>
            <a:br>
              <a:rPr lang="en-US" sz="3500" dirty="0">
                <a:solidFill>
                  <a:srgbClr val="FF00FF"/>
                </a:solidFill>
                <a:latin typeface="Arial" charset="0"/>
              </a:rPr>
            </a:br>
            <a:endParaRPr lang="en-US" sz="3500" dirty="0">
              <a:solidFill>
                <a:srgbClr val="FF00FF"/>
              </a:solidFill>
              <a:latin typeface="Arial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en-US" sz="2600" dirty="0">
                <a:latin typeface="Arial" charset="0"/>
              </a:rPr>
              <a:t>The most common method for controlling gaseous pollutants is the addition of add-on control devices to recover or destroy a pollutant. </a:t>
            </a:r>
          </a:p>
          <a:p>
            <a:pPr algn="just" eaLnBrk="1" hangingPunct="1"/>
            <a:r>
              <a:rPr lang="en-US" sz="2600" dirty="0">
                <a:latin typeface="Arial" charset="0"/>
              </a:rPr>
              <a:t>There are four commonly used control technologies for gaseous pollutants: </a:t>
            </a:r>
          </a:p>
          <a:p>
            <a:pPr lvl="1" algn="just" eaLnBrk="1" hangingPunct="1"/>
            <a:r>
              <a:rPr lang="en-US" sz="2300" dirty="0">
                <a:latin typeface="Arial" charset="0"/>
              </a:rPr>
              <a:t>Absorption, </a:t>
            </a:r>
          </a:p>
          <a:p>
            <a:pPr lvl="1" algn="just" eaLnBrk="1" hangingPunct="1"/>
            <a:r>
              <a:rPr lang="en-US" sz="2300" dirty="0">
                <a:latin typeface="Arial" charset="0"/>
              </a:rPr>
              <a:t>Adsorption, </a:t>
            </a:r>
          </a:p>
          <a:p>
            <a:pPr lvl="1" algn="just" eaLnBrk="1" hangingPunct="1"/>
            <a:r>
              <a:rPr lang="en-US" sz="2300" dirty="0">
                <a:latin typeface="Arial" charset="0"/>
              </a:rPr>
              <a:t>Condensation, and </a:t>
            </a:r>
          </a:p>
          <a:p>
            <a:pPr lvl="1" algn="just" eaLnBrk="1" hangingPunct="1"/>
            <a:r>
              <a:rPr lang="en-US" sz="2300" dirty="0">
                <a:latin typeface="Arial" charset="0"/>
              </a:rPr>
              <a:t>Incineration (combustion)</a:t>
            </a:r>
            <a:endParaRPr lang="en-US" sz="2400" dirty="0">
              <a:latin typeface="Arial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461512" y="256032"/>
            <a:ext cx="4283456" cy="627888"/>
          </a:xfrm>
        </p:spPr>
        <p:txBody>
          <a:bodyPr/>
          <a:lstStyle/>
          <a:p>
            <a:pPr algn="l" eaLnBrk="1" hangingPunct="1"/>
            <a:r>
              <a:rPr lang="en-US" sz="3500" dirty="0">
                <a:solidFill>
                  <a:srgbClr val="FF00FF"/>
                </a:solidFill>
                <a:latin typeface="Arial" charset="0"/>
              </a:rPr>
              <a:t>Absorption </a:t>
            </a:r>
          </a:p>
        </p:txBody>
      </p:sp>
      <p:sp>
        <p:nvSpPr>
          <p:cNvPr id="19459" name="Rectangle 24"/>
          <p:cNvSpPr>
            <a:spLocks noGrp="1" noChangeArrowheads="1"/>
          </p:cNvSpPr>
          <p:nvPr>
            <p:ph type="body" idx="1"/>
          </p:nvPr>
        </p:nvSpPr>
        <p:spPr>
          <a:xfrm>
            <a:off x="338328" y="2980944"/>
            <a:ext cx="6300216" cy="914400"/>
          </a:xfrm>
        </p:spPr>
        <p:txBody>
          <a:bodyPr>
            <a:normAutofit fontScale="92500" lnSpcReduction="20000"/>
          </a:bodyPr>
          <a:lstStyle/>
          <a:p>
            <a:pPr algn="just" eaLnBrk="1" hangingPunct="1">
              <a:lnSpc>
                <a:spcPct val="90000"/>
              </a:lnSpc>
              <a:buNone/>
            </a:pPr>
            <a:r>
              <a:rPr lang="en-US" sz="2300" dirty="0">
                <a:solidFill>
                  <a:schemeClr val="bg1"/>
                </a:solidFill>
                <a:latin typeface="Arial" charset="0"/>
              </a:rPr>
              <a:t>The</a:t>
            </a:r>
            <a:endParaRPr lang="en-US" sz="2300" dirty="0">
              <a:latin typeface="Arial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sz="2300" dirty="0">
                <a:latin typeface="Agency FB" pitchFamily="34" charset="0"/>
              </a:rPr>
              <a:t>Absorption is a process in which a </a:t>
            </a:r>
            <a:r>
              <a:rPr lang="en-US" sz="2300" b="1" dirty="0">
                <a:latin typeface="Agency FB" pitchFamily="34" charset="0"/>
              </a:rPr>
              <a:t>gaseous pollutant is dissolved in a liquid</a:t>
            </a:r>
            <a:r>
              <a:rPr lang="en-US" sz="2300" dirty="0">
                <a:latin typeface="Agency FB" pitchFamily="34" charset="0"/>
              </a:rPr>
              <a:t>. </a:t>
            </a:r>
          </a:p>
        </p:txBody>
      </p:sp>
      <p:sp>
        <p:nvSpPr>
          <p:cNvPr id="19460" name="Rectangle 12"/>
          <p:cNvSpPr>
            <a:spLocks noChangeArrowheads="1"/>
          </p:cNvSpPr>
          <p:nvPr/>
        </p:nvSpPr>
        <p:spPr bwMode="auto">
          <a:xfrm>
            <a:off x="7047992" y="4873755"/>
            <a:ext cx="538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1800" dirty="0">
                <a:solidFill>
                  <a:srgbClr val="FFFF99"/>
                </a:solidFill>
                <a:latin typeface="Arial" charset="0"/>
                <a:ea typeface="Times New Roman" pitchFamily="18" charset="0"/>
                <a:cs typeface="Arial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Arial" charset="0"/>
                <a:ea typeface="Times New Roman" pitchFamily="18" charset="0"/>
                <a:cs typeface="Arial" charset="0"/>
              </a:rPr>
              <a:t>Typical Packed Column Diagram </a:t>
            </a:r>
          </a:p>
        </p:txBody>
      </p:sp>
      <p:pic>
        <p:nvPicPr>
          <p:cNvPr id="19461" name="Picture 11" descr="Typical packed column diagram"/>
          <p:cNvPicPr>
            <a:picLocks noChangeAspect="1" noChangeArrowheads="1"/>
          </p:cNvPicPr>
          <p:nvPr/>
        </p:nvPicPr>
        <p:blipFill>
          <a:blip r:embed="rId2" r:link="rId3"/>
          <a:srcRect/>
          <a:stretch>
            <a:fillRect/>
          </a:stretch>
        </p:blipFill>
        <p:spPr bwMode="auto">
          <a:xfrm>
            <a:off x="7326378" y="890016"/>
            <a:ext cx="4392084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469392" y="1495151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2400" b="1" dirty="0">
                <a:solidFill>
                  <a:srgbClr val="00B050"/>
                </a:solidFill>
              </a:rPr>
              <a:t>Absorption:</a:t>
            </a:r>
            <a:r>
              <a:rPr lang="en-US" sz="2400" b="1" dirty="0"/>
              <a:t> </a:t>
            </a:r>
            <a:r>
              <a:rPr lang="en-US" sz="2400" dirty="0"/>
              <a:t>involves transfer of pollutant from gas stream to liquid stream. Examples are removal of a</a:t>
            </a:r>
            <a:r>
              <a:rPr lang="en-US" sz="2400" dirty="0">
                <a:solidFill>
                  <a:srgbClr val="7030A0"/>
                </a:solidFill>
              </a:rPr>
              <a:t>mmonia by water, </a:t>
            </a:r>
            <a:r>
              <a:rPr lang="en-US" sz="2400" dirty="0">
                <a:solidFill>
                  <a:srgbClr val="FF0000"/>
                </a:solidFill>
              </a:rPr>
              <a:t>hydrogen </a:t>
            </a:r>
            <a:r>
              <a:rPr lang="en-US" sz="2400" dirty="0" err="1">
                <a:solidFill>
                  <a:srgbClr val="FF0000"/>
                </a:solidFill>
              </a:rPr>
              <a:t>sulphide</a:t>
            </a:r>
            <a:r>
              <a:rPr lang="en-US" sz="2400" dirty="0">
                <a:solidFill>
                  <a:srgbClr val="FF0000"/>
                </a:solidFill>
              </a:rPr>
              <a:t> by sodium hydroxide </a:t>
            </a:r>
            <a:r>
              <a:rPr lang="en-US" sz="2400" dirty="0"/>
              <a:t>etc.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2008" y="3875270"/>
            <a:ext cx="49552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charset="0"/>
              </a:rPr>
              <a:t>Absorbers are often referred to as </a:t>
            </a:r>
            <a:r>
              <a:rPr lang="en-US" b="1" dirty="0">
                <a:latin typeface="Arial" charset="0"/>
              </a:rPr>
              <a:t>scrubbers</a:t>
            </a:r>
            <a:r>
              <a:rPr lang="en-US" dirty="0">
                <a:latin typeface="Arial" charset="0"/>
              </a:rPr>
              <a:t>, 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71856" y="5407443"/>
            <a:ext cx="11469624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Arial" charset="0"/>
              </a:rPr>
              <a:t>In general, absorbers can achieve removal efficiencies grater than </a:t>
            </a:r>
            <a:r>
              <a:rPr lang="en-US" b="1" dirty="0">
                <a:latin typeface="Arial" charset="0"/>
              </a:rPr>
              <a:t>95 percent</a:t>
            </a:r>
            <a:r>
              <a:rPr lang="en-US" dirty="0">
                <a:latin typeface="Arial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charset="0"/>
              </a:rPr>
              <a:t>One potential problem with absorption is the generation of waste-water, which converts an air pollution problem to a water pollution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6516"/>
            <a:ext cx="10363200" cy="725487"/>
          </a:xfrm>
        </p:spPr>
        <p:txBody>
          <a:bodyPr/>
          <a:lstStyle/>
          <a:p>
            <a:pPr algn="ctr" eaLnBrk="1" hangingPunct="1"/>
            <a:r>
              <a:rPr lang="en-US" sz="3500" dirty="0">
                <a:solidFill>
                  <a:srgbClr val="FF00FF"/>
                </a:solidFill>
                <a:latin typeface="Arial" charset="0"/>
              </a:rPr>
              <a:t>Adsorption 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872" y="2188464"/>
            <a:ext cx="4531360" cy="1789176"/>
          </a:xfrm>
        </p:spPr>
        <p:txBody>
          <a:bodyPr>
            <a:normAutofit fontScale="25000" lnSpcReduction="20000"/>
          </a:bodyPr>
          <a:lstStyle/>
          <a:p>
            <a:pPr algn="just" eaLnBrk="1" hangingPunct="1">
              <a:lnSpc>
                <a:spcPct val="170000"/>
              </a:lnSpc>
            </a:pPr>
            <a:r>
              <a:rPr lang="en-US" sz="8000" dirty="0">
                <a:latin typeface="Arial" charset="0"/>
              </a:rPr>
              <a:t>The most common industrial adsorbents are;</a:t>
            </a:r>
          </a:p>
          <a:p>
            <a:pPr algn="just" eaLnBrk="1" hangingPunct="1">
              <a:lnSpc>
                <a:spcPct val="170000"/>
              </a:lnSpc>
            </a:pPr>
            <a:r>
              <a:rPr lang="en-US" sz="8000" dirty="0">
                <a:latin typeface="Arial" charset="0"/>
              </a:rPr>
              <a:t> </a:t>
            </a:r>
            <a:r>
              <a:rPr lang="en-US" sz="8000" b="1" dirty="0">
                <a:latin typeface="Arial" charset="0"/>
              </a:rPr>
              <a:t>Activated carbon</a:t>
            </a:r>
          </a:p>
          <a:p>
            <a:pPr algn="just" eaLnBrk="1" hangingPunct="1">
              <a:lnSpc>
                <a:spcPct val="170000"/>
              </a:lnSpc>
            </a:pPr>
            <a:r>
              <a:rPr lang="en-US" sz="8000" b="1" dirty="0">
                <a:latin typeface="Arial" charset="0"/>
              </a:rPr>
              <a:t>Silica gel</a:t>
            </a:r>
          </a:p>
          <a:p>
            <a:pPr algn="just" eaLnBrk="1" hangingPunct="1">
              <a:lnSpc>
                <a:spcPct val="170000"/>
              </a:lnSpc>
            </a:pPr>
            <a:r>
              <a:rPr lang="en-US" sz="8000" b="1" dirty="0">
                <a:latin typeface="Arial" charset="0"/>
              </a:rPr>
              <a:t> Alumina</a:t>
            </a:r>
            <a:r>
              <a:rPr lang="en-US" sz="8000" dirty="0">
                <a:latin typeface="Arial" charset="0"/>
              </a:rPr>
              <a:t>, </a:t>
            </a:r>
          </a:p>
          <a:p>
            <a:pPr algn="just" eaLnBrk="1" hangingPunct="1">
              <a:lnSpc>
                <a:spcPct val="170000"/>
              </a:lnSpc>
            </a:pPr>
            <a:r>
              <a:rPr lang="en-US" sz="8000" dirty="0">
                <a:latin typeface="Arial" charset="0"/>
              </a:rPr>
              <a:t>because they have enormous surface areas per unit weight.  </a:t>
            </a:r>
          </a:p>
          <a:p>
            <a:pPr algn="just" eaLnBrk="1" hangingPunct="1"/>
            <a:endParaRPr lang="en-US" sz="2400" dirty="0">
              <a:latin typeface="Arial" charset="0"/>
            </a:endParaRPr>
          </a:p>
        </p:txBody>
      </p:sp>
      <p:pic>
        <p:nvPicPr>
          <p:cNvPr id="21508" name="Picture 27" descr="Carbon Adsorbti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38977" y="1773936"/>
            <a:ext cx="5176999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0" y="774117"/>
            <a:ext cx="111343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rgbClr val="00B050"/>
                </a:solidFill>
              </a:rPr>
              <a:t>Adsorption</a:t>
            </a:r>
            <a:r>
              <a:rPr lang="en-US" sz="2800" dirty="0"/>
              <a:t> involves transfer of pollutant from gas or liquid stream to solid surfaces having desirable surface properties.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381000"/>
            <a:ext cx="10363200" cy="1143000"/>
          </a:xfrm>
        </p:spPr>
        <p:txBody>
          <a:bodyPr/>
          <a:lstStyle/>
          <a:p>
            <a:pPr algn="l" eaLnBrk="1" hangingPunct="1"/>
            <a:r>
              <a:rPr lang="en-US" sz="3500" dirty="0">
                <a:solidFill>
                  <a:schemeClr val="tx1"/>
                </a:solidFill>
                <a:latin typeface="Arial" charset="0"/>
              </a:rPr>
              <a:t>Incineration 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2800" y="1676400"/>
            <a:ext cx="10871200" cy="47244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sz="2500" dirty="0">
                <a:latin typeface="Arial" charset="0"/>
              </a:rPr>
              <a:t>Incineration, also known as combustion, is most used to control the emissions of organic compounds from process industries. 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sz="2500" dirty="0">
                <a:latin typeface="Arial" charset="0"/>
              </a:rPr>
              <a:t>This control technique refers to the rapid oxidation of a substance through the combination of oxygen with a combustible material in the presence of heat. 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sz="2500" dirty="0">
                <a:latin typeface="Arial" charset="0"/>
              </a:rPr>
              <a:t>When combustion is complete, the gaseous stream is converted to carbon dioxide and water vapor. 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sz="2500" dirty="0">
                <a:latin typeface="Arial" charset="0"/>
              </a:rPr>
              <a:t>Equipment used to control waste gases by combustion can be divided in three categories: 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sz="2200" dirty="0">
                <a:latin typeface="Arial" charset="0"/>
              </a:rPr>
              <a:t>Direct combustion or flaring, 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sz="2200" dirty="0">
                <a:latin typeface="Arial" charset="0"/>
              </a:rPr>
              <a:t>Thermal incineration and 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sz="2200" dirty="0">
                <a:latin typeface="Arial" charset="0"/>
              </a:rPr>
              <a:t>Catalytic incineration. 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sz="2200" dirty="0">
                <a:solidFill>
                  <a:srgbClr val="00B050"/>
                </a:solidFill>
                <a:latin typeface="Arial" charset="0"/>
              </a:rPr>
              <a:t>3T= Temperature, Time, </a:t>
            </a:r>
            <a:r>
              <a:rPr lang="en-US" sz="2200">
                <a:solidFill>
                  <a:srgbClr val="00B050"/>
                </a:solidFill>
                <a:latin typeface="Arial" charset="0"/>
              </a:rPr>
              <a:t>and turbulence</a:t>
            </a:r>
            <a:endParaRPr lang="en-US" sz="2200" dirty="0">
              <a:solidFill>
                <a:srgbClr val="00B050"/>
              </a:solidFill>
              <a:latin typeface="Arial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C:\Users\NARESH\Desktop\gw cc\global-warning-and-climate-change-43-63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2800" y="454026"/>
            <a:ext cx="10695517" cy="602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1274</TotalTime>
  <Words>1587</Words>
  <Application>Microsoft Office PowerPoint</Application>
  <PresentationFormat>Widescreen</PresentationFormat>
  <Paragraphs>196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Agency FB</vt:lpstr>
      <vt:lpstr>Arial</vt:lpstr>
      <vt:lpstr>Calibri</vt:lpstr>
      <vt:lpstr>Comic Sans MS</vt:lpstr>
      <vt:lpstr>Constantia</vt:lpstr>
      <vt:lpstr>FrutigerBold</vt:lpstr>
      <vt:lpstr>FrutigerLight</vt:lpstr>
      <vt:lpstr>Wingdings</vt:lpstr>
      <vt:lpstr>Wingdings 2</vt:lpstr>
      <vt:lpstr>Flow</vt:lpstr>
      <vt:lpstr>PowerPoint Presentation</vt:lpstr>
      <vt:lpstr>Definition</vt:lpstr>
      <vt:lpstr>Major Classes of air pollutants </vt:lpstr>
      <vt:lpstr>PowerPoint Presentation</vt:lpstr>
      <vt:lpstr>PowerPoint Presentation</vt:lpstr>
      <vt:lpstr>PowerPoint Presentation</vt:lpstr>
      <vt:lpstr>PowerPoint Presentation</vt:lpstr>
      <vt:lpstr>Air Quality Index (AQI) Values </vt:lpstr>
      <vt:lpstr>PowerPoint Presentation</vt:lpstr>
      <vt:lpstr>PowerPoint Presentation</vt:lpstr>
      <vt:lpstr>PowerPoint Presentation</vt:lpstr>
      <vt:lpstr>Settling Chambers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Control of gaseous pollutants from stationary sources </vt:lpstr>
      <vt:lpstr>Absorption </vt:lpstr>
      <vt:lpstr>Adsorption </vt:lpstr>
      <vt:lpstr>Incineration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Chapter-5: POLLUTION</dc:title>
  <dc:creator>$YDhart</dc:creator>
  <cp:lastModifiedBy>Exam ITER</cp:lastModifiedBy>
  <cp:revision>116</cp:revision>
  <dcterms:created xsi:type="dcterms:W3CDTF">2020-03-24T11:37:53Z</dcterms:created>
  <dcterms:modified xsi:type="dcterms:W3CDTF">2024-10-30T05:13:54Z</dcterms:modified>
</cp:coreProperties>
</file>